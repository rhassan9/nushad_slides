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30"/>
  </p:notesMasterIdLst>
  <p:handoutMasterIdLst>
    <p:handoutMasterId r:id="rId31"/>
  </p:handoutMasterIdLst>
  <p:sldIdLst>
    <p:sldId id="256" r:id="rId2"/>
    <p:sldId id="264" r:id="rId3"/>
    <p:sldId id="263" r:id="rId4"/>
    <p:sldId id="259" r:id="rId5"/>
    <p:sldId id="289" r:id="rId6"/>
    <p:sldId id="304" r:id="rId7"/>
    <p:sldId id="296" r:id="rId8"/>
    <p:sldId id="321" r:id="rId9"/>
    <p:sldId id="276" r:id="rId10"/>
    <p:sldId id="277" r:id="rId11"/>
    <p:sldId id="278" r:id="rId12"/>
    <p:sldId id="279" r:id="rId13"/>
    <p:sldId id="280" r:id="rId14"/>
    <p:sldId id="281" r:id="rId15"/>
    <p:sldId id="282" r:id="rId16"/>
    <p:sldId id="319" r:id="rId17"/>
    <p:sldId id="284" r:id="rId18"/>
    <p:sldId id="285" r:id="rId19"/>
    <p:sldId id="322" r:id="rId20"/>
    <p:sldId id="558" r:id="rId21"/>
    <p:sldId id="336" r:id="rId22"/>
    <p:sldId id="310" r:id="rId23"/>
    <p:sldId id="318" r:id="rId24"/>
    <p:sldId id="569" r:id="rId25"/>
    <p:sldId id="314" r:id="rId26"/>
    <p:sldId id="566" r:id="rId27"/>
    <p:sldId id="571" r:id="rId28"/>
    <p:sldId id="570"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8C93"/>
    <a:srgbClr val="FFFEF0"/>
    <a:srgbClr val="FFFD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A54A55-4881-4FE1-8C8D-1A332F082FC1}" v="16" dt="2026-02-01T18:03:28.8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96" autoAdjust="0"/>
  </p:normalViewPr>
  <p:slideViewPr>
    <p:cSldViewPr snapToGrid="0">
      <p:cViewPr varScale="1">
        <p:scale>
          <a:sx n="69" d="100"/>
          <a:sy n="69" d="100"/>
        </p:scale>
        <p:origin x="120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28AAF9-B83B-4209-8B19-276DF2AE7270}"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GB"/>
        </a:p>
      </dgm:t>
    </dgm:pt>
    <dgm:pt modelId="{D272D244-C975-464A-BA5B-8576FD88979E}">
      <dgm:prSet phldrT="[Text]" custT="1"/>
      <dgm:spPr/>
      <dgm:t>
        <a:bodyPr/>
        <a:lstStyle/>
        <a:p>
          <a:r>
            <a:rPr lang="en-GB" sz="2000">
              <a:solidFill>
                <a:srgbClr val="0070C0"/>
              </a:solidFill>
            </a:rPr>
            <a:t>Plant</a:t>
          </a:r>
        </a:p>
      </dgm:t>
    </dgm:pt>
    <dgm:pt modelId="{FFF14AFC-3E21-49AA-8069-481185437387}" type="parTrans" cxnId="{46FFE146-4F48-4E53-B938-26BFFCF718B1}">
      <dgm:prSet/>
      <dgm:spPr/>
      <dgm:t>
        <a:bodyPr/>
        <a:lstStyle/>
        <a:p>
          <a:endParaRPr lang="en-GB"/>
        </a:p>
      </dgm:t>
    </dgm:pt>
    <dgm:pt modelId="{63FDADC7-68EF-4AA1-A840-96F26D13FE87}" type="sibTrans" cxnId="{46FFE146-4F48-4E53-B938-26BFFCF718B1}">
      <dgm:prSet/>
      <dgm:spPr/>
      <dgm:t>
        <a:bodyPr/>
        <a:lstStyle/>
        <a:p>
          <a:endParaRPr lang="en-GB"/>
        </a:p>
      </dgm:t>
    </dgm:pt>
    <dgm:pt modelId="{3FC634E1-4212-4FAF-B5FE-79F31C4F0C28}">
      <dgm:prSet phldrT="[Text]" custT="1"/>
      <dgm:spPr/>
      <dgm:t>
        <a:bodyPr/>
        <a:lstStyle/>
        <a:p>
          <a:r>
            <a:rPr lang="en-GB" sz="1400">
              <a:solidFill>
                <a:srgbClr val="00B050"/>
              </a:solidFill>
            </a:rPr>
            <a:t>Resource Investigator</a:t>
          </a:r>
        </a:p>
      </dgm:t>
    </dgm:pt>
    <dgm:pt modelId="{98D4BB4A-E9F8-4C28-92E8-80384E5E3808}" type="parTrans" cxnId="{AD9BC056-964F-40C5-8247-7FA51043C831}">
      <dgm:prSet/>
      <dgm:spPr/>
      <dgm:t>
        <a:bodyPr/>
        <a:lstStyle/>
        <a:p>
          <a:endParaRPr lang="en-GB"/>
        </a:p>
      </dgm:t>
    </dgm:pt>
    <dgm:pt modelId="{5893E901-63B6-4332-9D46-E0B66D3EC878}" type="sibTrans" cxnId="{AD9BC056-964F-40C5-8247-7FA51043C831}">
      <dgm:prSet/>
      <dgm:spPr/>
      <dgm:t>
        <a:bodyPr/>
        <a:lstStyle/>
        <a:p>
          <a:endParaRPr lang="en-GB"/>
        </a:p>
      </dgm:t>
    </dgm:pt>
    <dgm:pt modelId="{37272A98-211C-4203-805A-FE10AD79E924}">
      <dgm:prSet phldrT="[Text]" custT="1"/>
      <dgm:spPr/>
      <dgm:t>
        <a:bodyPr/>
        <a:lstStyle/>
        <a:p>
          <a:r>
            <a:rPr lang="en-GB" sz="1800">
              <a:solidFill>
                <a:srgbClr val="00B050"/>
              </a:solidFill>
            </a:rPr>
            <a:t>Co-ordinator</a:t>
          </a:r>
        </a:p>
      </dgm:t>
    </dgm:pt>
    <dgm:pt modelId="{F9977C5F-2108-47FD-BF7D-EF0C8F2DA8FB}" type="parTrans" cxnId="{FEC5628F-D43A-4570-8DB9-A9D3F8AFC301}">
      <dgm:prSet/>
      <dgm:spPr/>
      <dgm:t>
        <a:bodyPr/>
        <a:lstStyle/>
        <a:p>
          <a:endParaRPr lang="en-GB"/>
        </a:p>
      </dgm:t>
    </dgm:pt>
    <dgm:pt modelId="{DB44DE42-5F6D-4C0B-AF5E-2CFC10DDDDF1}" type="sibTrans" cxnId="{FEC5628F-D43A-4570-8DB9-A9D3F8AFC301}">
      <dgm:prSet/>
      <dgm:spPr/>
      <dgm:t>
        <a:bodyPr/>
        <a:lstStyle/>
        <a:p>
          <a:endParaRPr lang="en-GB"/>
        </a:p>
      </dgm:t>
    </dgm:pt>
    <dgm:pt modelId="{BACB6BF6-E068-4602-83AC-3BB2C4EF0F34}">
      <dgm:prSet phldrT="[Text]" custT="1"/>
      <dgm:spPr/>
      <dgm:t>
        <a:bodyPr/>
        <a:lstStyle/>
        <a:p>
          <a:r>
            <a:rPr lang="en-GB" sz="1800">
              <a:solidFill>
                <a:srgbClr val="0070C0"/>
              </a:solidFill>
            </a:rPr>
            <a:t>Monitor Evaluator</a:t>
          </a:r>
        </a:p>
      </dgm:t>
    </dgm:pt>
    <dgm:pt modelId="{36B31F9F-A4E2-4AD7-8E01-554F9F8B3854}" type="parTrans" cxnId="{5252A20F-00F1-4F75-8FE3-44F8DF2AABDC}">
      <dgm:prSet/>
      <dgm:spPr/>
      <dgm:t>
        <a:bodyPr/>
        <a:lstStyle/>
        <a:p>
          <a:endParaRPr lang="en-GB"/>
        </a:p>
      </dgm:t>
    </dgm:pt>
    <dgm:pt modelId="{6E6DF88F-E799-4094-8B0D-91EA0AAEE985}" type="sibTrans" cxnId="{5252A20F-00F1-4F75-8FE3-44F8DF2AABDC}">
      <dgm:prSet/>
      <dgm:spPr/>
      <dgm:t>
        <a:bodyPr/>
        <a:lstStyle/>
        <a:p>
          <a:endParaRPr lang="en-GB"/>
        </a:p>
      </dgm:t>
    </dgm:pt>
    <dgm:pt modelId="{D55F93F1-09B4-49B5-BC8F-A4518727D883}">
      <dgm:prSet phldrT="[Text]" custT="1"/>
      <dgm:spPr/>
      <dgm:t>
        <a:bodyPr/>
        <a:lstStyle/>
        <a:p>
          <a:r>
            <a:rPr lang="en-GB" sz="1800">
              <a:solidFill>
                <a:srgbClr val="FF0000"/>
              </a:solidFill>
            </a:rPr>
            <a:t>I</a:t>
          </a:r>
          <a:r>
            <a:rPr lang="en-GB" sz="1400">
              <a:solidFill>
                <a:srgbClr val="FF0000"/>
              </a:solidFill>
            </a:rPr>
            <a:t>mplementer</a:t>
          </a:r>
        </a:p>
      </dgm:t>
    </dgm:pt>
    <dgm:pt modelId="{AE413721-1D06-4128-8879-E7DC4DA9FF08}" type="parTrans" cxnId="{B1B9C66C-91BB-4385-BCDA-4DE6316387FC}">
      <dgm:prSet/>
      <dgm:spPr/>
      <dgm:t>
        <a:bodyPr/>
        <a:lstStyle/>
        <a:p>
          <a:endParaRPr lang="en-GB"/>
        </a:p>
      </dgm:t>
    </dgm:pt>
    <dgm:pt modelId="{C975C5F6-AE73-46A7-86C6-98AB1CBE53E8}" type="sibTrans" cxnId="{B1B9C66C-91BB-4385-BCDA-4DE6316387FC}">
      <dgm:prSet/>
      <dgm:spPr/>
      <dgm:t>
        <a:bodyPr/>
        <a:lstStyle/>
        <a:p>
          <a:endParaRPr lang="en-GB"/>
        </a:p>
      </dgm:t>
    </dgm:pt>
    <dgm:pt modelId="{D156A04E-F414-4718-96B7-F8512E3943A7}">
      <dgm:prSet phldrT="[Text]" custT="1"/>
      <dgm:spPr/>
      <dgm:t>
        <a:bodyPr/>
        <a:lstStyle/>
        <a:p>
          <a:r>
            <a:rPr lang="en-GB" sz="1800">
              <a:solidFill>
                <a:srgbClr val="FF0000"/>
              </a:solidFill>
            </a:rPr>
            <a:t>Shaper</a:t>
          </a:r>
        </a:p>
      </dgm:t>
    </dgm:pt>
    <dgm:pt modelId="{BBB3A7E1-9FEF-4633-8E4C-2D3D1F9D5CF6}" type="parTrans" cxnId="{70A95802-44A6-426F-90FD-587740C7D872}">
      <dgm:prSet/>
      <dgm:spPr/>
      <dgm:t>
        <a:bodyPr/>
        <a:lstStyle/>
        <a:p>
          <a:endParaRPr lang="en-GB"/>
        </a:p>
      </dgm:t>
    </dgm:pt>
    <dgm:pt modelId="{BB916E5D-BD09-4E38-8B15-A0C7A4BACE47}" type="sibTrans" cxnId="{70A95802-44A6-426F-90FD-587740C7D872}">
      <dgm:prSet/>
      <dgm:spPr/>
      <dgm:t>
        <a:bodyPr/>
        <a:lstStyle/>
        <a:p>
          <a:endParaRPr lang="en-GB"/>
        </a:p>
      </dgm:t>
    </dgm:pt>
    <dgm:pt modelId="{EAA19CA7-01EE-404A-8389-D617BC99CE57}">
      <dgm:prSet phldrT="[Text]" custT="1"/>
      <dgm:spPr/>
      <dgm:t>
        <a:bodyPr/>
        <a:lstStyle/>
        <a:p>
          <a:r>
            <a:rPr lang="en-GB" sz="1400">
              <a:solidFill>
                <a:srgbClr val="FF0000"/>
              </a:solidFill>
            </a:rPr>
            <a:t>Completer/Finisher</a:t>
          </a:r>
        </a:p>
      </dgm:t>
    </dgm:pt>
    <dgm:pt modelId="{FD446717-C25F-4E26-B8E2-C3843361C222}" type="parTrans" cxnId="{F1183AA2-87D6-48B7-A7D4-8EA0F146CE91}">
      <dgm:prSet/>
      <dgm:spPr/>
      <dgm:t>
        <a:bodyPr/>
        <a:lstStyle/>
        <a:p>
          <a:endParaRPr lang="en-GB"/>
        </a:p>
      </dgm:t>
    </dgm:pt>
    <dgm:pt modelId="{CDC98337-7A42-4897-8881-88FFB4F84116}" type="sibTrans" cxnId="{F1183AA2-87D6-48B7-A7D4-8EA0F146CE91}">
      <dgm:prSet/>
      <dgm:spPr/>
      <dgm:t>
        <a:bodyPr/>
        <a:lstStyle/>
        <a:p>
          <a:endParaRPr lang="en-GB"/>
        </a:p>
      </dgm:t>
    </dgm:pt>
    <dgm:pt modelId="{D0AA1A8E-1678-4EA6-B289-9738EE88AE79}">
      <dgm:prSet phldrT="[Text]" custT="1"/>
      <dgm:spPr/>
      <dgm:t>
        <a:bodyPr/>
        <a:lstStyle/>
        <a:p>
          <a:r>
            <a:rPr lang="en-GB" sz="1800">
              <a:solidFill>
                <a:srgbClr val="00B050"/>
              </a:solidFill>
            </a:rPr>
            <a:t>Team worker</a:t>
          </a:r>
        </a:p>
      </dgm:t>
    </dgm:pt>
    <dgm:pt modelId="{78666FE5-2068-40AC-82C9-688093251279}" type="parTrans" cxnId="{7767F05C-0804-440F-AB9F-54E9BA57751A}">
      <dgm:prSet/>
      <dgm:spPr/>
      <dgm:t>
        <a:bodyPr/>
        <a:lstStyle/>
        <a:p>
          <a:endParaRPr lang="en-GB"/>
        </a:p>
      </dgm:t>
    </dgm:pt>
    <dgm:pt modelId="{28A2CFCC-7DA4-4405-95E5-B8E6D6AAEFE7}" type="sibTrans" cxnId="{7767F05C-0804-440F-AB9F-54E9BA57751A}">
      <dgm:prSet/>
      <dgm:spPr/>
      <dgm:t>
        <a:bodyPr/>
        <a:lstStyle/>
        <a:p>
          <a:endParaRPr lang="en-GB"/>
        </a:p>
      </dgm:t>
    </dgm:pt>
    <dgm:pt modelId="{2B72A7EC-BABC-4DBF-A626-22DBE2FA39DA}">
      <dgm:prSet phldrT="[Text]" custT="1"/>
      <dgm:spPr/>
      <dgm:t>
        <a:bodyPr/>
        <a:lstStyle/>
        <a:p>
          <a:r>
            <a:rPr lang="en-GB" sz="1600">
              <a:solidFill>
                <a:srgbClr val="0070C0"/>
              </a:solidFill>
            </a:rPr>
            <a:t>S</a:t>
          </a:r>
          <a:r>
            <a:rPr lang="en-GB" sz="1400">
              <a:solidFill>
                <a:srgbClr val="0070C0"/>
              </a:solidFill>
            </a:rPr>
            <a:t>pecialist</a:t>
          </a:r>
        </a:p>
      </dgm:t>
    </dgm:pt>
    <dgm:pt modelId="{3E056F8C-3506-4683-9E2F-DEDFCF01210A}" type="parTrans" cxnId="{6E4ED0CC-EE6D-4563-989B-BA54CBDD8E20}">
      <dgm:prSet/>
      <dgm:spPr/>
      <dgm:t>
        <a:bodyPr/>
        <a:lstStyle/>
        <a:p>
          <a:endParaRPr lang="en-GB"/>
        </a:p>
      </dgm:t>
    </dgm:pt>
    <dgm:pt modelId="{3C6C93B9-BD9C-466A-AC5D-B487577A7C2F}" type="sibTrans" cxnId="{6E4ED0CC-EE6D-4563-989B-BA54CBDD8E20}">
      <dgm:prSet/>
      <dgm:spPr/>
      <dgm:t>
        <a:bodyPr/>
        <a:lstStyle/>
        <a:p>
          <a:endParaRPr lang="en-GB"/>
        </a:p>
      </dgm:t>
    </dgm:pt>
    <dgm:pt modelId="{5CC92172-DF87-4EAA-A3AC-7BD1983DB619}" type="pres">
      <dgm:prSet presAssocID="{6428AAF9-B83B-4209-8B19-276DF2AE7270}" presName="cycle" presStyleCnt="0">
        <dgm:presLayoutVars>
          <dgm:dir/>
          <dgm:resizeHandles val="exact"/>
        </dgm:presLayoutVars>
      </dgm:prSet>
      <dgm:spPr/>
    </dgm:pt>
    <dgm:pt modelId="{B996841F-1E68-440F-83D5-438FA6671EBA}" type="pres">
      <dgm:prSet presAssocID="{D272D244-C975-464A-BA5B-8576FD88979E}" presName="node" presStyleLbl="node1" presStyleIdx="0" presStyleCnt="9">
        <dgm:presLayoutVars>
          <dgm:bulletEnabled val="1"/>
        </dgm:presLayoutVars>
      </dgm:prSet>
      <dgm:spPr/>
    </dgm:pt>
    <dgm:pt modelId="{9C08785C-B3A2-467F-937E-69C88EF505C0}" type="pres">
      <dgm:prSet presAssocID="{D272D244-C975-464A-BA5B-8576FD88979E}" presName="spNode" presStyleCnt="0"/>
      <dgm:spPr/>
    </dgm:pt>
    <dgm:pt modelId="{1AB89226-9A12-4872-BCBD-EAADCC14C51A}" type="pres">
      <dgm:prSet presAssocID="{63FDADC7-68EF-4AA1-A840-96F26D13FE87}" presName="sibTrans" presStyleLbl="sibTrans1D1" presStyleIdx="0" presStyleCnt="9"/>
      <dgm:spPr/>
    </dgm:pt>
    <dgm:pt modelId="{43025D03-7FC5-4326-A62B-2D4BCB0D23D6}" type="pres">
      <dgm:prSet presAssocID="{3FC634E1-4212-4FAF-B5FE-79F31C4F0C28}" presName="node" presStyleLbl="node1" presStyleIdx="1" presStyleCnt="9" custScaleX="144969" custScaleY="160319" custRadScaleRad="99088" custRadScaleInc="-4743">
        <dgm:presLayoutVars>
          <dgm:bulletEnabled val="1"/>
        </dgm:presLayoutVars>
      </dgm:prSet>
      <dgm:spPr/>
    </dgm:pt>
    <dgm:pt modelId="{17DAE633-5903-4B60-AE7F-FEFF44795A6D}" type="pres">
      <dgm:prSet presAssocID="{3FC634E1-4212-4FAF-B5FE-79F31C4F0C28}" presName="spNode" presStyleCnt="0"/>
      <dgm:spPr/>
    </dgm:pt>
    <dgm:pt modelId="{A38EC101-065D-4597-897A-07269966263C}" type="pres">
      <dgm:prSet presAssocID="{5893E901-63B6-4332-9D46-E0B66D3EC878}" presName="sibTrans" presStyleLbl="sibTrans1D1" presStyleIdx="1" presStyleCnt="9"/>
      <dgm:spPr/>
    </dgm:pt>
    <dgm:pt modelId="{DE0C91BC-E7A1-49B1-B1B9-03A4EBFC9BDC}" type="pres">
      <dgm:prSet presAssocID="{37272A98-211C-4203-805A-FE10AD79E924}" presName="node" presStyleLbl="node1" presStyleIdx="2" presStyleCnt="9" custScaleX="193081">
        <dgm:presLayoutVars>
          <dgm:bulletEnabled val="1"/>
        </dgm:presLayoutVars>
      </dgm:prSet>
      <dgm:spPr/>
    </dgm:pt>
    <dgm:pt modelId="{6CC4EEE6-30D7-4C55-927B-0414AA7C3D22}" type="pres">
      <dgm:prSet presAssocID="{37272A98-211C-4203-805A-FE10AD79E924}" presName="spNode" presStyleCnt="0"/>
      <dgm:spPr/>
    </dgm:pt>
    <dgm:pt modelId="{40EC7BF2-31E4-4D81-8730-387456F5C982}" type="pres">
      <dgm:prSet presAssocID="{DB44DE42-5F6D-4C0B-AF5E-2CFC10DDDDF1}" presName="sibTrans" presStyleLbl="sibTrans1D1" presStyleIdx="2" presStyleCnt="9"/>
      <dgm:spPr/>
    </dgm:pt>
    <dgm:pt modelId="{A2EC0D8C-ACE2-4676-84D2-E33D784B011A}" type="pres">
      <dgm:prSet presAssocID="{D156A04E-F414-4718-96B7-F8512E3943A7}" presName="node" presStyleLbl="node1" presStyleIdx="3" presStyleCnt="9" custScaleX="197065" custRadScaleRad="99345" custRadScaleInc="2574">
        <dgm:presLayoutVars>
          <dgm:bulletEnabled val="1"/>
        </dgm:presLayoutVars>
      </dgm:prSet>
      <dgm:spPr/>
    </dgm:pt>
    <dgm:pt modelId="{90D19294-4FAC-4AEB-ACCD-306499E5C697}" type="pres">
      <dgm:prSet presAssocID="{D156A04E-F414-4718-96B7-F8512E3943A7}" presName="spNode" presStyleCnt="0"/>
      <dgm:spPr/>
    </dgm:pt>
    <dgm:pt modelId="{392641C4-B015-43B5-88E2-3551C2809AF1}" type="pres">
      <dgm:prSet presAssocID="{BB916E5D-BD09-4E38-8B15-A0C7A4BACE47}" presName="sibTrans" presStyleLbl="sibTrans1D1" presStyleIdx="3" presStyleCnt="9"/>
      <dgm:spPr/>
    </dgm:pt>
    <dgm:pt modelId="{A0119CAB-EFBC-4D1B-8722-8BA9F82723B7}" type="pres">
      <dgm:prSet presAssocID="{BACB6BF6-E068-4602-83AC-3BB2C4EF0F34}" presName="node" presStyleLbl="node1" presStyleIdx="4" presStyleCnt="9" custScaleX="169704" custScaleY="147684" custRadScaleRad="100754" custRadScaleInc="-8927">
        <dgm:presLayoutVars>
          <dgm:bulletEnabled val="1"/>
        </dgm:presLayoutVars>
      </dgm:prSet>
      <dgm:spPr/>
    </dgm:pt>
    <dgm:pt modelId="{1EF58EE2-1D2F-43B7-80F2-1EE7F5F24ACB}" type="pres">
      <dgm:prSet presAssocID="{BACB6BF6-E068-4602-83AC-3BB2C4EF0F34}" presName="spNode" presStyleCnt="0"/>
      <dgm:spPr/>
    </dgm:pt>
    <dgm:pt modelId="{0C4491C9-8D0F-4889-84CD-E05EE2945CA3}" type="pres">
      <dgm:prSet presAssocID="{6E6DF88F-E799-4094-8B0D-91EA0AAEE985}" presName="sibTrans" presStyleLbl="sibTrans1D1" presStyleIdx="4" presStyleCnt="9"/>
      <dgm:spPr/>
    </dgm:pt>
    <dgm:pt modelId="{9B7BF783-2DB6-4C08-A48E-2974AD7F39CF}" type="pres">
      <dgm:prSet presAssocID="{D0AA1A8E-1678-4EA6-B289-9738EE88AE79}" presName="node" presStyleLbl="node1" presStyleIdx="5" presStyleCnt="9" custScaleX="129776" custScaleY="171950">
        <dgm:presLayoutVars>
          <dgm:bulletEnabled val="1"/>
        </dgm:presLayoutVars>
      </dgm:prSet>
      <dgm:spPr/>
    </dgm:pt>
    <dgm:pt modelId="{ABAA1DDA-75DC-4A2D-9EB7-BCFDD49042AE}" type="pres">
      <dgm:prSet presAssocID="{D0AA1A8E-1678-4EA6-B289-9738EE88AE79}" presName="spNode" presStyleCnt="0"/>
      <dgm:spPr/>
    </dgm:pt>
    <dgm:pt modelId="{726895EA-3799-438A-8948-4FED9D770412}" type="pres">
      <dgm:prSet presAssocID="{28A2CFCC-7DA4-4405-95E5-B8E6D6AAEFE7}" presName="sibTrans" presStyleLbl="sibTrans1D1" presStyleIdx="5" presStyleCnt="9"/>
      <dgm:spPr/>
    </dgm:pt>
    <dgm:pt modelId="{5D75FE1A-2014-4A91-ABE0-8408A83C9AE9}" type="pres">
      <dgm:prSet presAssocID="{D55F93F1-09B4-49B5-BC8F-A4518727D883}" presName="node" presStyleLbl="node1" presStyleIdx="6" presStyleCnt="9" custFlipVert="0" custScaleX="154540" custScaleY="100000" custRadScaleRad="98249" custRadScaleInc="-21896">
        <dgm:presLayoutVars>
          <dgm:bulletEnabled val="1"/>
        </dgm:presLayoutVars>
      </dgm:prSet>
      <dgm:spPr/>
    </dgm:pt>
    <dgm:pt modelId="{72B81752-F228-4180-88CA-3452814FE871}" type="pres">
      <dgm:prSet presAssocID="{D55F93F1-09B4-49B5-BC8F-A4518727D883}" presName="spNode" presStyleCnt="0"/>
      <dgm:spPr/>
    </dgm:pt>
    <dgm:pt modelId="{93EFAA27-CE27-43AA-83FA-6406A5EF7DAB}" type="pres">
      <dgm:prSet presAssocID="{C975C5F6-AE73-46A7-86C6-98AB1CBE53E8}" presName="sibTrans" presStyleLbl="sibTrans1D1" presStyleIdx="6" presStyleCnt="9"/>
      <dgm:spPr/>
    </dgm:pt>
    <dgm:pt modelId="{3C741082-44A4-42FB-A44E-B1F9DE3AE5C5}" type="pres">
      <dgm:prSet presAssocID="{EAA19CA7-01EE-404A-8389-D617BC99CE57}" presName="node" presStyleLbl="node1" presStyleIdx="7" presStyleCnt="9" custScaleX="135898" custScaleY="170501">
        <dgm:presLayoutVars>
          <dgm:bulletEnabled val="1"/>
        </dgm:presLayoutVars>
      </dgm:prSet>
      <dgm:spPr/>
    </dgm:pt>
    <dgm:pt modelId="{B8F5B838-49C5-47C2-941E-A199E5E29578}" type="pres">
      <dgm:prSet presAssocID="{EAA19CA7-01EE-404A-8389-D617BC99CE57}" presName="spNode" presStyleCnt="0"/>
      <dgm:spPr/>
    </dgm:pt>
    <dgm:pt modelId="{F50CC918-C569-46B8-B689-56331A531413}" type="pres">
      <dgm:prSet presAssocID="{CDC98337-7A42-4897-8881-88FFB4F84116}" presName="sibTrans" presStyleLbl="sibTrans1D1" presStyleIdx="7" presStyleCnt="9"/>
      <dgm:spPr/>
    </dgm:pt>
    <dgm:pt modelId="{DCB00B6E-0756-45F9-9782-F88059295B85}" type="pres">
      <dgm:prSet presAssocID="{2B72A7EC-BABC-4DBF-A626-22DBE2FA39DA}" presName="node" presStyleLbl="node1" presStyleIdx="8" presStyleCnt="9" custScaleX="127536">
        <dgm:presLayoutVars>
          <dgm:bulletEnabled val="1"/>
        </dgm:presLayoutVars>
      </dgm:prSet>
      <dgm:spPr/>
    </dgm:pt>
    <dgm:pt modelId="{6BE6E177-4E69-40D9-B225-F16CE7F652F2}" type="pres">
      <dgm:prSet presAssocID="{2B72A7EC-BABC-4DBF-A626-22DBE2FA39DA}" presName="spNode" presStyleCnt="0"/>
      <dgm:spPr/>
    </dgm:pt>
    <dgm:pt modelId="{D815692C-6644-42F3-9594-10D407114276}" type="pres">
      <dgm:prSet presAssocID="{3C6C93B9-BD9C-466A-AC5D-B487577A7C2F}" presName="sibTrans" presStyleLbl="sibTrans1D1" presStyleIdx="8" presStyleCnt="9"/>
      <dgm:spPr/>
    </dgm:pt>
  </dgm:ptLst>
  <dgm:cxnLst>
    <dgm:cxn modelId="{70A95802-44A6-426F-90FD-587740C7D872}" srcId="{6428AAF9-B83B-4209-8B19-276DF2AE7270}" destId="{D156A04E-F414-4718-96B7-F8512E3943A7}" srcOrd="3" destOrd="0" parTransId="{BBB3A7E1-9FEF-4633-8E4C-2D3D1F9D5CF6}" sibTransId="{BB916E5D-BD09-4E38-8B15-A0C7A4BACE47}"/>
    <dgm:cxn modelId="{84C57506-0686-4261-A76C-70C90CF399A3}" type="presOf" srcId="{3C6C93B9-BD9C-466A-AC5D-B487577A7C2F}" destId="{D815692C-6644-42F3-9594-10D407114276}" srcOrd="0" destOrd="0" presId="urn:microsoft.com/office/officeart/2005/8/layout/cycle6"/>
    <dgm:cxn modelId="{5252A20F-00F1-4F75-8FE3-44F8DF2AABDC}" srcId="{6428AAF9-B83B-4209-8B19-276DF2AE7270}" destId="{BACB6BF6-E068-4602-83AC-3BB2C4EF0F34}" srcOrd="4" destOrd="0" parTransId="{36B31F9F-A4E2-4AD7-8E01-554F9F8B3854}" sibTransId="{6E6DF88F-E799-4094-8B0D-91EA0AAEE985}"/>
    <dgm:cxn modelId="{78866721-F1FB-45C7-A819-3F5D7B003F77}" type="presOf" srcId="{CDC98337-7A42-4897-8881-88FFB4F84116}" destId="{F50CC918-C569-46B8-B689-56331A531413}" srcOrd="0" destOrd="0" presId="urn:microsoft.com/office/officeart/2005/8/layout/cycle6"/>
    <dgm:cxn modelId="{8DAD3B2C-8BD6-4E1D-81E9-BB03E414E834}" type="presOf" srcId="{6428AAF9-B83B-4209-8B19-276DF2AE7270}" destId="{5CC92172-DF87-4EAA-A3AC-7BD1983DB619}" srcOrd="0" destOrd="0" presId="urn:microsoft.com/office/officeart/2005/8/layout/cycle6"/>
    <dgm:cxn modelId="{EB519A2C-E763-4BF5-873F-FFBFBE72E75D}" type="presOf" srcId="{3FC634E1-4212-4FAF-B5FE-79F31C4F0C28}" destId="{43025D03-7FC5-4326-A62B-2D4BCB0D23D6}" srcOrd="0" destOrd="0" presId="urn:microsoft.com/office/officeart/2005/8/layout/cycle6"/>
    <dgm:cxn modelId="{5771A05B-8F5F-4BD5-AC1D-7583DAD61EFE}" type="presOf" srcId="{BACB6BF6-E068-4602-83AC-3BB2C4EF0F34}" destId="{A0119CAB-EFBC-4D1B-8722-8BA9F82723B7}" srcOrd="0" destOrd="0" presId="urn:microsoft.com/office/officeart/2005/8/layout/cycle6"/>
    <dgm:cxn modelId="{7767F05C-0804-440F-AB9F-54E9BA57751A}" srcId="{6428AAF9-B83B-4209-8B19-276DF2AE7270}" destId="{D0AA1A8E-1678-4EA6-B289-9738EE88AE79}" srcOrd="5" destOrd="0" parTransId="{78666FE5-2068-40AC-82C9-688093251279}" sibTransId="{28A2CFCC-7DA4-4405-95E5-B8E6D6AAEFE7}"/>
    <dgm:cxn modelId="{E17AFE60-8763-4AC3-8E5A-1CC6A86592ED}" type="presOf" srcId="{D0AA1A8E-1678-4EA6-B289-9738EE88AE79}" destId="{9B7BF783-2DB6-4C08-A48E-2974AD7F39CF}" srcOrd="0" destOrd="0" presId="urn:microsoft.com/office/officeart/2005/8/layout/cycle6"/>
    <dgm:cxn modelId="{46FFE146-4F48-4E53-B938-26BFFCF718B1}" srcId="{6428AAF9-B83B-4209-8B19-276DF2AE7270}" destId="{D272D244-C975-464A-BA5B-8576FD88979E}" srcOrd="0" destOrd="0" parTransId="{FFF14AFC-3E21-49AA-8069-481185437387}" sibTransId="{63FDADC7-68EF-4AA1-A840-96F26D13FE87}"/>
    <dgm:cxn modelId="{B1B9C66C-91BB-4385-BCDA-4DE6316387FC}" srcId="{6428AAF9-B83B-4209-8B19-276DF2AE7270}" destId="{D55F93F1-09B4-49B5-BC8F-A4518727D883}" srcOrd="6" destOrd="0" parTransId="{AE413721-1D06-4128-8879-E7DC4DA9FF08}" sibTransId="{C975C5F6-AE73-46A7-86C6-98AB1CBE53E8}"/>
    <dgm:cxn modelId="{AD9BC056-964F-40C5-8247-7FA51043C831}" srcId="{6428AAF9-B83B-4209-8B19-276DF2AE7270}" destId="{3FC634E1-4212-4FAF-B5FE-79F31C4F0C28}" srcOrd="1" destOrd="0" parTransId="{98D4BB4A-E9F8-4C28-92E8-80384E5E3808}" sibTransId="{5893E901-63B6-4332-9D46-E0B66D3EC878}"/>
    <dgm:cxn modelId="{16ED7380-5B15-45DD-9841-24B18EC77298}" type="presOf" srcId="{37272A98-211C-4203-805A-FE10AD79E924}" destId="{DE0C91BC-E7A1-49B1-B1B9-03A4EBFC9BDC}" srcOrd="0" destOrd="0" presId="urn:microsoft.com/office/officeart/2005/8/layout/cycle6"/>
    <dgm:cxn modelId="{40C2AA83-BF21-4D75-AD3F-26E24EF1AD96}" type="presOf" srcId="{C975C5F6-AE73-46A7-86C6-98AB1CBE53E8}" destId="{93EFAA27-CE27-43AA-83FA-6406A5EF7DAB}" srcOrd="0" destOrd="0" presId="urn:microsoft.com/office/officeart/2005/8/layout/cycle6"/>
    <dgm:cxn modelId="{33C5078E-90E6-44BE-97D3-432319B8FC01}" type="presOf" srcId="{BB916E5D-BD09-4E38-8B15-A0C7A4BACE47}" destId="{392641C4-B015-43B5-88E2-3551C2809AF1}" srcOrd="0" destOrd="0" presId="urn:microsoft.com/office/officeart/2005/8/layout/cycle6"/>
    <dgm:cxn modelId="{D750228F-2EA7-4ADB-BB15-CF5C26FBCF50}" type="presOf" srcId="{6E6DF88F-E799-4094-8B0D-91EA0AAEE985}" destId="{0C4491C9-8D0F-4889-84CD-E05EE2945CA3}" srcOrd="0" destOrd="0" presId="urn:microsoft.com/office/officeart/2005/8/layout/cycle6"/>
    <dgm:cxn modelId="{FEC5628F-D43A-4570-8DB9-A9D3F8AFC301}" srcId="{6428AAF9-B83B-4209-8B19-276DF2AE7270}" destId="{37272A98-211C-4203-805A-FE10AD79E924}" srcOrd="2" destOrd="0" parTransId="{F9977C5F-2108-47FD-BF7D-EF0C8F2DA8FB}" sibTransId="{DB44DE42-5F6D-4C0B-AF5E-2CFC10DDDDF1}"/>
    <dgm:cxn modelId="{64802994-D645-4F7C-B2CD-B515262C3EBF}" type="presOf" srcId="{D55F93F1-09B4-49B5-BC8F-A4518727D883}" destId="{5D75FE1A-2014-4A91-ABE0-8408A83C9AE9}" srcOrd="0" destOrd="0" presId="urn:microsoft.com/office/officeart/2005/8/layout/cycle6"/>
    <dgm:cxn modelId="{F1183AA2-87D6-48B7-A7D4-8EA0F146CE91}" srcId="{6428AAF9-B83B-4209-8B19-276DF2AE7270}" destId="{EAA19CA7-01EE-404A-8389-D617BC99CE57}" srcOrd="7" destOrd="0" parTransId="{FD446717-C25F-4E26-B8E2-C3843361C222}" sibTransId="{CDC98337-7A42-4897-8881-88FFB4F84116}"/>
    <dgm:cxn modelId="{C91031A5-A1DA-450A-9D88-ABCBAE2327A0}" type="presOf" srcId="{D272D244-C975-464A-BA5B-8576FD88979E}" destId="{B996841F-1E68-440F-83D5-438FA6671EBA}" srcOrd="0" destOrd="0" presId="urn:microsoft.com/office/officeart/2005/8/layout/cycle6"/>
    <dgm:cxn modelId="{BFC233A7-194B-43F0-93A2-AF17E37FA8FA}" type="presOf" srcId="{EAA19CA7-01EE-404A-8389-D617BC99CE57}" destId="{3C741082-44A4-42FB-A44E-B1F9DE3AE5C5}" srcOrd="0" destOrd="0" presId="urn:microsoft.com/office/officeart/2005/8/layout/cycle6"/>
    <dgm:cxn modelId="{7E3958AC-F0E8-4594-838F-CF668CAAFC92}" type="presOf" srcId="{5893E901-63B6-4332-9D46-E0B66D3EC878}" destId="{A38EC101-065D-4597-897A-07269966263C}" srcOrd="0" destOrd="0" presId="urn:microsoft.com/office/officeart/2005/8/layout/cycle6"/>
    <dgm:cxn modelId="{F09C4EB9-4703-43A6-B31B-558579093998}" type="presOf" srcId="{D156A04E-F414-4718-96B7-F8512E3943A7}" destId="{A2EC0D8C-ACE2-4676-84D2-E33D784B011A}" srcOrd="0" destOrd="0" presId="urn:microsoft.com/office/officeart/2005/8/layout/cycle6"/>
    <dgm:cxn modelId="{022813C1-E6A1-4561-9816-1AF4E23987D9}" type="presOf" srcId="{2B72A7EC-BABC-4DBF-A626-22DBE2FA39DA}" destId="{DCB00B6E-0756-45F9-9782-F88059295B85}" srcOrd="0" destOrd="0" presId="urn:microsoft.com/office/officeart/2005/8/layout/cycle6"/>
    <dgm:cxn modelId="{C9B241C1-4B5D-4FE9-B6FD-265ED0679D8D}" type="presOf" srcId="{63FDADC7-68EF-4AA1-A840-96F26D13FE87}" destId="{1AB89226-9A12-4872-BCBD-EAADCC14C51A}" srcOrd="0" destOrd="0" presId="urn:microsoft.com/office/officeart/2005/8/layout/cycle6"/>
    <dgm:cxn modelId="{709E63C3-06F1-4DBC-B700-F03D27C7A21B}" type="presOf" srcId="{DB44DE42-5F6D-4C0B-AF5E-2CFC10DDDDF1}" destId="{40EC7BF2-31E4-4D81-8730-387456F5C982}" srcOrd="0" destOrd="0" presId="urn:microsoft.com/office/officeart/2005/8/layout/cycle6"/>
    <dgm:cxn modelId="{6E4ED0CC-EE6D-4563-989B-BA54CBDD8E20}" srcId="{6428AAF9-B83B-4209-8B19-276DF2AE7270}" destId="{2B72A7EC-BABC-4DBF-A626-22DBE2FA39DA}" srcOrd="8" destOrd="0" parTransId="{3E056F8C-3506-4683-9E2F-DEDFCF01210A}" sibTransId="{3C6C93B9-BD9C-466A-AC5D-B487577A7C2F}"/>
    <dgm:cxn modelId="{5EE603D4-C606-4C4C-80E8-5E435F8498CC}" type="presOf" srcId="{28A2CFCC-7DA4-4405-95E5-B8E6D6AAEFE7}" destId="{726895EA-3799-438A-8948-4FED9D770412}" srcOrd="0" destOrd="0" presId="urn:microsoft.com/office/officeart/2005/8/layout/cycle6"/>
    <dgm:cxn modelId="{13C14C1B-A406-4FB9-899B-A096959E2898}" type="presParOf" srcId="{5CC92172-DF87-4EAA-A3AC-7BD1983DB619}" destId="{B996841F-1E68-440F-83D5-438FA6671EBA}" srcOrd="0" destOrd="0" presId="urn:microsoft.com/office/officeart/2005/8/layout/cycle6"/>
    <dgm:cxn modelId="{6E3CA4F6-5B32-4390-BBF0-35435D319C3B}" type="presParOf" srcId="{5CC92172-DF87-4EAA-A3AC-7BD1983DB619}" destId="{9C08785C-B3A2-467F-937E-69C88EF505C0}" srcOrd="1" destOrd="0" presId="urn:microsoft.com/office/officeart/2005/8/layout/cycle6"/>
    <dgm:cxn modelId="{6C54BDF4-B7F3-4E8B-8083-C56F8F7B32E7}" type="presParOf" srcId="{5CC92172-DF87-4EAA-A3AC-7BD1983DB619}" destId="{1AB89226-9A12-4872-BCBD-EAADCC14C51A}" srcOrd="2" destOrd="0" presId="urn:microsoft.com/office/officeart/2005/8/layout/cycle6"/>
    <dgm:cxn modelId="{5B642CD7-DF31-4AD9-9B5E-218A2EE0AF07}" type="presParOf" srcId="{5CC92172-DF87-4EAA-A3AC-7BD1983DB619}" destId="{43025D03-7FC5-4326-A62B-2D4BCB0D23D6}" srcOrd="3" destOrd="0" presId="urn:microsoft.com/office/officeart/2005/8/layout/cycle6"/>
    <dgm:cxn modelId="{FF061538-D67B-4175-B50A-2778285A2DEF}" type="presParOf" srcId="{5CC92172-DF87-4EAA-A3AC-7BD1983DB619}" destId="{17DAE633-5903-4B60-AE7F-FEFF44795A6D}" srcOrd="4" destOrd="0" presId="urn:microsoft.com/office/officeart/2005/8/layout/cycle6"/>
    <dgm:cxn modelId="{D10277DA-4141-456B-B029-72264809FD71}" type="presParOf" srcId="{5CC92172-DF87-4EAA-A3AC-7BD1983DB619}" destId="{A38EC101-065D-4597-897A-07269966263C}" srcOrd="5" destOrd="0" presId="urn:microsoft.com/office/officeart/2005/8/layout/cycle6"/>
    <dgm:cxn modelId="{7785AFAA-458D-4EB5-9373-962B595F55A7}" type="presParOf" srcId="{5CC92172-DF87-4EAA-A3AC-7BD1983DB619}" destId="{DE0C91BC-E7A1-49B1-B1B9-03A4EBFC9BDC}" srcOrd="6" destOrd="0" presId="urn:microsoft.com/office/officeart/2005/8/layout/cycle6"/>
    <dgm:cxn modelId="{2B633126-769A-4DEC-8319-8B50D3C400A9}" type="presParOf" srcId="{5CC92172-DF87-4EAA-A3AC-7BD1983DB619}" destId="{6CC4EEE6-30D7-4C55-927B-0414AA7C3D22}" srcOrd="7" destOrd="0" presId="urn:microsoft.com/office/officeart/2005/8/layout/cycle6"/>
    <dgm:cxn modelId="{B89B070B-E43F-4DB9-B6B3-A8861C17B788}" type="presParOf" srcId="{5CC92172-DF87-4EAA-A3AC-7BD1983DB619}" destId="{40EC7BF2-31E4-4D81-8730-387456F5C982}" srcOrd="8" destOrd="0" presId="urn:microsoft.com/office/officeart/2005/8/layout/cycle6"/>
    <dgm:cxn modelId="{BE60B554-7F98-4D18-A284-E28A57842F94}" type="presParOf" srcId="{5CC92172-DF87-4EAA-A3AC-7BD1983DB619}" destId="{A2EC0D8C-ACE2-4676-84D2-E33D784B011A}" srcOrd="9" destOrd="0" presId="urn:microsoft.com/office/officeart/2005/8/layout/cycle6"/>
    <dgm:cxn modelId="{B3D18183-4278-496C-8CC2-591F751E1E5A}" type="presParOf" srcId="{5CC92172-DF87-4EAA-A3AC-7BD1983DB619}" destId="{90D19294-4FAC-4AEB-ACCD-306499E5C697}" srcOrd="10" destOrd="0" presId="urn:microsoft.com/office/officeart/2005/8/layout/cycle6"/>
    <dgm:cxn modelId="{41D68FD9-0EC5-4890-8BFD-55C889CC3AD9}" type="presParOf" srcId="{5CC92172-DF87-4EAA-A3AC-7BD1983DB619}" destId="{392641C4-B015-43B5-88E2-3551C2809AF1}" srcOrd="11" destOrd="0" presId="urn:microsoft.com/office/officeart/2005/8/layout/cycle6"/>
    <dgm:cxn modelId="{88DBAA75-1D3D-43AA-92AA-FEE12E5BB525}" type="presParOf" srcId="{5CC92172-DF87-4EAA-A3AC-7BD1983DB619}" destId="{A0119CAB-EFBC-4D1B-8722-8BA9F82723B7}" srcOrd="12" destOrd="0" presId="urn:microsoft.com/office/officeart/2005/8/layout/cycle6"/>
    <dgm:cxn modelId="{8FB57204-3C29-414F-A09C-E8CF5966859E}" type="presParOf" srcId="{5CC92172-DF87-4EAA-A3AC-7BD1983DB619}" destId="{1EF58EE2-1D2F-43B7-80F2-1EE7F5F24ACB}" srcOrd="13" destOrd="0" presId="urn:microsoft.com/office/officeart/2005/8/layout/cycle6"/>
    <dgm:cxn modelId="{FBBB9BE6-36DB-4FA3-8F22-D7E2C1E722D5}" type="presParOf" srcId="{5CC92172-DF87-4EAA-A3AC-7BD1983DB619}" destId="{0C4491C9-8D0F-4889-84CD-E05EE2945CA3}" srcOrd="14" destOrd="0" presId="urn:microsoft.com/office/officeart/2005/8/layout/cycle6"/>
    <dgm:cxn modelId="{9D090DFA-3FFE-41E6-94BC-C54804329AAD}" type="presParOf" srcId="{5CC92172-DF87-4EAA-A3AC-7BD1983DB619}" destId="{9B7BF783-2DB6-4C08-A48E-2974AD7F39CF}" srcOrd="15" destOrd="0" presId="urn:microsoft.com/office/officeart/2005/8/layout/cycle6"/>
    <dgm:cxn modelId="{65938798-A7B7-43FD-A9F4-85C4D35BD462}" type="presParOf" srcId="{5CC92172-DF87-4EAA-A3AC-7BD1983DB619}" destId="{ABAA1DDA-75DC-4A2D-9EB7-BCFDD49042AE}" srcOrd="16" destOrd="0" presId="urn:microsoft.com/office/officeart/2005/8/layout/cycle6"/>
    <dgm:cxn modelId="{9E025976-3E2D-41D7-AF7E-03539D08DC65}" type="presParOf" srcId="{5CC92172-DF87-4EAA-A3AC-7BD1983DB619}" destId="{726895EA-3799-438A-8948-4FED9D770412}" srcOrd="17" destOrd="0" presId="urn:microsoft.com/office/officeart/2005/8/layout/cycle6"/>
    <dgm:cxn modelId="{9DDB08AE-F8FB-4FAF-B3C9-43AD7B013223}" type="presParOf" srcId="{5CC92172-DF87-4EAA-A3AC-7BD1983DB619}" destId="{5D75FE1A-2014-4A91-ABE0-8408A83C9AE9}" srcOrd="18" destOrd="0" presId="urn:microsoft.com/office/officeart/2005/8/layout/cycle6"/>
    <dgm:cxn modelId="{2478078F-2395-4C89-BE54-20B2CAD6B9D6}" type="presParOf" srcId="{5CC92172-DF87-4EAA-A3AC-7BD1983DB619}" destId="{72B81752-F228-4180-88CA-3452814FE871}" srcOrd="19" destOrd="0" presId="urn:microsoft.com/office/officeart/2005/8/layout/cycle6"/>
    <dgm:cxn modelId="{F11873D8-2390-4AA8-98FF-77B9C0A1185F}" type="presParOf" srcId="{5CC92172-DF87-4EAA-A3AC-7BD1983DB619}" destId="{93EFAA27-CE27-43AA-83FA-6406A5EF7DAB}" srcOrd="20" destOrd="0" presId="urn:microsoft.com/office/officeart/2005/8/layout/cycle6"/>
    <dgm:cxn modelId="{E6084E7B-9624-4AA0-B9DB-A09014E0DCB2}" type="presParOf" srcId="{5CC92172-DF87-4EAA-A3AC-7BD1983DB619}" destId="{3C741082-44A4-42FB-A44E-B1F9DE3AE5C5}" srcOrd="21" destOrd="0" presId="urn:microsoft.com/office/officeart/2005/8/layout/cycle6"/>
    <dgm:cxn modelId="{C52DC50B-F2DF-493C-AC03-CEC4F17CE25F}" type="presParOf" srcId="{5CC92172-DF87-4EAA-A3AC-7BD1983DB619}" destId="{B8F5B838-49C5-47C2-941E-A199E5E29578}" srcOrd="22" destOrd="0" presId="urn:microsoft.com/office/officeart/2005/8/layout/cycle6"/>
    <dgm:cxn modelId="{D1BB15E3-30C9-4231-8F86-37C4ABEC8967}" type="presParOf" srcId="{5CC92172-DF87-4EAA-A3AC-7BD1983DB619}" destId="{F50CC918-C569-46B8-B689-56331A531413}" srcOrd="23" destOrd="0" presId="urn:microsoft.com/office/officeart/2005/8/layout/cycle6"/>
    <dgm:cxn modelId="{EA66054E-EAD0-4BD7-8437-1E095CCB57CE}" type="presParOf" srcId="{5CC92172-DF87-4EAA-A3AC-7BD1983DB619}" destId="{DCB00B6E-0756-45F9-9782-F88059295B85}" srcOrd="24" destOrd="0" presId="urn:microsoft.com/office/officeart/2005/8/layout/cycle6"/>
    <dgm:cxn modelId="{1F935E0F-C1B5-4D5C-B71C-5948E28575C1}" type="presParOf" srcId="{5CC92172-DF87-4EAA-A3AC-7BD1983DB619}" destId="{6BE6E177-4E69-40D9-B225-F16CE7F652F2}" srcOrd="25" destOrd="0" presId="urn:microsoft.com/office/officeart/2005/8/layout/cycle6"/>
    <dgm:cxn modelId="{A489230F-B01E-46BC-9635-C96CEC175600}" type="presParOf" srcId="{5CC92172-DF87-4EAA-A3AC-7BD1983DB619}" destId="{D815692C-6644-42F3-9594-10D407114276}" srcOrd="26"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6841F-1E68-440F-83D5-438FA6671EBA}">
      <dsp:nvSpPr>
        <dsp:cNvPr id="0" name=""/>
        <dsp:cNvSpPr/>
      </dsp:nvSpPr>
      <dsp:spPr>
        <a:xfrm>
          <a:off x="3809034" y="-90060"/>
          <a:ext cx="795304"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solidFill>
                <a:srgbClr val="0070C0"/>
              </a:solidFill>
            </a:rPr>
            <a:t>Plant</a:t>
          </a:r>
        </a:p>
      </dsp:txBody>
      <dsp:txXfrm>
        <a:off x="3834269" y="-64825"/>
        <a:ext cx="744834" cy="466477"/>
      </dsp:txXfrm>
    </dsp:sp>
    <dsp:sp modelId="{1AB89226-9A12-4872-BCBD-EAADCC14C51A}">
      <dsp:nvSpPr>
        <dsp:cNvPr id="0" name=""/>
        <dsp:cNvSpPr/>
      </dsp:nvSpPr>
      <dsp:spPr>
        <a:xfrm>
          <a:off x="2099321" y="139864"/>
          <a:ext cx="3973761" cy="3973761"/>
        </a:xfrm>
        <a:custGeom>
          <a:avLst/>
          <a:gdLst/>
          <a:ahLst/>
          <a:cxnLst/>
          <a:rect l="0" t="0" r="0" b="0"/>
          <a:pathLst>
            <a:path>
              <a:moveTo>
                <a:pt x="2507825" y="69509"/>
              </a:moveTo>
              <a:arcTo wR="1986880" hR="1986880" stAng="17112011" swAng="493927"/>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3025D03-7FC5-4326-A62B-2D4BCB0D23D6}">
      <dsp:nvSpPr>
        <dsp:cNvPr id="0" name=""/>
        <dsp:cNvSpPr/>
      </dsp:nvSpPr>
      <dsp:spPr>
        <a:xfrm>
          <a:off x="4878985" y="218877"/>
          <a:ext cx="1152944" cy="8287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solidFill>
                <a:srgbClr val="00B050"/>
              </a:solidFill>
            </a:rPr>
            <a:t>Resource Investigator</a:t>
          </a:r>
        </a:p>
      </dsp:txBody>
      <dsp:txXfrm>
        <a:off x="4919442" y="259334"/>
        <a:ext cx="1072030" cy="747851"/>
      </dsp:txXfrm>
    </dsp:sp>
    <dsp:sp modelId="{A38EC101-065D-4597-897A-07269966263C}">
      <dsp:nvSpPr>
        <dsp:cNvPr id="0" name=""/>
        <dsp:cNvSpPr/>
      </dsp:nvSpPr>
      <dsp:spPr>
        <a:xfrm>
          <a:off x="2240129" y="228800"/>
          <a:ext cx="3973761" cy="3973761"/>
        </a:xfrm>
        <a:custGeom>
          <a:avLst/>
          <a:gdLst/>
          <a:ahLst/>
          <a:cxnLst/>
          <a:rect l="0" t="0" r="0" b="0"/>
          <a:pathLst>
            <a:path>
              <a:moveTo>
                <a:pt x="3597514" y="823456"/>
              </a:moveTo>
              <a:arcTo wR="1986880" hR="1986880" stAng="19449475" swAng="96948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0C91BC-E7A1-49B1-B1B9-03A4EBFC9BDC}">
      <dsp:nvSpPr>
        <dsp:cNvPr id="0" name=""/>
        <dsp:cNvSpPr/>
      </dsp:nvSpPr>
      <dsp:spPr>
        <a:xfrm>
          <a:off x="5395591" y="1551802"/>
          <a:ext cx="1535581"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B050"/>
              </a:solidFill>
            </a:rPr>
            <a:t>Co-ordinator</a:t>
          </a:r>
        </a:p>
      </dsp:txBody>
      <dsp:txXfrm>
        <a:off x="5420826" y="1577037"/>
        <a:ext cx="1485111" cy="466477"/>
      </dsp:txXfrm>
    </dsp:sp>
    <dsp:sp modelId="{40EC7BF2-31E4-4D81-8730-387456F5C982}">
      <dsp:nvSpPr>
        <dsp:cNvPr id="0" name=""/>
        <dsp:cNvSpPr/>
      </dsp:nvSpPr>
      <dsp:spPr>
        <a:xfrm>
          <a:off x="2218683" y="136972"/>
          <a:ext cx="3973761" cy="3973761"/>
        </a:xfrm>
        <a:custGeom>
          <a:avLst/>
          <a:gdLst/>
          <a:ahLst/>
          <a:cxnLst/>
          <a:rect l="0" t="0" r="0" b="0"/>
          <a:pathLst>
            <a:path>
              <a:moveTo>
                <a:pt x="3973212" y="1940170"/>
              </a:moveTo>
              <a:arcTo wR="1986880" hR="1986880" stAng="21519174" swAng="143462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2EC0D8C-ACE2-4676-84D2-E33D784B011A}">
      <dsp:nvSpPr>
        <dsp:cNvPr id="0" name=""/>
        <dsp:cNvSpPr/>
      </dsp:nvSpPr>
      <dsp:spPr>
        <a:xfrm>
          <a:off x="5126529" y="2893975"/>
          <a:ext cx="1567266"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FF0000"/>
              </a:solidFill>
            </a:rPr>
            <a:t>Shaper</a:t>
          </a:r>
        </a:p>
      </dsp:txBody>
      <dsp:txXfrm>
        <a:off x="5151764" y="2919210"/>
        <a:ext cx="1516796" cy="466477"/>
      </dsp:txXfrm>
    </dsp:sp>
    <dsp:sp modelId="{392641C4-B015-43B5-88E2-3551C2809AF1}">
      <dsp:nvSpPr>
        <dsp:cNvPr id="0" name=""/>
        <dsp:cNvSpPr/>
      </dsp:nvSpPr>
      <dsp:spPr>
        <a:xfrm>
          <a:off x="2095364" y="313358"/>
          <a:ext cx="3973761" cy="3973761"/>
        </a:xfrm>
        <a:custGeom>
          <a:avLst/>
          <a:gdLst/>
          <a:ahLst/>
          <a:cxnLst/>
          <a:rect l="0" t="0" r="0" b="0"/>
          <a:pathLst>
            <a:path>
              <a:moveTo>
                <a:pt x="3632695" y="3099980"/>
              </a:moveTo>
              <a:arcTo wR="1986880" hR="1986880" stAng="2044280" swAng="494857"/>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119CAB-EFBC-4D1B-8722-8BA9F82723B7}">
      <dsp:nvSpPr>
        <dsp:cNvPr id="0" name=""/>
        <dsp:cNvSpPr/>
      </dsp:nvSpPr>
      <dsp:spPr>
        <a:xfrm>
          <a:off x="4255459" y="3640076"/>
          <a:ext cx="1349663" cy="7634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70C0"/>
              </a:solidFill>
            </a:rPr>
            <a:t>Monitor Evaluator</a:t>
          </a:r>
        </a:p>
      </dsp:txBody>
      <dsp:txXfrm>
        <a:off x="4292728" y="3677345"/>
        <a:ext cx="1275125" cy="688911"/>
      </dsp:txXfrm>
    </dsp:sp>
    <dsp:sp modelId="{0C4491C9-8D0F-4889-84CD-E05EE2945CA3}">
      <dsp:nvSpPr>
        <dsp:cNvPr id="0" name=""/>
        <dsp:cNvSpPr/>
      </dsp:nvSpPr>
      <dsp:spPr>
        <a:xfrm>
          <a:off x="2358923" y="184855"/>
          <a:ext cx="3973761" cy="3973761"/>
        </a:xfrm>
        <a:custGeom>
          <a:avLst/>
          <a:gdLst/>
          <a:ahLst/>
          <a:cxnLst/>
          <a:rect l="0" t="0" r="0" b="0"/>
          <a:pathLst>
            <a:path>
              <a:moveTo>
                <a:pt x="1894405" y="3971608"/>
              </a:moveTo>
              <a:arcTo wR="1986880" hR="1986880" stAng="5560060" swAng="36188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B7BF783-2DB6-4C08-A48E-2974AD7F39CF}">
      <dsp:nvSpPr>
        <dsp:cNvPr id="0" name=""/>
        <dsp:cNvSpPr/>
      </dsp:nvSpPr>
      <dsp:spPr>
        <a:xfrm>
          <a:off x="3011075" y="3577905"/>
          <a:ext cx="1032114" cy="8888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B050"/>
              </a:solidFill>
            </a:rPr>
            <a:t>Team worker</a:t>
          </a:r>
        </a:p>
      </dsp:txBody>
      <dsp:txXfrm>
        <a:off x="3054467" y="3621297"/>
        <a:ext cx="945330" cy="802107"/>
      </dsp:txXfrm>
    </dsp:sp>
    <dsp:sp modelId="{726895EA-3799-438A-8948-4FED9D770412}">
      <dsp:nvSpPr>
        <dsp:cNvPr id="0" name=""/>
        <dsp:cNvSpPr/>
      </dsp:nvSpPr>
      <dsp:spPr>
        <a:xfrm>
          <a:off x="2366944" y="290814"/>
          <a:ext cx="3973761" cy="3973761"/>
        </a:xfrm>
        <a:custGeom>
          <a:avLst/>
          <a:gdLst/>
          <a:ahLst/>
          <a:cxnLst/>
          <a:rect l="0" t="0" r="0" b="0"/>
          <a:pathLst>
            <a:path>
              <a:moveTo>
                <a:pt x="641469" y="3448921"/>
              </a:moveTo>
              <a:arcTo wR="1986880" hR="1986880" stAng="7957269" swAng="61383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D75FE1A-2014-4A91-ABE0-8408A83C9AE9}">
      <dsp:nvSpPr>
        <dsp:cNvPr id="0" name=""/>
        <dsp:cNvSpPr/>
      </dsp:nvSpPr>
      <dsp:spPr>
        <a:xfrm>
          <a:off x="1953500" y="2957702"/>
          <a:ext cx="1229063"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FF0000"/>
              </a:solidFill>
            </a:rPr>
            <a:t>I</a:t>
          </a:r>
          <a:r>
            <a:rPr lang="en-GB" sz="1400" kern="1200">
              <a:solidFill>
                <a:srgbClr val="FF0000"/>
              </a:solidFill>
            </a:rPr>
            <a:t>mplementer</a:t>
          </a:r>
        </a:p>
      </dsp:txBody>
      <dsp:txXfrm>
        <a:off x="1978735" y="2982937"/>
        <a:ext cx="1178593" cy="466477"/>
      </dsp:txXfrm>
    </dsp:sp>
    <dsp:sp modelId="{93EFAA27-CE27-43AA-83FA-6406A5EF7DAB}">
      <dsp:nvSpPr>
        <dsp:cNvPr id="0" name=""/>
        <dsp:cNvSpPr/>
      </dsp:nvSpPr>
      <dsp:spPr>
        <a:xfrm>
          <a:off x="2212943" y="73451"/>
          <a:ext cx="3973761" cy="3973761"/>
        </a:xfrm>
        <a:custGeom>
          <a:avLst/>
          <a:gdLst/>
          <a:ahLst/>
          <a:cxnLst/>
          <a:rect l="0" t="0" r="0" b="0"/>
          <a:pathLst>
            <a:path>
              <a:moveTo>
                <a:pt x="210881" y="2877679"/>
              </a:moveTo>
              <a:arcTo wR="1986880" hR="1986880" stAng="9201765" swAng="125513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C741082-44A4-42FB-A44E-B1F9DE3AE5C5}">
      <dsp:nvSpPr>
        <dsp:cNvPr id="0" name=""/>
        <dsp:cNvSpPr/>
      </dsp:nvSpPr>
      <dsp:spPr>
        <a:xfrm>
          <a:off x="1709589" y="1369575"/>
          <a:ext cx="1080802" cy="8814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solidFill>
                <a:srgbClr val="FF0000"/>
              </a:solidFill>
            </a:rPr>
            <a:t>Completer/Finisher</a:t>
          </a:r>
        </a:p>
      </dsp:txBody>
      <dsp:txXfrm>
        <a:off x="1752615" y="1412601"/>
        <a:ext cx="994750" cy="795349"/>
      </dsp:txXfrm>
    </dsp:sp>
    <dsp:sp modelId="{F50CC918-C569-46B8-B689-56331A531413}">
      <dsp:nvSpPr>
        <dsp:cNvPr id="0" name=""/>
        <dsp:cNvSpPr/>
      </dsp:nvSpPr>
      <dsp:spPr>
        <a:xfrm>
          <a:off x="2219805" y="168413"/>
          <a:ext cx="3973761" cy="3973761"/>
        </a:xfrm>
        <a:custGeom>
          <a:avLst/>
          <a:gdLst/>
          <a:ahLst/>
          <a:cxnLst/>
          <a:rect l="0" t="0" r="0" b="0"/>
          <a:pathLst>
            <a:path>
              <a:moveTo>
                <a:pt x="164179" y="1196023"/>
              </a:moveTo>
              <a:arcTo wR="1986880" hR="1986880" stAng="12207341" swAng="95242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CB00B6E-0756-45F9-9782-F88059295B85}">
      <dsp:nvSpPr>
        <dsp:cNvPr id="0" name=""/>
        <dsp:cNvSpPr/>
      </dsp:nvSpPr>
      <dsp:spPr>
        <a:xfrm>
          <a:off x="2422394" y="374781"/>
          <a:ext cx="1014299"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solidFill>
                <a:srgbClr val="0070C0"/>
              </a:solidFill>
            </a:rPr>
            <a:t>S</a:t>
          </a:r>
          <a:r>
            <a:rPr lang="en-GB" sz="1400" kern="1200">
              <a:solidFill>
                <a:srgbClr val="0070C0"/>
              </a:solidFill>
            </a:rPr>
            <a:t>pecialist</a:t>
          </a:r>
        </a:p>
      </dsp:txBody>
      <dsp:txXfrm>
        <a:off x="2447629" y="400016"/>
        <a:ext cx="963829" cy="466477"/>
      </dsp:txXfrm>
    </dsp:sp>
    <dsp:sp modelId="{D815692C-6644-42F3-9594-10D407114276}">
      <dsp:nvSpPr>
        <dsp:cNvPr id="0" name=""/>
        <dsp:cNvSpPr/>
      </dsp:nvSpPr>
      <dsp:spPr>
        <a:xfrm>
          <a:off x="2219805" y="168413"/>
          <a:ext cx="3973761" cy="3973761"/>
        </a:xfrm>
        <a:custGeom>
          <a:avLst/>
          <a:gdLst/>
          <a:ahLst/>
          <a:cxnLst/>
          <a:rect l="0" t="0" r="0" b="0"/>
          <a:pathLst>
            <a:path>
              <a:moveTo>
                <a:pt x="1109728" y="204102"/>
              </a:moveTo>
              <a:arcTo wR="1986880" hR="1986880" stAng="14628129" swAng="870310"/>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60D4DD-CA0F-7F45-88ED-F7AEBDDD7E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56F7EBE-B50A-D443-AE2A-42132C68EF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FE77E8-BC33-C74B-9CC2-F4DA69E5A52A}" type="datetimeFigureOut">
              <a:rPr lang="en-US" smtClean="0"/>
              <a:t>2/6/2026</a:t>
            </a:fld>
            <a:endParaRPr lang="en-US"/>
          </a:p>
        </p:txBody>
      </p:sp>
      <p:sp>
        <p:nvSpPr>
          <p:cNvPr id="4" name="Footer Placeholder 3">
            <a:extLst>
              <a:ext uri="{FF2B5EF4-FFF2-40B4-BE49-F238E27FC236}">
                <a16:creationId xmlns:a16="http://schemas.microsoft.com/office/drawing/2014/main" id="{CD19BC9B-62AA-6E4E-A277-0530773DB7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97A0097-E9AC-BF4A-BC41-E2EEC52F72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B5D8E1-1850-A643-B7A4-6A6AA6A07A47}" type="slidenum">
              <a:rPr lang="en-US" smtClean="0"/>
              <a:t>‹#›</a:t>
            </a:fld>
            <a:endParaRPr lang="en-US"/>
          </a:p>
        </p:txBody>
      </p:sp>
    </p:spTree>
    <p:extLst>
      <p:ext uri="{BB962C8B-B14F-4D97-AF65-F5344CB8AC3E}">
        <p14:creationId xmlns:p14="http://schemas.microsoft.com/office/powerpoint/2010/main" val="27607987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020E6-C0D3-4975-9BE5-071101F644E7}" type="datetimeFigureOut">
              <a:rPr lang="en-GB" smtClean="0"/>
              <a:t>06/02/2026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92C13A-B57B-494A-A65E-603D9165C618}" type="slidenum">
              <a:rPr lang="en-GB" smtClean="0"/>
              <a:t>‹#›</a:t>
            </a:fld>
            <a:endParaRPr lang="en-GB"/>
          </a:p>
        </p:txBody>
      </p:sp>
    </p:spTree>
    <p:extLst>
      <p:ext uri="{BB962C8B-B14F-4D97-AF65-F5344CB8AC3E}">
        <p14:creationId xmlns:p14="http://schemas.microsoft.com/office/powerpoint/2010/main" val="1939730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Behavio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D40174BB-C502-6ACF-D7B1-186EB4B6BFBF}"/>
              </a:ext>
            </a:extLst>
          </p:cNvPr>
          <p:cNvSpPr>
            <a:spLocks noGrp="1" noRot="1" noChangeAspect="1" noTextEdit="1"/>
          </p:cNvSpPr>
          <p:nvPr>
            <p:ph type="sldImg"/>
          </p:nvPr>
        </p:nvSpPr>
        <p:spPr>
          <a:ln/>
        </p:spPr>
      </p:sp>
      <p:sp>
        <p:nvSpPr>
          <p:cNvPr id="9219" name="Notes Placeholder 2">
            <a:extLst>
              <a:ext uri="{FF2B5EF4-FFF2-40B4-BE49-F238E27FC236}">
                <a16:creationId xmlns:a16="http://schemas.microsoft.com/office/drawing/2014/main" id="{1A802348-8040-72C7-2252-4F35FD1F68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9220" name="Slide Number Placeholder 3">
            <a:extLst>
              <a:ext uri="{FF2B5EF4-FFF2-40B4-BE49-F238E27FC236}">
                <a16:creationId xmlns:a16="http://schemas.microsoft.com/office/drawing/2014/main" id="{8B070DE8-A9D2-5ED4-18E3-E6B5B372A0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2B484A-F140-48DF-B666-7C12D3E2B0E3}" type="slidenum">
              <a:rPr lang="en-US" altLang="it-IT" sz="1200"/>
              <a:pPr/>
              <a:t>6</a:t>
            </a:fld>
            <a:endParaRPr lang="en-US" altLang="it-IT"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9EBDAE30-3AFF-058F-5D40-9EDB70290765}"/>
              </a:ext>
            </a:extLst>
          </p:cNvPr>
          <p:cNvSpPr>
            <a:spLocks noGrp="1" noRot="1" noChangeAspect="1" noTextEdit="1"/>
          </p:cNvSpPr>
          <p:nvPr>
            <p:ph type="sldImg"/>
          </p:nvPr>
        </p:nvSpPr>
        <p:spPr>
          <a:ln/>
        </p:spPr>
      </p:sp>
      <p:sp>
        <p:nvSpPr>
          <p:cNvPr id="11267" name="Notes Placeholder 2">
            <a:extLst>
              <a:ext uri="{FF2B5EF4-FFF2-40B4-BE49-F238E27FC236}">
                <a16:creationId xmlns:a16="http://schemas.microsoft.com/office/drawing/2014/main" id="{23989005-4913-A7A9-2555-7C2401410C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latin typeface="Times" panose="02020603050405020304" pitchFamily="18" charset="0"/>
              </a:rPr>
              <a:t>Hersey and Blanchard characterized leadership style in terms of the amount of task behavior and relationship behavior that the leader provides to their followers. They categorized all leadership styles into four </a:t>
            </a:r>
            <a:r>
              <a:rPr lang="en-GB" altLang="en-US">
                <a:latin typeface="Times" panose="02020603050405020304" pitchFamily="18" charset="0"/>
                <a:hlinkClick r:id="rId3" action="ppaction://hlinkfile" tooltip="Behavior"/>
              </a:rPr>
              <a:t>behavior</a:t>
            </a:r>
            <a:r>
              <a:rPr lang="en-GB" altLang="en-US">
                <a:latin typeface="Times" panose="02020603050405020304" pitchFamily="18" charset="0"/>
              </a:rPr>
              <a:t> types, which they named S1 to S4:</a:t>
            </a:r>
          </a:p>
          <a:p>
            <a:r>
              <a:rPr lang="en-GB" altLang="en-US" b="1">
                <a:latin typeface="Times" panose="02020603050405020304" pitchFamily="18" charset="0"/>
              </a:rPr>
              <a:t>S1: Telling</a:t>
            </a:r>
            <a:r>
              <a:rPr lang="en-GB" altLang="en-US">
                <a:latin typeface="Times" panose="02020603050405020304" pitchFamily="18" charset="0"/>
              </a:rPr>
              <a:t> – is characterized by one-way communication in which the leader defines the roles of the individual or group and provides the what, how, when, and where to do the task</a:t>
            </a:r>
          </a:p>
          <a:p>
            <a:r>
              <a:rPr lang="en-GB" altLang="en-US" b="1">
                <a:latin typeface="Times" panose="02020603050405020304" pitchFamily="18" charset="0"/>
              </a:rPr>
              <a:t>S2: Selling</a:t>
            </a:r>
            <a:r>
              <a:rPr lang="en-GB" altLang="en-US">
                <a:latin typeface="Times" panose="02020603050405020304" pitchFamily="18" charset="0"/>
              </a:rPr>
              <a:t> – while the leader is still providing the direction, he or she is now using two-way communication and providing the socioemotional support that will allow the individual or group being influenced to buy into the process.</a:t>
            </a:r>
          </a:p>
          <a:p>
            <a:r>
              <a:rPr lang="en-GB" altLang="en-US" b="1">
                <a:latin typeface="Times" panose="02020603050405020304" pitchFamily="18" charset="0"/>
              </a:rPr>
              <a:t>S3: Participating</a:t>
            </a:r>
            <a:r>
              <a:rPr lang="en-GB" altLang="en-US">
                <a:latin typeface="Times" panose="02020603050405020304" pitchFamily="18" charset="0"/>
              </a:rPr>
              <a:t> – this is now shared decision making about aspects of how the task is accomplished and the leader is providing less task behaviors while maintaining high relationship behavior.</a:t>
            </a:r>
          </a:p>
          <a:p>
            <a:r>
              <a:rPr lang="en-GB" altLang="en-US" b="1">
                <a:latin typeface="Times" panose="02020603050405020304" pitchFamily="18" charset="0"/>
              </a:rPr>
              <a:t>S4: Delegating</a:t>
            </a:r>
            <a:r>
              <a:rPr lang="en-GB" altLang="en-US">
                <a:latin typeface="Times" panose="02020603050405020304" pitchFamily="18" charset="0"/>
              </a:rPr>
              <a:t> – the leaders is still involved in decisions; however, the process and responsibility has been passed to the individual or group. The leader stays involved to monitor progress.</a:t>
            </a:r>
          </a:p>
          <a:p>
            <a:r>
              <a:rPr lang="en-GB" altLang="en-US">
                <a:latin typeface="Times" panose="02020603050405020304" pitchFamily="18" charset="0"/>
              </a:rPr>
              <a:t>Of these, no one style is considered optimal for all leaders to use all the time. Effective leaders need to be flexible, and must adapt themselves according to the situation.</a:t>
            </a:r>
          </a:p>
          <a:p>
            <a:endParaRPr lang="en-GB" altLang="en-US">
              <a:latin typeface="Times" panose="02020603050405020304" pitchFamily="18" charset="0"/>
            </a:endParaRPr>
          </a:p>
        </p:txBody>
      </p:sp>
      <p:sp>
        <p:nvSpPr>
          <p:cNvPr id="11268" name="Slide Number Placeholder 3">
            <a:extLst>
              <a:ext uri="{FF2B5EF4-FFF2-40B4-BE49-F238E27FC236}">
                <a16:creationId xmlns:a16="http://schemas.microsoft.com/office/drawing/2014/main" id="{54EBACE2-B04A-E62C-A96F-D4A73BA568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1D0BB67-B5D8-4D37-B2DD-C715B82FCD46}" type="slidenum">
              <a:rPr lang="en-GB" altLang="en-US" sz="1200"/>
              <a:pPr/>
              <a:t>7</a:t>
            </a:fld>
            <a:endParaRPr lang="en-GB"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C92C13A-B57B-494A-A65E-603D9165C618}" type="slidenum">
              <a:rPr lang="en-GB" smtClean="0"/>
              <a:t>9</a:t>
            </a:fld>
            <a:endParaRPr lang="en-GB"/>
          </a:p>
        </p:txBody>
      </p:sp>
    </p:spTree>
    <p:extLst>
      <p:ext uri="{BB962C8B-B14F-4D97-AF65-F5344CB8AC3E}">
        <p14:creationId xmlns:p14="http://schemas.microsoft.com/office/powerpoint/2010/main" val="2706804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8F3547C-2E7A-4E66-A919-DFEC58FD3C7F}" type="slidenum">
              <a:rPr lang="en-GB" smtClean="0"/>
              <a:pPr>
                <a:defRPr/>
              </a:pPr>
              <a:t>25</a:t>
            </a:fld>
            <a:endParaRPr lang="en-GB"/>
          </a:p>
        </p:txBody>
      </p:sp>
    </p:spTree>
    <p:extLst>
      <p:ext uri="{BB962C8B-B14F-4D97-AF65-F5344CB8AC3E}">
        <p14:creationId xmlns:p14="http://schemas.microsoft.com/office/powerpoint/2010/main" val="42030813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Holding Slide">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285605F-D07D-C040-859B-77CD8E038E7B}"/>
              </a:ext>
            </a:extLst>
          </p:cNvPr>
          <p:cNvPicPr>
            <a:picLocks noChangeAspect="1"/>
          </p:cNvPicPr>
          <p:nvPr userDrawn="1"/>
        </p:nvPicPr>
        <p:blipFill>
          <a:blip r:embed="rId2"/>
          <a:srcRect/>
          <a:stretch/>
        </p:blipFill>
        <p:spPr>
          <a:xfrm>
            <a:off x="3533400" y="2560895"/>
            <a:ext cx="2077200" cy="1736212"/>
          </a:xfrm>
          <a:prstGeom prst="rect">
            <a:avLst/>
          </a:prstGeom>
        </p:spPr>
      </p:pic>
      <p:sp>
        <p:nvSpPr>
          <p:cNvPr id="14" name="Rectangle 13">
            <a:extLst>
              <a:ext uri="{FF2B5EF4-FFF2-40B4-BE49-F238E27FC236}">
                <a16:creationId xmlns:a16="http://schemas.microsoft.com/office/drawing/2014/main" id="{B1EDAA04-B5C8-B946-A933-3407EAB3BFC7}"/>
              </a:ext>
            </a:extLst>
          </p:cNvPr>
          <p:cNvSpPr/>
          <p:nvPr userDrawn="1"/>
        </p:nvSpPr>
        <p:spPr>
          <a:xfrm>
            <a:off x="216707" y="209904"/>
            <a:ext cx="8710585" cy="6438192"/>
          </a:xfrm>
          <a:prstGeom prst="rect">
            <a:avLst/>
          </a:prstGeom>
          <a:blipFill>
            <a:blip r:embed="rId3"/>
            <a:srcRect/>
            <a:stretch>
              <a:fillRect l="-20906" t="-3260" r="-19917" b="-401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2D70B35-1C29-1048-88E8-A6C08C249BC5}"/>
              </a:ext>
            </a:extLst>
          </p:cNvPr>
          <p:cNvPicPr>
            <a:picLocks noChangeAspect="1"/>
          </p:cNvPicPr>
          <p:nvPr userDrawn="1"/>
        </p:nvPicPr>
        <p:blipFill>
          <a:blip r:embed="rId2"/>
          <a:srcRect/>
          <a:stretch/>
        </p:blipFill>
        <p:spPr>
          <a:xfrm>
            <a:off x="3533399" y="2777720"/>
            <a:ext cx="2077200" cy="1302561"/>
          </a:xfrm>
          <a:prstGeom prst="rect">
            <a:avLst/>
          </a:prstGeom>
        </p:spPr>
      </p:pic>
      <p:pic>
        <p:nvPicPr>
          <p:cNvPr id="16" name="Picture 15">
            <a:extLst>
              <a:ext uri="{FF2B5EF4-FFF2-40B4-BE49-F238E27FC236}">
                <a16:creationId xmlns:a16="http://schemas.microsoft.com/office/drawing/2014/main" id="{8760E858-4350-B946-B3F8-FBCA4837201F}"/>
              </a:ext>
            </a:extLst>
          </p:cNvPr>
          <p:cNvPicPr>
            <a:picLocks noChangeAspect="1"/>
          </p:cNvPicPr>
          <p:nvPr userDrawn="1"/>
        </p:nvPicPr>
        <p:blipFill>
          <a:blip r:embed="rId4"/>
          <a:srcRect/>
          <a:stretch/>
        </p:blipFill>
        <p:spPr>
          <a:xfrm>
            <a:off x="8841842" y="5454728"/>
            <a:ext cx="302158" cy="943404"/>
          </a:xfrm>
          <a:prstGeom prst="rect">
            <a:avLst/>
          </a:prstGeom>
        </p:spPr>
      </p:pic>
    </p:spTree>
    <p:extLst>
      <p:ext uri="{BB962C8B-B14F-4D97-AF65-F5344CB8AC3E}">
        <p14:creationId xmlns:p14="http://schemas.microsoft.com/office/powerpoint/2010/main" val="2388273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Keele Hall">
    <p:bg>
      <p:bgPr>
        <a:solidFill>
          <a:schemeClr val="bg2"/>
        </a:solidFill>
        <a:effectLst/>
      </p:bgPr>
    </p:bg>
    <p:spTree>
      <p:nvGrpSpPr>
        <p:cNvPr id="1" name=""/>
        <p:cNvGrpSpPr/>
        <p:nvPr/>
      </p:nvGrpSpPr>
      <p:grpSpPr>
        <a:xfrm>
          <a:off x="0" y="0"/>
          <a:ext cx="0" cy="0"/>
          <a:chOff x="0" y="0"/>
          <a:chExt cx="0" cy="0"/>
        </a:xfrm>
      </p:grpSpPr>
      <p:pic>
        <p:nvPicPr>
          <p:cNvPr id="14" name="Picture 13" descr="A lake with trees and a castle in the background&#10;&#10;Description automatically generated with low confidence">
            <a:extLst>
              <a:ext uri="{FF2B5EF4-FFF2-40B4-BE49-F238E27FC236}">
                <a16:creationId xmlns:a16="http://schemas.microsoft.com/office/drawing/2014/main" id="{903415E3-787B-AC44-AFD9-A308CF54861E}"/>
              </a:ext>
            </a:extLst>
          </p:cNvPr>
          <p:cNvPicPr>
            <a:picLocks noChangeAspect="1"/>
          </p:cNvPicPr>
          <p:nvPr userDrawn="1"/>
        </p:nvPicPr>
        <p:blipFill rotWithShape="1">
          <a:blip r:embed="rId2"/>
          <a:srcRect t="725" b="725"/>
          <a:stretch/>
        </p:blipFill>
        <p:spPr>
          <a:xfrm>
            <a:off x="216705" y="209904"/>
            <a:ext cx="8710585" cy="6438192"/>
          </a:xfrm>
          <a:prstGeom prst="rect">
            <a:avLst/>
          </a:prstGeom>
        </p:spPr>
      </p:pic>
      <p:sp>
        <p:nvSpPr>
          <p:cNvPr id="15" name="Title 1">
            <a:extLst>
              <a:ext uri="{FF2B5EF4-FFF2-40B4-BE49-F238E27FC236}">
                <a16:creationId xmlns:a16="http://schemas.microsoft.com/office/drawing/2014/main" id="{7456E8E9-6C2F-184D-9DFF-CBB0FB851E2B}"/>
              </a:ext>
            </a:extLst>
          </p:cNvPr>
          <p:cNvSpPr>
            <a:spLocks noGrp="1"/>
          </p:cNvSpPr>
          <p:nvPr>
            <p:ph type="title" hasCustomPrompt="1"/>
          </p:nvPr>
        </p:nvSpPr>
        <p:spPr>
          <a:xfrm>
            <a:off x="541862" y="4305570"/>
            <a:ext cx="7837518" cy="1280067"/>
          </a:xfrm>
        </p:spPr>
        <p:txBody>
          <a:bodyPr lIns="0" tIns="0" rIns="0" bIns="0" anchor="ctr" anchorCtr="0">
            <a:normAutofit/>
          </a:bodyPr>
          <a:lstStyle>
            <a:lvl1pPr>
              <a:defRPr sz="3001" baseline="0">
                <a:solidFill>
                  <a:schemeClr val="bg1"/>
                </a:solidFill>
                <a:latin typeface="Palatino Linotype" panose="02040502050505030304" pitchFamily="18" charset="0"/>
              </a:defRPr>
            </a:lvl1pPr>
          </a:lstStyle>
          <a:p>
            <a:r>
              <a:rPr lang="en-GB" sz="2701" b="0" i="0">
                <a:solidFill>
                  <a:schemeClr val="bg1"/>
                </a:solidFill>
                <a:latin typeface="Palatino Linotype" panose="02040502050505030304" pitchFamily="18" charset="0"/>
                <a:ea typeface="Palatino" pitchFamily="2" charset="77"/>
                <a:cs typeface="Arial" panose="020B0604020202020204" pitchFamily="34" charset="0"/>
              </a:rPr>
              <a:t>Presentation title Palatino 36 point</a:t>
            </a:r>
            <a:br>
              <a:rPr lang="en-GB" sz="2701" b="0" i="0">
                <a:solidFill>
                  <a:schemeClr val="bg1"/>
                </a:solidFill>
                <a:latin typeface="Palatino Linotype" panose="02040502050505030304" pitchFamily="18" charset="0"/>
                <a:ea typeface="Palatino" pitchFamily="2" charset="77"/>
                <a:cs typeface="Arial" panose="020B0604020202020204" pitchFamily="34" charset="0"/>
              </a:rPr>
            </a:br>
            <a:r>
              <a:rPr lang="en-GB" sz="2701" b="0" i="0">
                <a:solidFill>
                  <a:schemeClr val="bg1"/>
                </a:solidFill>
                <a:latin typeface="Palatino Linotype" panose="02040502050505030304" pitchFamily="18" charset="0"/>
                <a:ea typeface="Palatino" pitchFamily="2" charset="77"/>
                <a:cs typeface="Arial" panose="020B0604020202020204" pitchFamily="34" charset="0"/>
              </a:rPr>
              <a:t>Additional line if required</a:t>
            </a:r>
            <a:endParaRPr lang="en-US" sz="2701" b="0" i="0">
              <a:solidFill>
                <a:schemeClr val="bg1"/>
              </a:solidFill>
              <a:latin typeface="Palatino Linotype" panose="02040502050505030304" pitchFamily="18" charset="0"/>
              <a:ea typeface="Palatino" pitchFamily="2" charset="77"/>
              <a:cs typeface="Arial" panose="020B0604020202020204" pitchFamily="34" charset="0"/>
            </a:endParaRPr>
          </a:p>
        </p:txBody>
      </p:sp>
      <p:sp>
        <p:nvSpPr>
          <p:cNvPr id="16" name="Text Placeholder 24">
            <a:extLst>
              <a:ext uri="{FF2B5EF4-FFF2-40B4-BE49-F238E27FC236}">
                <a16:creationId xmlns:a16="http://schemas.microsoft.com/office/drawing/2014/main" id="{F90FA749-EFA0-094B-BCD9-63C9CBF23940}"/>
              </a:ext>
            </a:extLst>
          </p:cNvPr>
          <p:cNvSpPr>
            <a:spLocks noGrp="1"/>
          </p:cNvSpPr>
          <p:nvPr>
            <p:ph type="body" sz="quarter" idx="10" hasCustomPrompt="1"/>
          </p:nvPr>
        </p:nvSpPr>
        <p:spPr>
          <a:xfrm>
            <a:off x="541862" y="5701175"/>
            <a:ext cx="7837518" cy="519078"/>
          </a:xfrm>
        </p:spPr>
        <p:txBody>
          <a:bodyPr lIns="0" tIns="0" rIns="0" bIns="0">
            <a:normAutofit/>
          </a:bodyPr>
          <a:lstStyle>
            <a:lvl1pPr marL="0" indent="0">
              <a:lnSpc>
                <a:spcPct val="150000"/>
              </a:lnSpc>
              <a:spcBef>
                <a:spcPts val="0"/>
              </a:spcBef>
              <a:buNone/>
              <a:defRPr sz="1600" b="0" cap="all" baseline="0">
                <a:solidFill>
                  <a:schemeClr val="bg1"/>
                </a:solidFill>
                <a:latin typeface="Arial" panose="020B0604020202020204" pitchFamily="34" charset="0"/>
              </a:defRPr>
            </a:lvl1pPr>
            <a:lvl2pPr marL="342994" indent="0">
              <a:buNone/>
              <a:defRPr>
                <a:solidFill>
                  <a:schemeClr val="bg1"/>
                </a:solidFill>
              </a:defRPr>
            </a:lvl2pPr>
            <a:lvl3pPr marL="685987" indent="0">
              <a:buNone/>
              <a:defRPr>
                <a:solidFill>
                  <a:schemeClr val="bg1"/>
                </a:solidFill>
              </a:defRPr>
            </a:lvl3pPr>
            <a:lvl4pPr marL="1028982" indent="0">
              <a:buNone/>
              <a:defRPr>
                <a:solidFill>
                  <a:schemeClr val="bg1"/>
                </a:solidFill>
              </a:defRPr>
            </a:lvl4pPr>
            <a:lvl5pPr marL="1371976" indent="0">
              <a:buNone/>
              <a:defRPr>
                <a:solidFill>
                  <a:schemeClr val="bg1"/>
                </a:solidFill>
              </a:defRPr>
            </a:lvl5pPr>
          </a:lstStyle>
          <a:p>
            <a:pPr>
              <a:lnSpc>
                <a:spcPct val="120000"/>
              </a:lnSpc>
            </a:pPr>
            <a:r>
              <a:rPr lang="en-GB" sz="1800">
                <a:solidFill>
                  <a:schemeClr val="bg1"/>
                </a:solidFill>
                <a:latin typeface="Arial" panose="020B0604020202020204" pitchFamily="34" charset="0"/>
                <a:cs typeface="Arial" panose="020B0604020202020204" pitchFamily="34" charset="0"/>
              </a:rPr>
              <a:t>Presentation sub-title Arial 24 point</a:t>
            </a:r>
          </a:p>
        </p:txBody>
      </p:sp>
      <p:cxnSp>
        <p:nvCxnSpPr>
          <p:cNvPr id="17" name="Straight Connector 16">
            <a:extLst>
              <a:ext uri="{FF2B5EF4-FFF2-40B4-BE49-F238E27FC236}">
                <a16:creationId xmlns:a16="http://schemas.microsoft.com/office/drawing/2014/main" id="{95E0A54B-CA70-1D48-88A3-267B0821351C}"/>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18" name="Picture 17">
            <a:extLst>
              <a:ext uri="{FF2B5EF4-FFF2-40B4-BE49-F238E27FC236}">
                <a16:creationId xmlns:a16="http://schemas.microsoft.com/office/drawing/2014/main" id="{651DA84F-43EE-1B4E-99D0-D18C0F8B5DF1}"/>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19" name="Straight Connector 18">
            <a:extLst>
              <a:ext uri="{FF2B5EF4-FFF2-40B4-BE49-F238E27FC236}">
                <a16:creationId xmlns:a16="http://schemas.microsoft.com/office/drawing/2014/main" id="{2A441AFD-907C-4F4B-A62A-499AE5AB887C}"/>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id="{9B4C4911-B05A-6743-ACE4-06231C4AB54D}"/>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21" name="Straight Connector 20">
            <a:extLst>
              <a:ext uri="{FF2B5EF4-FFF2-40B4-BE49-F238E27FC236}">
                <a16:creationId xmlns:a16="http://schemas.microsoft.com/office/drawing/2014/main" id="{F86FC26A-38A1-044B-839E-3DD160075535}"/>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a16="http://schemas.microsoft.com/office/drawing/2014/main" id="{89E1BEC4-2EDD-1A41-9251-B5165532A86C}"/>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358183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Union Square">
    <p:bg>
      <p:bgPr>
        <a:solidFill>
          <a:schemeClr val="bg2"/>
        </a:solidFill>
        <a:effectLst/>
      </p:bgPr>
    </p:bg>
    <p:spTree>
      <p:nvGrpSpPr>
        <p:cNvPr id="1" name=""/>
        <p:cNvGrpSpPr/>
        <p:nvPr/>
      </p:nvGrpSpPr>
      <p:grpSpPr>
        <a:xfrm>
          <a:off x="0" y="0"/>
          <a:ext cx="0" cy="0"/>
          <a:chOff x="0" y="0"/>
          <a:chExt cx="0" cy="0"/>
        </a:xfrm>
      </p:grpSpPr>
      <p:pic>
        <p:nvPicPr>
          <p:cNvPr id="13" name="Picture 12" descr="A picture containing road, outdoor, night&#10;&#10;Description automatically generated">
            <a:extLst>
              <a:ext uri="{FF2B5EF4-FFF2-40B4-BE49-F238E27FC236}">
                <a16:creationId xmlns:a16="http://schemas.microsoft.com/office/drawing/2014/main" id="{9F9F92E9-3A4A-8F40-AA93-E6749330E6AD}"/>
              </a:ext>
            </a:extLst>
          </p:cNvPr>
          <p:cNvPicPr>
            <a:picLocks noChangeAspect="1"/>
          </p:cNvPicPr>
          <p:nvPr userDrawn="1"/>
        </p:nvPicPr>
        <p:blipFill rotWithShape="1">
          <a:blip r:embed="rId2"/>
          <a:srcRect t="1451"/>
          <a:stretch/>
        </p:blipFill>
        <p:spPr>
          <a:xfrm>
            <a:off x="216707" y="209904"/>
            <a:ext cx="8710585" cy="6438192"/>
          </a:xfrm>
          <a:prstGeom prst="rect">
            <a:avLst/>
          </a:prstGeom>
        </p:spPr>
      </p:pic>
      <p:sp>
        <p:nvSpPr>
          <p:cNvPr id="14" name="Title 1">
            <a:extLst>
              <a:ext uri="{FF2B5EF4-FFF2-40B4-BE49-F238E27FC236}">
                <a16:creationId xmlns:a16="http://schemas.microsoft.com/office/drawing/2014/main" id="{6AEE28B4-3D2F-0A4A-819C-F5BA4473C8E8}"/>
              </a:ext>
            </a:extLst>
          </p:cNvPr>
          <p:cNvSpPr>
            <a:spLocks noGrp="1"/>
          </p:cNvSpPr>
          <p:nvPr>
            <p:ph type="title" hasCustomPrompt="1"/>
          </p:nvPr>
        </p:nvSpPr>
        <p:spPr>
          <a:xfrm>
            <a:off x="541862" y="943147"/>
            <a:ext cx="7837518" cy="1280057"/>
          </a:xfrm>
        </p:spPr>
        <p:txBody>
          <a:bodyPr lIns="0" tIns="0" rIns="0" bIns="0" anchor="ctr" anchorCtr="0">
            <a:normAutofit/>
          </a:bodyPr>
          <a:lstStyle>
            <a:lvl1pPr>
              <a:defRPr sz="3001" baseline="0">
                <a:solidFill>
                  <a:schemeClr val="bg1"/>
                </a:solidFill>
                <a:latin typeface="Palatino Linotype" panose="02040502050505030304" pitchFamily="18" charset="0"/>
              </a:defRPr>
            </a:lvl1pPr>
          </a:lstStyle>
          <a:p>
            <a:r>
              <a:rPr lang="en-GB" sz="2701" b="0" i="0">
                <a:solidFill>
                  <a:schemeClr val="bg1"/>
                </a:solidFill>
                <a:latin typeface="Palatino Linotype" panose="02040502050505030304" pitchFamily="18" charset="0"/>
                <a:ea typeface="Palatino" pitchFamily="2" charset="77"/>
                <a:cs typeface="Arial" panose="020B0604020202020204" pitchFamily="34" charset="0"/>
              </a:rPr>
              <a:t>Presentation title Palatino 36 point</a:t>
            </a:r>
            <a:br>
              <a:rPr lang="en-GB" sz="2701" b="0" i="0">
                <a:solidFill>
                  <a:schemeClr val="bg1"/>
                </a:solidFill>
                <a:latin typeface="Palatino Linotype" panose="02040502050505030304" pitchFamily="18" charset="0"/>
                <a:ea typeface="Palatino" pitchFamily="2" charset="77"/>
                <a:cs typeface="Arial" panose="020B0604020202020204" pitchFamily="34" charset="0"/>
              </a:rPr>
            </a:br>
            <a:r>
              <a:rPr lang="en-GB" sz="2701" b="0" i="0">
                <a:solidFill>
                  <a:schemeClr val="bg1"/>
                </a:solidFill>
                <a:latin typeface="Palatino Linotype" panose="02040502050505030304" pitchFamily="18" charset="0"/>
                <a:ea typeface="Palatino" pitchFamily="2" charset="77"/>
                <a:cs typeface="Arial" panose="020B0604020202020204" pitchFamily="34" charset="0"/>
              </a:rPr>
              <a:t>Additional line if required</a:t>
            </a:r>
            <a:endParaRPr lang="en-US" sz="2701" b="0" i="0">
              <a:solidFill>
                <a:schemeClr val="bg1"/>
              </a:solidFill>
              <a:latin typeface="Palatino Linotype" panose="02040502050505030304" pitchFamily="18" charset="0"/>
              <a:ea typeface="Palatino" pitchFamily="2" charset="77"/>
              <a:cs typeface="Arial" panose="020B0604020202020204" pitchFamily="34" charset="0"/>
            </a:endParaRPr>
          </a:p>
        </p:txBody>
      </p:sp>
      <p:sp>
        <p:nvSpPr>
          <p:cNvPr id="15" name="Text Placeholder 24">
            <a:extLst>
              <a:ext uri="{FF2B5EF4-FFF2-40B4-BE49-F238E27FC236}">
                <a16:creationId xmlns:a16="http://schemas.microsoft.com/office/drawing/2014/main" id="{202F8BEC-0357-BB41-BDA6-194B597A0F9D}"/>
              </a:ext>
            </a:extLst>
          </p:cNvPr>
          <p:cNvSpPr>
            <a:spLocks noGrp="1"/>
          </p:cNvSpPr>
          <p:nvPr>
            <p:ph type="body" sz="quarter" idx="10" hasCustomPrompt="1"/>
          </p:nvPr>
        </p:nvSpPr>
        <p:spPr>
          <a:xfrm>
            <a:off x="540978" y="2338757"/>
            <a:ext cx="7837519" cy="519073"/>
          </a:xfrm>
        </p:spPr>
        <p:txBody>
          <a:bodyPr lIns="0" tIns="0" rIns="0" bIns="0">
            <a:normAutofit/>
          </a:bodyPr>
          <a:lstStyle>
            <a:lvl1pPr marL="0" indent="0">
              <a:lnSpc>
                <a:spcPct val="150000"/>
              </a:lnSpc>
              <a:spcBef>
                <a:spcPts val="0"/>
              </a:spcBef>
              <a:buNone/>
              <a:defRPr sz="1600" b="0" cap="all" baseline="0">
                <a:solidFill>
                  <a:schemeClr val="bg1"/>
                </a:solidFill>
                <a:latin typeface="Arial" panose="020B0604020202020204" pitchFamily="34" charset="0"/>
              </a:defRPr>
            </a:lvl1pPr>
            <a:lvl2pPr marL="342994" indent="0">
              <a:buNone/>
              <a:defRPr>
                <a:solidFill>
                  <a:schemeClr val="bg1"/>
                </a:solidFill>
              </a:defRPr>
            </a:lvl2pPr>
            <a:lvl3pPr marL="685987" indent="0">
              <a:buNone/>
              <a:defRPr>
                <a:solidFill>
                  <a:schemeClr val="bg1"/>
                </a:solidFill>
              </a:defRPr>
            </a:lvl3pPr>
            <a:lvl4pPr marL="1028982" indent="0">
              <a:buNone/>
              <a:defRPr>
                <a:solidFill>
                  <a:schemeClr val="bg1"/>
                </a:solidFill>
              </a:defRPr>
            </a:lvl4pPr>
            <a:lvl5pPr marL="1371976" indent="0">
              <a:buNone/>
              <a:defRPr>
                <a:solidFill>
                  <a:schemeClr val="bg1"/>
                </a:solidFill>
              </a:defRPr>
            </a:lvl5pPr>
          </a:lstStyle>
          <a:p>
            <a:pPr>
              <a:lnSpc>
                <a:spcPct val="120000"/>
              </a:lnSpc>
            </a:pPr>
            <a:r>
              <a:rPr lang="en-GB" sz="1800">
                <a:solidFill>
                  <a:schemeClr val="bg1"/>
                </a:solidFill>
                <a:latin typeface="Arial" panose="020B0604020202020204" pitchFamily="34" charset="0"/>
                <a:cs typeface="Arial" panose="020B0604020202020204" pitchFamily="34" charset="0"/>
              </a:rPr>
              <a:t>Presentation sub-title Arial 24 point</a:t>
            </a:r>
          </a:p>
        </p:txBody>
      </p:sp>
      <p:pic>
        <p:nvPicPr>
          <p:cNvPr id="16" name="Picture 15">
            <a:extLst>
              <a:ext uri="{FF2B5EF4-FFF2-40B4-BE49-F238E27FC236}">
                <a16:creationId xmlns:a16="http://schemas.microsoft.com/office/drawing/2014/main" id="{CA4D5D6A-4EDC-0A49-AB9E-319E4DA0049D}"/>
              </a:ext>
            </a:extLst>
          </p:cNvPr>
          <p:cNvPicPr>
            <a:picLocks noChangeAspect="1"/>
          </p:cNvPicPr>
          <p:nvPr userDrawn="1"/>
        </p:nvPicPr>
        <p:blipFill>
          <a:blip r:embed="rId3"/>
          <a:srcRect/>
          <a:stretch/>
        </p:blipFill>
        <p:spPr>
          <a:xfrm>
            <a:off x="8841842" y="5454728"/>
            <a:ext cx="302158" cy="943404"/>
          </a:xfrm>
          <a:prstGeom prst="rect">
            <a:avLst/>
          </a:prstGeom>
        </p:spPr>
      </p:pic>
      <p:pic>
        <p:nvPicPr>
          <p:cNvPr id="17" name="Picture 16">
            <a:extLst>
              <a:ext uri="{FF2B5EF4-FFF2-40B4-BE49-F238E27FC236}">
                <a16:creationId xmlns:a16="http://schemas.microsoft.com/office/drawing/2014/main" id="{C8B1959B-64F6-B54A-B4F0-77E1E1D2F3FC}"/>
              </a:ext>
            </a:extLst>
          </p:cNvPr>
          <p:cNvPicPr>
            <a:picLocks noChangeAspect="1"/>
          </p:cNvPicPr>
          <p:nvPr userDrawn="1"/>
        </p:nvPicPr>
        <p:blipFill>
          <a:blip r:embed="rId3"/>
          <a:srcRect/>
          <a:stretch/>
        </p:blipFill>
        <p:spPr>
          <a:xfrm>
            <a:off x="8841842" y="5454728"/>
            <a:ext cx="302158" cy="943404"/>
          </a:xfrm>
          <a:prstGeom prst="rect">
            <a:avLst/>
          </a:prstGeom>
        </p:spPr>
      </p:pic>
      <p:pic>
        <p:nvPicPr>
          <p:cNvPr id="18" name="Picture 17">
            <a:extLst>
              <a:ext uri="{FF2B5EF4-FFF2-40B4-BE49-F238E27FC236}">
                <a16:creationId xmlns:a16="http://schemas.microsoft.com/office/drawing/2014/main" id="{9320426F-65EA-9346-AD64-5AAFC0FA3E14}"/>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19" name="Straight Connector 18">
            <a:extLst>
              <a:ext uri="{FF2B5EF4-FFF2-40B4-BE49-F238E27FC236}">
                <a16:creationId xmlns:a16="http://schemas.microsoft.com/office/drawing/2014/main" id="{2B1348E2-615D-774B-8E4F-6810C7DD4244}"/>
              </a:ext>
            </a:extLst>
          </p:cNvPr>
          <p:cNvCxnSpPr>
            <a:cxnSpLocks noChangeShapeType="1"/>
          </p:cNvCxnSpPr>
          <p:nvPr userDrawn="1"/>
        </p:nvCxnSpPr>
        <p:spPr bwMode="auto">
          <a:xfrm>
            <a:off x="540978" y="2225818"/>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4859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hit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1B9CF7B-3E2A-6D4F-86E6-40B9686A8B38}"/>
              </a:ext>
            </a:extLst>
          </p:cNvPr>
          <p:cNvSpPr>
            <a:spLocks noGrp="1"/>
          </p:cNvSpPr>
          <p:nvPr>
            <p:ph type="body" sz="quarter" idx="10" hasCustomPrompt="1"/>
          </p:nvPr>
        </p:nvSpPr>
        <p:spPr>
          <a:xfrm>
            <a:off x="544743" y="2820490"/>
            <a:ext cx="6375700" cy="1388344"/>
          </a:xfrm>
        </p:spPr>
        <p:txBody>
          <a:bodyPr lIns="0" tIns="0" rIns="0" bIns="0">
            <a:noAutofit/>
          </a:bodyPr>
          <a:lstStyle>
            <a:lvl1pPr marL="0" indent="0">
              <a:buNone/>
              <a:defRPr sz="5500" baseline="0">
                <a:solidFill>
                  <a:srgbClr val="271E3D"/>
                </a:solidFill>
                <a:latin typeface="Palatino Linotype" panose="02040502050505030304" pitchFamily="18" charset="0"/>
              </a:defRPr>
            </a:lvl1pPr>
          </a:lstStyle>
          <a:p>
            <a:pPr lvl="0"/>
            <a:r>
              <a:rPr lang="en-GB"/>
              <a:t>Click to edit title Palatino 55pt</a:t>
            </a:r>
            <a:endParaRPr lang="en-US"/>
          </a:p>
        </p:txBody>
      </p:sp>
      <p:pic>
        <p:nvPicPr>
          <p:cNvPr id="8" name="Picture 7">
            <a:extLst>
              <a:ext uri="{FF2B5EF4-FFF2-40B4-BE49-F238E27FC236}">
                <a16:creationId xmlns:a16="http://schemas.microsoft.com/office/drawing/2014/main" id="{1BCE29F0-5148-1148-904D-A673CA3A6522}"/>
              </a:ext>
            </a:extLst>
          </p:cNvPr>
          <p:cNvPicPr>
            <a:picLocks noChangeAspect="1"/>
          </p:cNvPicPr>
          <p:nvPr userDrawn="1"/>
        </p:nvPicPr>
        <p:blipFill>
          <a:blip r:embed="rId2"/>
          <a:srcRect/>
          <a:stretch/>
        </p:blipFill>
        <p:spPr>
          <a:xfrm>
            <a:off x="6585287" y="473100"/>
            <a:ext cx="2077198" cy="1054537"/>
          </a:xfrm>
          <a:prstGeom prst="rect">
            <a:avLst/>
          </a:prstGeom>
        </p:spPr>
      </p:pic>
      <p:pic>
        <p:nvPicPr>
          <p:cNvPr id="9" name="Picture 8">
            <a:extLst>
              <a:ext uri="{FF2B5EF4-FFF2-40B4-BE49-F238E27FC236}">
                <a16:creationId xmlns:a16="http://schemas.microsoft.com/office/drawing/2014/main" id="{94A1B980-45AF-4848-9303-34A07C140889}"/>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366375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White">
    <p:bg>
      <p:bgPr>
        <a:solidFill>
          <a:schemeClr val="bg2"/>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048913DC-F6E1-0B4B-8DD3-CF981B4D0CA3}"/>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sp>
        <p:nvSpPr>
          <p:cNvPr id="7" name="Content Placeholder 2">
            <a:extLst>
              <a:ext uri="{FF2B5EF4-FFF2-40B4-BE49-F238E27FC236}">
                <a16:creationId xmlns:a16="http://schemas.microsoft.com/office/drawing/2014/main" id="{A4E3F4B2-F13C-C44A-BBE1-BA7B57C9C2A8}"/>
              </a:ext>
            </a:extLst>
          </p:cNvPr>
          <p:cNvSpPr>
            <a:spLocks noGrp="1"/>
          </p:cNvSpPr>
          <p:nvPr>
            <p:ph idx="1"/>
          </p:nvPr>
        </p:nvSpPr>
        <p:spPr>
          <a:xfrm>
            <a:off x="539750" y="1225685"/>
            <a:ext cx="7981512" cy="5200680"/>
          </a:xfrm>
        </p:spPr>
        <p:txBody>
          <a:bodyPr lIns="0" tIns="0" rIns="0" bIns="0"/>
          <a:lstStyle>
            <a:lvl1pPr>
              <a:buFontTx/>
              <a:buNone/>
              <a:defRPr sz="1900" b="0" i="0" baseline="0">
                <a:solidFill>
                  <a:srgbClr val="271E3D"/>
                </a:solidFill>
                <a:latin typeface="Palatino Linotype" panose="02040502050505030304" pitchFamily="18" charset="0"/>
              </a:defRPr>
            </a:lvl1pPr>
            <a:lvl2pPr>
              <a:buFontTx/>
              <a:buNone/>
              <a:defRPr sz="1900" baseline="0">
                <a:solidFill>
                  <a:schemeClr val="bg1"/>
                </a:solidFill>
                <a:latin typeface="Palatino Linotype" panose="02040502050505030304" pitchFamily="18" charset="0"/>
              </a:defRPr>
            </a:lvl2pPr>
            <a:lvl3pPr>
              <a:buFontTx/>
              <a:buNone/>
              <a:defRPr sz="1900" baseline="0">
                <a:solidFill>
                  <a:schemeClr val="bg1"/>
                </a:solidFill>
                <a:latin typeface="Palatino Linotype" panose="02040502050505030304" pitchFamily="18" charset="0"/>
              </a:defRPr>
            </a:lvl3pPr>
            <a:lvl4pPr>
              <a:buFontTx/>
              <a:buNone/>
              <a:defRPr sz="1900" baseline="0">
                <a:solidFill>
                  <a:schemeClr val="bg1"/>
                </a:solidFill>
                <a:latin typeface="Palatino Linotype" panose="02040502050505030304" pitchFamily="18" charset="0"/>
              </a:defRPr>
            </a:lvl4pPr>
            <a:lvl5pPr>
              <a:buFontTx/>
              <a:buNone/>
              <a:defRPr sz="1900" baseline="0">
                <a:solidFill>
                  <a:schemeClr val="bg1"/>
                </a:solidFill>
                <a:latin typeface="Palatino Linotype" panose="02040502050505030304" pitchFamily="18" charset="0"/>
              </a:defRPr>
            </a:lvl5pPr>
          </a:lstStyle>
          <a:p>
            <a:pPr lvl="0"/>
            <a:r>
              <a:rPr lang="en-GB"/>
              <a:t>Click to edit Master text styles</a:t>
            </a:r>
          </a:p>
        </p:txBody>
      </p:sp>
      <p:pic>
        <p:nvPicPr>
          <p:cNvPr id="8" name="Picture 7">
            <a:extLst>
              <a:ext uri="{FF2B5EF4-FFF2-40B4-BE49-F238E27FC236}">
                <a16:creationId xmlns:a16="http://schemas.microsoft.com/office/drawing/2014/main" id="{C08D92A6-344B-9646-9286-B1395F165665}"/>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507034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White Two Columns">
    <p:bg>
      <p:bgPr>
        <a:solidFill>
          <a:schemeClr val="bg2"/>
        </a:solidFill>
        <a:effectLst/>
      </p:bgPr>
    </p:bg>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F6F921D-ECF1-6E45-8FE3-158719C0292D}"/>
              </a:ext>
            </a:extLst>
          </p:cNvPr>
          <p:cNvSpPr>
            <a:spLocks noGrp="1"/>
          </p:cNvSpPr>
          <p:nvPr>
            <p:ph idx="11"/>
          </p:nvPr>
        </p:nvSpPr>
        <p:spPr>
          <a:xfrm>
            <a:off x="539750" y="1228335"/>
            <a:ext cx="3939408" cy="5204147"/>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26506704-106D-0C47-8C2A-5EC9620EFE9A}"/>
              </a:ext>
            </a:extLst>
          </p:cNvPr>
          <p:cNvSpPr>
            <a:spLocks noGrp="1"/>
          </p:cNvSpPr>
          <p:nvPr>
            <p:ph idx="12"/>
          </p:nvPr>
        </p:nvSpPr>
        <p:spPr>
          <a:xfrm>
            <a:off x="4572000" y="1225934"/>
            <a:ext cx="3939408" cy="5206549"/>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2">
            <a:extLst>
              <a:ext uri="{FF2B5EF4-FFF2-40B4-BE49-F238E27FC236}">
                <a16:creationId xmlns:a16="http://schemas.microsoft.com/office/drawing/2014/main" id="{7E090FA5-931C-8740-809F-2420FFDB4881}"/>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pic>
        <p:nvPicPr>
          <p:cNvPr id="13" name="Picture 12">
            <a:extLst>
              <a:ext uri="{FF2B5EF4-FFF2-40B4-BE49-F238E27FC236}">
                <a16:creationId xmlns:a16="http://schemas.microsoft.com/office/drawing/2014/main" id="{C03FC4EB-126A-ED45-884F-DC418F046982}"/>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31455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Off White">
    <p:bg>
      <p:bgPr>
        <a:solidFill>
          <a:srgbClr val="FFFEF0"/>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A44ACB09-6890-2C4A-89E1-81B0FA32222D}"/>
              </a:ext>
            </a:extLst>
          </p:cNvPr>
          <p:cNvSpPr>
            <a:spLocks noGrp="1"/>
          </p:cNvSpPr>
          <p:nvPr>
            <p:ph type="body" sz="quarter" idx="10" hasCustomPrompt="1"/>
          </p:nvPr>
        </p:nvSpPr>
        <p:spPr>
          <a:xfrm>
            <a:off x="544743" y="2820490"/>
            <a:ext cx="6375700" cy="1388344"/>
          </a:xfrm>
        </p:spPr>
        <p:txBody>
          <a:bodyPr lIns="0" tIns="0" rIns="0" bIns="0">
            <a:noAutofit/>
          </a:bodyPr>
          <a:lstStyle>
            <a:lvl1pPr marL="0" indent="0">
              <a:buNone/>
              <a:defRPr sz="5500" baseline="0">
                <a:solidFill>
                  <a:srgbClr val="271E3D"/>
                </a:solidFill>
                <a:latin typeface="Palatino Linotype" panose="02040502050505030304" pitchFamily="18" charset="0"/>
              </a:defRPr>
            </a:lvl1pPr>
          </a:lstStyle>
          <a:p>
            <a:pPr lvl="0"/>
            <a:r>
              <a:rPr lang="en-GB"/>
              <a:t>Click to edit title Palatino 55pt</a:t>
            </a:r>
            <a:endParaRPr lang="en-US"/>
          </a:p>
        </p:txBody>
      </p:sp>
      <p:pic>
        <p:nvPicPr>
          <p:cNvPr id="8" name="Picture 7">
            <a:extLst>
              <a:ext uri="{FF2B5EF4-FFF2-40B4-BE49-F238E27FC236}">
                <a16:creationId xmlns:a16="http://schemas.microsoft.com/office/drawing/2014/main" id="{C8C6D078-8729-5440-A9D6-A44F03F8B832}"/>
              </a:ext>
            </a:extLst>
          </p:cNvPr>
          <p:cNvPicPr>
            <a:picLocks noChangeAspect="1"/>
          </p:cNvPicPr>
          <p:nvPr userDrawn="1"/>
        </p:nvPicPr>
        <p:blipFill>
          <a:blip r:embed="rId2"/>
          <a:srcRect/>
          <a:stretch/>
        </p:blipFill>
        <p:spPr>
          <a:xfrm>
            <a:off x="6585287" y="473100"/>
            <a:ext cx="2077198" cy="1054537"/>
          </a:xfrm>
          <a:prstGeom prst="rect">
            <a:avLst/>
          </a:prstGeom>
        </p:spPr>
      </p:pic>
      <p:pic>
        <p:nvPicPr>
          <p:cNvPr id="9" name="Picture 8">
            <a:extLst>
              <a:ext uri="{FF2B5EF4-FFF2-40B4-BE49-F238E27FC236}">
                <a16:creationId xmlns:a16="http://schemas.microsoft.com/office/drawing/2014/main" id="{6E6F3E63-1F6A-AE4C-B62A-3FE5455ED729}"/>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410058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ff White">
    <p:bg>
      <p:bgPr>
        <a:solidFill>
          <a:srgbClr val="FFFEF0"/>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370148D1-BFE2-C74E-8602-61B3E12C0771}"/>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sp>
        <p:nvSpPr>
          <p:cNvPr id="7" name="Content Placeholder 2">
            <a:extLst>
              <a:ext uri="{FF2B5EF4-FFF2-40B4-BE49-F238E27FC236}">
                <a16:creationId xmlns:a16="http://schemas.microsoft.com/office/drawing/2014/main" id="{80D153F9-BC75-1B45-96CA-D7DB294890B3}"/>
              </a:ext>
            </a:extLst>
          </p:cNvPr>
          <p:cNvSpPr>
            <a:spLocks noGrp="1"/>
          </p:cNvSpPr>
          <p:nvPr>
            <p:ph idx="1"/>
          </p:nvPr>
        </p:nvSpPr>
        <p:spPr>
          <a:xfrm>
            <a:off x="539750" y="1225685"/>
            <a:ext cx="7981512" cy="5200680"/>
          </a:xfrm>
        </p:spPr>
        <p:txBody>
          <a:bodyPr lIns="0" tIns="0" rIns="0" bIns="0"/>
          <a:lstStyle>
            <a:lvl1pPr>
              <a:buFontTx/>
              <a:buNone/>
              <a:defRPr sz="1900" b="0" i="0" baseline="0">
                <a:solidFill>
                  <a:srgbClr val="271E3D"/>
                </a:solidFill>
                <a:latin typeface="Palatino Linotype" panose="02040502050505030304" pitchFamily="18" charset="0"/>
              </a:defRPr>
            </a:lvl1pPr>
            <a:lvl2pPr>
              <a:buFontTx/>
              <a:buNone/>
              <a:defRPr sz="1900" baseline="0">
                <a:solidFill>
                  <a:schemeClr val="bg1"/>
                </a:solidFill>
                <a:latin typeface="Palatino Linotype" panose="02040502050505030304" pitchFamily="18" charset="0"/>
              </a:defRPr>
            </a:lvl2pPr>
            <a:lvl3pPr>
              <a:buFontTx/>
              <a:buNone/>
              <a:defRPr sz="1900" baseline="0">
                <a:solidFill>
                  <a:schemeClr val="bg1"/>
                </a:solidFill>
                <a:latin typeface="Palatino Linotype" panose="02040502050505030304" pitchFamily="18" charset="0"/>
              </a:defRPr>
            </a:lvl3pPr>
            <a:lvl4pPr>
              <a:buFontTx/>
              <a:buNone/>
              <a:defRPr sz="1900" baseline="0">
                <a:solidFill>
                  <a:schemeClr val="bg1"/>
                </a:solidFill>
                <a:latin typeface="Palatino Linotype" panose="02040502050505030304" pitchFamily="18" charset="0"/>
              </a:defRPr>
            </a:lvl4pPr>
            <a:lvl5pPr>
              <a:buFontTx/>
              <a:buNone/>
              <a:defRPr sz="1900" baseline="0">
                <a:solidFill>
                  <a:schemeClr val="bg1"/>
                </a:solidFill>
                <a:latin typeface="Palatino Linotype" panose="02040502050505030304" pitchFamily="18" charset="0"/>
              </a:defRPr>
            </a:lvl5pPr>
          </a:lstStyle>
          <a:p>
            <a:pPr lvl="0"/>
            <a:r>
              <a:rPr lang="en-GB"/>
              <a:t>Click to edit Master text styles</a:t>
            </a:r>
          </a:p>
        </p:txBody>
      </p:sp>
      <p:pic>
        <p:nvPicPr>
          <p:cNvPr id="8" name="Picture 7">
            <a:extLst>
              <a:ext uri="{FF2B5EF4-FFF2-40B4-BE49-F238E27FC236}">
                <a16:creationId xmlns:a16="http://schemas.microsoft.com/office/drawing/2014/main" id="{BE6FB27F-B0BB-644A-93E2-4846525B67B7}"/>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71194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Off White Two Columns">
    <p:bg>
      <p:bgPr>
        <a:solidFill>
          <a:srgbClr val="FFFEF0"/>
        </a:solidFill>
        <a:effectLst/>
      </p:bgPr>
    </p:bg>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053A8C5-C96E-FD45-B2D2-22F1DFD9E892}"/>
              </a:ext>
            </a:extLst>
          </p:cNvPr>
          <p:cNvSpPr>
            <a:spLocks noGrp="1"/>
          </p:cNvSpPr>
          <p:nvPr>
            <p:ph idx="11"/>
          </p:nvPr>
        </p:nvSpPr>
        <p:spPr>
          <a:xfrm>
            <a:off x="539750" y="1228335"/>
            <a:ext cx="3939408" cy="5204147"/>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8B687235-AF42-3F47-8595-675865398115}"/>
              </a:ext>
            </a:extLst>
          </p:cNvPr>
          <p:cNvSpPr>
            <a:spLocks noGrp="1"/>
          </p:cNvSpPr>
          <p:nvPr>
            <p:ph idx="12"/>
          </p:nvPr>
        </p:nvSpPr>
        <p:spPr>
          <a:xfrm>
            <a:off x="4572000" y="1225934"/>
            <a:ext cx="3939408" cy="5206549"/>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2">
            <a:extLst>
              <a:ext uri="{FF2B5EF4-FFF2-40B4-BE49-F238E27FC236}">
                <a16:creationId xmlns:a16="http://schemas.microsoft.com/office/drawing/2014/main" id="{E3E2E462-0643-DA45-8F5E-5D3340414F48}"/>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pic>
        <p:nvPicPr>
          <p:cNvPr id="13" name="Picture 12">
            <a:extLst>
              <a:ext uri="{FF2B5EF4-FFF2-40B4-BE49-F238E27FC236}">
                <a16:creationId xmlns:a16="http://schemas.microsoft.com/office/drawing/2014/main" id="{E63C8B06-364F-484D-BC38-3DAF745FA9DC}"/>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320814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Slid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60982CA-A379-5E4A-8DC2-CA81314270EA}"/>
              </a:ext>
            </a:extLst>
          </p:cNvPr>
          <p:cNvSpPr/>
          <p:nvPr/>
        </p:nvSpPr>
        <p:spPr>
          <a:xfrm>
            <a:off x="216709" y="279786"/>
            <a:ext cx="8710585" cy="6298430"/>
          </a:xfrm>
          <a:prstGeom prst="rect">
            <a:avLst/>
          </a:prstGeom>
          <a:solidFill>
            <a:srgbClr val="271E3D">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271E3D"/>
              </a:solidFill>
            </a:endParaRPr>
          </a:p>
        </p:txBody>
      </p:sp>
      <p:pic>
        <p:nvPicPr>
          <p:cNvPr id="9" name="Picture 8">
            <a:extLst>
              <a:ext uri="{FF2B5EF4-FFF2-40B4-BE49-F238E27FC236}">
                <a16:creationId xmlns:a16="http://schemas.microsoft.com/office/drawing/2014/main" id="{41F43CE7-88E9-F348-8A8D-192FC75AF8F1}"/>
              </a:ext>
            </a:extLst>
          </p:cNvPr>
          <p:cNvPicPr>
            <a:picLocks noChangeAspect="1"/>
          </p:cNvPicPr>
          <p:nvPr/>
        </p:nvPicPr>
        <p:blipFill>
          <a:blip r:embed="rId2"/>
          <a:srcRect/>
          <a:stretch/>
        </p:blipFill>
        <p:spPr>
          <a:xfrm>
            <a:off x="6585286" y="630606"/>
            <a:ext cx="2077200" cy="1407356"/>
          </a:xfrm>
          <a:prstGeom prst="rect">
            <a:avLst/>
          </a:prstGeom>
        </p:spPr>
      </p:pic>
      <p:sp>
        <p:nvSpPr>
          <p:cNvPr id="13" name="TextBox 12">
            <a:extLst>
              <a:ext uri="{FF2B5EF4-FFF2-40B4-BE49-F238E27FC236}">
                <a16:creationId xmlns:a16="http://schemas.microsoft.com/office/drawing/2014/main" id="{09DA286B-5D0B-8F44-8BD0-0CF55D88956E}"/>
              </a:ext>
            </a:extLst>
          </p:cNvPr>
          <p:cNvSpPr txBox="1">
            <a:spLocks noChangeArrowheads="1"/>
          </p:cNvSpPr>
          <p:nvPr/>
        </p:nvSpPr>
        <p:spPr bwMode="auto">
          <a:xfrm>
            <a:off x="766348" y="4954373"/>
            <a:ext cx="2649537" cy="687432"/>
          </a:xfrm>
          <a:prstGeom prst="rect">
            <a:avLst/>
          </a:prstGeom>
          <a:noFill/>
          <a:ln>
            <a:noFill/>
          </a:ln>
          <a:extLst>
            <a:ext uri="{909E8E84-426E-40dd-AFC4-6F175D3DCCD1}"/>
            <a:ext uri="{91240B29-F687-4f45-9708-019B960494DF}"/>
          </a:extLst>
        </p:spPr>
        <p:txBody>
          <a:bodyPr lIns="0" tIns="0" rIns="0" bIns="0">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eaLnBrk="1" hangingPunct="1">
              <a:lnSpc>
                <a:spcPct val="110000"/>
              </a:lnSpc>
              <a:defRPr/>
            </a:pPr>
            <a:r>
              <a:rPr lang="en-GB" sz="825" b="1" err="1">
                <a:solidFill>
                  <a:schemeClr val="bg2"/>
                </a:solidFill>
              </a:rPr>
              <a:t>Keele</a:t>
            </a:r>
            <a:r>
              <a:rPr lang="en-GB" sz="825" b="1">
                <a:solidFill>
                  <a:schemeClr val="bg2"/>
                </a:solidFill>
              </a:rPr>
              <a:t> University</a:t>
            </a:r>
          </a:p>
          <a:p>
            <a:pPr eaLnBrk="1" hangingPunct="1">
              <a:lnSpc>
                <a:spcPct val="110000"/>
              </a:lnSpc>
              <a:defRPr/>
            </a:pPr>
            <a:r>
              <a:rPr lang="en-GB" sz="825">
                <a:solidFill>
                  <a:schemeClr val="bg2"/>
                </a:solidFill>
              </a:rPr>
              <a:t>Newcastle-under-Lyme</a:t>
            </a:r>
          </a:p>
          <a:p>
            <a:pPr eaLnBrk="1" hangingPunct="1">
              <a:lnSpc>
                <a:spcPct val="110000"/>
              </a:lnSpc>
              <a:defRPr/>
            </a:pPr>
            <a:r>
              <a:rPr lang="en-GB" sz="825">
                <a:solidFill>
                  <a:schemeClr val="bg2"/>
                </a:solidFill>
              </a:rPr>
              <a:t>Staffordshire</a:t>
            </a:r>
          </a:p>
          <a:p>
            <a:pPr eaLnBrk="1" hangingPunct="1">
              <a:lnSpc>
                <a:spcPct val="110000"/>
              </a:lnSpc>
              <a:defRPr/>
            </a:pPr>
            <a:r>
              <a:rPr lang="en-GB" sz="825">
                <a:solidFill>
                  <a:schemeClr val="bg2"/>
                </a:solidFill>
              </a:rPr>
              <a:t>ST5 5BG</a:t>
            </a:r>
          </a:p>
          <a:p>
            <a:pPr eaLnBrk="1" hangingPunct="1">
              <a:lnSpc>
                <a:spcPct val="110000"/>
              </a:lnSpc>
              <a:defRPr/>
            </a:pPr>
            <a:r>
              <a:rPr lang="en-GB" sz="825">
                <a:solidFill>
                  <a:schemeClr val="bg2"/>
                </a:solidFill>
              </a:rPr>
              <a:t>+44 (0)1782 732000</a:t>
            </a:r>
          </a:p>
        </p:txBody>
      </p:sp>
      <p:sp>
        <p:nvSpPr>
          <p:cNvPr id="16" name="TextBox 15">
            <a:extLst>
              <a:ext uri="{FF2B5EF4-FFF2-40B4-BE49-F238E27FC236}">
                <a16:creationId xmlns:a16="http://schemas.microsoft.com/office/drawing/2014/main" id="{FE0BE2FF-041F-C240-9E7C-A20C83F486F9}"/>
              </a:ext>
            </a:extLst>
          </p:cNvPr>
          <p:cNvSpPr txBox="1">
            <a:spLocks noChangeArrowheads="1"/>
          </p:cNvSpPr>
          <p:nvPr/>
        </p:nvSpPr>
        <p:spPr bwMode="auto">
          <a:xfrm>
            <a:off x="768937" y="2936612"/>
            <a:ext cx="4733308" cy="888705"/>
          </a:xfrm>
          <a:prstGeom prst="rect">
            <a:avLst/>
          </a:prstGeom>
          <a:noFill/>
          <a:ln>
            <a:noFill/>
          </a:ln>
          <a:extLst>
            <a:ext uri="{909E8E84-426E-40dd-AFC4-6F175D3DCCD1}"/>
            <a:ext uri="{91240B29-F687-4f45-9708-019B960494DF}"/>
          </a:extLst>
        </p:spPr>
        <p:txBody>
          <a:bodyPr wrap="square" lIns="0" tIns="0" rIns="0" bIns="0">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l" eaLnBrk="1" hangingPunct="1">
              <a:defRPr/>
            </a:pPr>
            <a:r>
              <a:rPr lang="en-US" sz="5775">
                <a:solidFill>
                  <a:schemeClr val="bg2"/>
                </a:solidFill>
                <a:latin typeface="Palatino Linotype" charset="0"/>
                <a:cs typeface="Palatino Linotype" charset="0"/>
              </a:rPr>
              <a:t>Thank </a:t>
            </a:r>
            <a:r>
              <a:rPr lang="en-US" sz="5775" b="0" i="1" baseline="0">
                <a:solidFill>
                  <a:schemeClr val="bg2"/>
                </a:solidFill>
                <a:latin typeface="Palatino Linotype" charset="0"/>
                <a:cs typeface="Palatino Linotype" charset="0"/>
              </a:rPr>
              <a:t>you</a:t>
            </a:r>
          </a:p>
        </p:txBody>
      </p:sp>
      <p:pic>
        <p:nvPicPr>
          <p:cNvPr id="8" name="Picture 7">
            <a:extLst>
              <a:ext uri="{FF2B5EF4-FFF2-40B4-BE49-F238E27FC236}">
                <a16:creationId xmlns:a16="http://schemas.microsoft.com/office/drawing/2014/main" id="{771E2412-7F6D-0F49-BCE1-E4A9BB303CCB}"/>
              </a:ext>
            </a:extLst>
          </p:cNvPr>
          <p:cNvPicPr>
            <a:picLocks noChangeAspect="1"/>
          </p:cNvPicPr>
          <p:nvPr/>
        </p:nvPicPr>
        <p:blipFill>
          <a:blip r:embed="rId3"/>
          <a:srcRect/>
          <a:stretch/>
        </p:blipFill>
        <p:spPr>
          <a:xfrm>
            <a:off x="8841843" y="4987548"/>
            <a:ext cx="302158" cy="1257484"/>
          </a:xfrm>
          <a:prstGeom prst="rect">
            <a:avLst/>
          </a:prstGeom>
        </p:spPr>
      </p:pic>
    </p:spTree>
    <p:extLst>
      <p:ext uri="{BB962C8B-B14F-4D97-AF65-F5344CB8AC3E}">
        <p14:creationId xmlns:p14="http://schemas.microsoft.com/office/powerpoint/2010/main" val="320744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52BB1CA-D829-A868-9531-D47AEB538900}"/>
              </a:ext>
            </a:extLst>
          </p:cNvPr>
          <p:cNvSpPr>
            <a:spLocks noGrp="1" noChangeArrowheads="1"/>
          </p:cNvSpPr>
          <p:nvPr>
            <p:ph type="dt" sz="half" idx="10"/>
          </p:nvPr>
        </p:nvSpPr>
        <p:spPr>
          <a:ln/>
        </p:spPr>
        <p:txBody>
          <a:bodyPr/>
          <a:lstStyle>
            <a:lvl1pPr>
              <a:defRPr/>
            </a:lvl1pPr>
          </a:lstStyle>
          <a:p>
            <a:pPr>
              <a:defRPr/>
            </a:pPr>
            <a:fld id="{B1730091-36B8-4E79-8692-A76AF9390F2C}" type="datetime2">
              <a:rPr lang="en-US"/>
              <a:pPr>
                <a:defRPr/>
              </a:pPr>
              <a:t>Friday, February 6, 2026</a:t>
            </a:fld>
            <a:endParaRPr lang="en-US" sz="900"/>
          </a:p>
        </p:txBody>
      </p:sp>
      <p:sp>
        <p:nvSpPr>
          <p:cNvPr id="5" name="Rectangle 5">
            <a:extLst>
              <a:ext uri="{FF2B5EF4-FFF2-40B4-BE49-F238E27FC236}">
                <a16:creationId xmlns:a16="http://schemas.microsoft.com/office/drawing/2014/main" id="{6DA3899A-6D46-BB0D-6725-EAAB080A216F}"/>
              </a:ext>
            </a:extLst>
          </p:cNvPr>
          <p:cNvSpPr>
            <a:spLocks noGrp="1" noChangeArrowheads="1"/>
          </p:cNvSpPr>
          <p:nvPr>
            <p:ph type="ftr" sz="quarter" idx="11"/>
          </p:nvPr>
        </p:nvSpPr>
        <p:spPr>
          <a:ln/>
        </p:spPr>
        <p:txBody>
          <a:bodyPr/>
          <a:lstStyle>
            <a:lvl1pPr>
              <a:defRPr/>
            </a:lvl1pPr>
          </a:lstStyle>
          <a:p>
            <a:pPr>
              <a:defRPr/>
            </a:pPr>
            <a:r>
              <a:rPr lang="en-US"/>
              <a:t>Event Name and Venue</a:t>
            </a:r>
          </a:p>
        </p:txBody>
      </p:sp>
      <p:sp>
        <p:nvSpPr>
          <p:cNvPr id="6" name="Rectangle 6">
            <a:extLst>
              <a:ext uri="{FF2B5EF4-FFF2-40B4-BE49-F238E27FC236}">
                <a16:creationId xmlns:a16="http://schemas.microsoft.com/office/drawing/2014/main" id="{2C8E5B2B-5327-966C-7E69-FF857331988F}"/>
              </a:ext>
            </a:extLst>
          </p:cNvPr>
          <p:cNvSpPr>
            <a:spLocks noGrp="1" noChangeArrowheads="1"/>
          </p:cNvSpPr>
          <p:nvPr>
            <p:ph type="sldNum" sz="quarter" idx="12"/>
          </p:nvPr>
        </p:nvSpPr>
        <p:spPr>
          <a:ln/>
        </p:spPr>
        <p:txBody>
          <a:bodyPr/>
          <a:lstStyle>
            <a:lvl1pPr>
              <a:defRPr/>
            </a:lvl1pPr>
          </a:lstStyle>
          <a:p>
            <a:fld id="{FA442DD8-7CC4-4B39-97E0-825CCB3D3320}" type="slidenum">
              <a:rPr lang="en-US" altLang="en-US"/>
              <a:pPr/>
              <a:t>‹#›</a:t>
            </a:fld>
            <a:endParaRPr lang="en-US" altLang="en-US"/>
          </a:p>
        </p:txBody>
      </p:sp>
    </p:spTree>
    <p:extLst>
      <p:ext uri="{BB962C8B-B14F-4D97-AF65-F5344CB8AC3E}">
        <p14:creationId xmlns:p14="http://schemas.microsoft.com/office/powerpoint/2010/main" val="1736512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8FB7EBA-B0E5-0374-FF1B-E375430A8F63}"/>
              </a:ext>
            </a:extLst>
          </p:cNvPr>
          <p:cNvSpPr>
            <a:spLocks noGrp="1" noChangeArrowheads="1"/>
          </p:cNvSpPr>
          <p:nvPr>
            <p:ph type="dt" sz="half" idx="10"/>
          </p:nvPr>
        </p:nvSpPr>
        <p:spPr>
          <a:ln/>
        </p:spPr>
        <p:txBody>
          <a:bodyPr/>
          <a:lstStyle>
            <a:lvl1pPr>
              <a:defRPr/>
            </a:lvl1pPr>
          </a:lstStyle>
          <a:p>
            <a:pPr>
              <a:defRPr/>
            </a:pPr>
            <a:fld id="{62EEAE79-D35C-4FAB-9171-40227E09D665}" type="datetime2">
              <a:rPr lang="en-US"/>
              <a:pPr>
                <a:defRPr/>
              </a:pPr>
              <a:t>Friday, February 6, 2026</a:t>
            </a:fld>
            <a:endParaRPr lang="en-US" sz="900"/>
          </a:p>
        </p:txBody>
      </p:sp>
      <p:sp>
        <p:nvSpPr>
          <p:cNvPr id="3" name="Rectangle 5">
            <a:extLst>
              <a:ext uri="{FF2B5EF4-FFF2-40B4-BE49-F238E27FC236}">
                <a16:creationId xmlns:a16="http://schemas.microsoft.com/office/drawing/2014/main" id="{7BDFB75A-2E26-C258-BB5B-372092FDE9F2}"/>
              </a:ext>
            </a:extLst>
          </p:cNvPr>
          <p:cNvSpPr>
            <a:spLocks noGrp="1" noChangeArrowheads="1"/>
          </p:cNvSpPr>
          <p:nvPr>
            <p:ph type="ftr" sz="quarter" idx="11"/>
          </p:nvPr>
        </p:nvSpPr>
        <p:spPr>
          <a:ln/>
        </p:spPr>
        <p:txBody>
          <a:bodyPr/>
          <a:lstStyle>
            <a:lvl1pPr>
              <a:defRPr/>
            </a:lvl1pPr>
          </a:lstStyle>
          <a:p>
            <a:pPr>
              <a:defRPr/>
            </a:pPr>
            <a:r>
              <a:rPr lang="en-US"/>
              <a:t>Event Name and Venue</a:t>
            </a:r>
          </a:p>
        </p:txBody>
      </p:sp>
      <p:sp>
        <p:nvSpPr>
          <p:cNvPr id="4" name="Rectangle 6">
            <a:extLst>
              <a:ext uri="{FF2B5EF4-FFF2-40B4-BE49-F238E27FC236}">
                <a16:creationId xmlns:a16="http://schemas.microsoft.com/office/drawing/2014/main" id="{A544CE0A-E8A9-0F81-B061-FB669F529F80}"/>
              </a:ext>
            </a:extLst>
          </p:cNvPr>
          <p:cNvSpPr>
            <a:spLocks noGrp="1" noChangeArrowheads="1"/>
          </p:cNvSpPr>
          <p:nvPr>
            <p:ph type="sldNum" sz="quarter" idx="12"/>
          </p:nvPr>
        </p:nvSpPr>
        <p:spPr>
          <a:ln/>
        </p:spPr>
        <p:txBody>
          <a:bodyPr/>
          <a:lstStyle>
            <a:lvl1pPr>
              <a:defRPr/>
            </a:lvl1pPr>
          </a:lstStyle>
          <a:p>
            <a:fld id="{6A48598A-CC2E-499C-8AA6-790BF0E7522F}" type="slidenum">
              <a:rPr lang="en-US" altLang="en-US"/>
              <a:pPr/>
              <a:t>‹#›</a:t>
            </a:fld>
            <a:endParaRPr lang="en-US" altLang="en-US"/>
          </a:p>
        </p:txBody>
      </p:sp>
    </p:spTree>
    <p:extLst>
      <p:ext uri="{BB962C8B-B14F-4D97-AF65-F5344CB8AC3E}">
        <p14:creationId xmlns:p14="http://schemas.microsoft.com/office/powerpoint/2010/main" val="1061940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 Slide Whit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EC77FC-07C7-3043-B02A-E8F927F6C338}"/>
              </a:ext>
            </a:extLst>
          </p:cNvPr>
          <p:cNvPicPr>
            <a:picLocks noChangeAspect="1"/>
          </p:cNvPicPr>
          <p:nvPr/>
        </p:nvPicPr>
        <p:blipFill>
          <a:blip r:embed="rId2"/>
          <a:srcRect/>
          <a:stretch/>
        </p:blipFill>
        <p:spPr>
          <a:xfrm>
            <a:off x="8841843" y="4987548"/>
            <a:ext cx="302158" cy="1257484"/>
          </a:xfrm>
          <a:prstGeom prst="rect">
            <a:avLst/>
          </a:prstGeom>
        </p:spPr>
      </p:pic>
      <p:sp>
        <p:nvSpPr>
          <p:cNvPr id="11" name="Text Placeholder 2">
            <a:extLst>
              <a:ext uri="{FF2B5EF4-FFF2-40B4-BE49-F238E27FC236}">
                <a16:creationId xmlns:a16="http://schemas.microsoft.com/office/drawing/2014/main" id="{7341B751-31A5-2D46-AB18-7DA30E7035EE}"/>
              </a:ext>
            </a:extLst>
          </p:cNvPr>
          <p:cNvSpPr>
            <a:spLocks noGrp="1"/>
          </p:cNvSpPr>
          <p:nvPr>
            <p:ph type="body" sz="quarter" idx="11" hasCustomPrompt="1"/>
          </p:nvPr>
        </p:nvSpPr>
        <p:spPr>
          <a:xfrm>
            <a:off x="544743" y="644976"/>
            <a:ext cx="7968636" cy="710442"/>
          </a:xfrm>
          <a:prstGeom prst="rect">
            <a:avLst/>
          </a:prstGeom>
        </p:spPr>
        <p:txBody>
          <a:bodyPr lIns="0" tIns="0" rIns="0" bIns="0">
            <a:noAutofit/>
          </a:bodyPr>
          <a:lstStyle>
            <a:lvl1pPr marL="0" indent="0">
              <a:buNone/>
              <a:defRPr sz="3999" baseline="0">
                <a:solidFill>
                  <a:srgbClr val="271E3D"/>
                </a:solidFill>
                <a:latin typeface="Palatino Linotype" panose="02040502050505030304" pitchFamily="18" charset="0"/>
              </a:defRPr>
            </a:lvl1pPr>
          </a:lstStyle>
          <a:p>
            <a:pPr lvl="0"/>
            <a:r>
              <a:rPr lang="en-GB"/>
              <a:t>Main title</a:t>
            </a:r>
            <a:endParaRPr lang="en-US"/>
          </a:p>
        </p:txBody>
      </p:sp>
      <p:sp>
        <p:nvSpPr>
          <p:cNvPr id="12" name="Content Placeholder 2">
            <a:extLst>
              <a:ext uri="{FF2B5EF4-FFF2-40B4-BE49-F238E27FC236}">
                <a16:creationId xmlns:a16="http://schemas.microsoft.com/office/drawing/2014/main" id="{34F1DD2A-3E86-FE47-A747-084EF0DB4A68}"/>
              </a:ext>
            </a:extLst>
          </p:cNvPr>
          <p:cNvSpPr>
            <a:spLocks noGrp="1"/>
          </p:cNvSpPr>
          <p:nvPr>
            <p:ph idx="12"/>
          </p:nvPr>
        </p:nvSpPr>
        <p:spPr>
          <a:xfrm>
            <a:off x="539750" y="1559480"/>
            <a:ext cx="7981512" cy="4316886"/>
          </a:xfrm>
          <a:prstGeom prst="rect">
            <a:avLst/>
          </a:prstGeom>
        </p:spPr>
        <p:txBody>
          <a:bodyPr/>
          <a:lstStyle>
            <a:lvl1pPr>
              <a:defRPr b="0" baseline="0">
                <a:solidFill>
                  <a:srgbClr val="271E3D"/>
                </a:solidFill>
                <a:latin typeface="Arial" panose="020B0604020202020204" pitchFamily="34" charset="0"/>
              </a:defRPr>
            </a:lvl1pPr>
            <a:lvl2pPr>
              <a:defRPr b="0" baseline="0">
                <a:solidFill>
                  <a:srgbClr val="271E3D"/>
                </a:solidFill>
                <a:latin typeface="Arial" panose="020B0604020202020204" pitchFamily="34" charset="0"/>
              </a:defRPr>
            </a:lvl2pPr>
            <a:lvl3pPr>
              <a:defRPr b="0" baseline="0">
                <a:solidFill>
                  <a:srgbClr val="271E3D"/>
                </a:solidFill>
                <a:latin typeface="Arial" panose="020B0604020202020204" pitchFamily="34" charset="0"/>
              </a:defRPr>
            </a:lvl3pPr>
            <a:lvl4pPr>
              <a:defRPr b="0" baseline="0">
                <a:solidFill>
                  <a:srgbClr val="271E3D"/>
                </a:solidFill>
                <a:latin typeface="Arial" panose="020B0604020202020204" pitchFamily="34" charset="0"/>
              </a:defRPr>
            </a:lvl4pPr>
            <a:lvl5pPr>
              <a:defRPr b="0"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80464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58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981200"/>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8717205-B647-4E46-AE6F-32554770306B}" type="slidenum">
              <a:rPr lang="en-GB"/>
              <a:pPr>
                <a:defRPr/>
              </a:pPr>
              <a:t>‹#›</a:t>
            </a:fld>
            <a:endParaRPr lang="en-GB"/>
          </a:p>
        </p:txBody>
      </p:sp>
    </p:spTree>
    <p:extLst>
      <p:ext uri="{BB962C8B-B14F-4D97-AF65-F5344CB8AC3E}">
        <p14:creationId xmlns:p14="http://schemas.microsoft.com/office/powerpoint/2010/main" val="214379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825626"/>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900" b="0" i="0">
                <a:solidFill>
                  <a:srgbClr val="8D8C93"/>
                </a:solidFill>
                <a:latin typeface="Palatino Linotype" panose="02040502050505030304" pitchFamily="18" charset="0"/>
              </a:defRPr>
            </a:lvl1pPr>
          </a:lstStyle>
          <a:p>
            <a:fld id="{E54BFB26-65E8-0746-AE1F-BB6A120F4B8F}" type="datetimeFigureOut">
              <a:rPr lang="en-US" smtClean="0"/>
              <a:pPr/>
              <a:t>2/6/2026</a:t>
            </a:fld>
            <a:endParaRPr lang="en-US"/>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900" b="0" i="0">
                <a:solidFill>
                  <a:schemeClr val="tx1">
                    <a:tint val="75000"/>
                  </a:schemeClr>
                </a:solidFill>
                <a:latin typeface="Palatino Linotype" panose="02040502050505030304" pitchFamily="18" charset="0"/>
              </a:defRPr>
            </a:lvl1pPr>
          </a:lstStyle>
          <a:p>
            <a:endParaRPr lang="en-US"/>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900" b="0" i="0">
                <a:solidFill>
                  <a:schemeClr val="tx1">
                    <a:tint val="75000"/>
                  </a:schemeClr>
                </a:solidFill>
                <a:latin typeface="Palatino Linotype" panose="02040502050505030304" pitchFamily="18" charset="0"/>
              </a:defRPr>
            </a:lvl1pPr>
          </a:lstStyle>
          <a:p>
            <a:fld id="{F6579A09-310B-C44E-BCE0-1A21A05AF25F}" type="slidenum">
              <a:rPr lang="en-US" smtClean="0"/>
              <a:t>‹#›</a:t>
            </a:fld>
            <a:endParaRPr lang="en-US"/>
          </a:p>
        </p:txBody>
      </p:sp>
    </p:spTree>
    <p:extLst>
      <p:ext uri="{BB962C8B-B14F-4D97-AF65-F5344CB8AC3E}">
        <p14:creationId xmlns:p14="http://schemas.microsoft.com/office/powerpoint/2010/main" val="85793467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Lst>
  <p:txStyles>
    <p:titleStyle>
      <a:lvl1pPr algn="l" defTabSz="685577" rtl="0" eaLnBrk="1" latinLnBrk="0" hangingPunct="1">
        <a:lnSpc>
          <a:spcPct val="90000"/>
        </a:lnSpc>
        <a:spcBef>
          <a:spcPct val="0"/>
        </a:spcBef>
        <a:buNone/>
        <a:defRPr sz="3299" b="0" i="0" kern="1200">
          <a:solidFill>
            <a:schemeClr val="tx1"/>
          </a:solidFill>
          <a:latin typeface="Palatino Linotype" panose="02040502050505030304" pitchFamily="18" charset="0"/>
          <a:ea typeface="Palatino" pitchFamily="2" charset="77"/>
          <a:cs typeface="+mj-cs"/>
        </a:defRPr>
      </a:lvl1pPr>
    </p:titleStyle>
    <p:bodyStyle>
      <a:lvl1pPr marL="171395" indent="-171395" algn="l" defTabSz="685577" rtl="0" eaLnBrk="1" latinLnBrk="0" hangingPunct="1">
        <a:lnSpc>
          <a:spcPct val="90000"/>
        </a:lnSpc>
        <a:spcBef>
          <a:spcPts val="750"/>
        </a:spcBef>
        <a:buFont typeface="Arial" panose="020B0604020202020204" pitchFamily="34" charset="0"/>
        <a:buChar char="•"/>
        <a:defRPr sz="2099" b="0" i="0" kern="1200">
          <a:solidFill>
            <a:schemeClr val="tx1"/>
          </a:solidFill>
          <a:latin typeface="+mn-lt"/>
          <a:ea typeface="+mn-ea"/>
          <a:cs typeface="+mn-cs"/>
        </a:defRPr>
      </a:lvl1pPr>
      <a:lvl2pPr marL="514183" indent="-171395" algn="l" defTabSz="685577" rtl="0" eaLnBrk="1" latinLnBrk="0" hangingPunct="1">
        <a:lnSpc>
          <a:spcPct val="90000"/>
        </a:lnSpc>
        <a:spcBef>
          <a:spcPts val="375"/>
        </a:spcBef>
        <a:buFont typeface="Arial" panose="020B0604020202020204" pitchFamily="34" charset="0"/>
        <a:buChar char="•"/>
        <a:defRPr sz="1799" b="0" i="0" kern="1200">
          <a:solidFill>
            <a:schemeClr val="tx1"/>
          </a:solidFill>
          <a:latin typeface="+mn-lt"/>
          <a:ea typeface="+mn-ea"/>
          <a:cs typeface="+mn-cs"/>
        </a:defRPr>
      </a:lvl2pPr>
      <a:lvl3pPr marL="856972" indent="-171395" algn="l" defTabSz="685577" rtl="0" eaLnBrk="1" latinLnBrk="0" hangingPunct="1">
        <a:lnSpc>
          <a:spcPct val="90000"/>
        </a:lnSpc>
        <a:spcBef>
          <a:spcPts val="375"/>
        </a:spcBef>
        <a:buFont typeface="Arial" panose="020B0604020202020204" pitchFamily="34" charset="0"/>
        <a:buChar char="•"/>
        <a:defRPr sz="1499" b="0" i="0" kern="1200">
          <a:solidFill>
            <a:schemeClr val="tx1"/>
          </a:solidFill>
          <a:latin typeface="+mn-lt"/>
          <a:ea typeface="+mn-ea"/>
          <a:cs typeface="+mn-cs"/>
        </a:defRPr>
      </a:lvl3pPr>
      <a:lvl4pPr marL="1199760"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4pPr>
      <a:lvl5pPr marL="1542548"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5pPr>
      <a:lvl6pPr marL="1885337"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8126"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70915"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3703"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577" rtl="0" eaLnBrk="1" latinLnBrk="0" hangingPunct="1">
        <a:defRPr sz="1349" kern="1200">
          <a:solidFill>
            <a:schemeClr val="tx1"/>
          </a:solidFill>
          <a:latin typeface="+mn-lt"/>
          <a:ea typeface="+mn-ea"/>
          <a:cs typeface="+mn-cs"/>
        </a:defRPr>
      </a:lvl1pPr>
      <a:lvl2pPr marL="342788" algn="l" defTabSz="685577" rtl="0" eaLnBrk="1" latinLnBrk="0" hangingPunct="1">
        <a:defRPr sz="1349" kern="1200">
          <a:solidFill>
            <a:schemeClr val="tx1"/>
          </a:solidFill>
          <a:latin typeface="+mn-lt"/>
          <a:ea typeface="+mn-ea"/>
          <a:cs typeface="+mn-cs"/>
        </a:defRPr>
      </a:lvl2pPr>
      <a:lvl3pPr marL="685577" algn="l" defTabSz="685577" rtl="0" eaLnBrk="1" latinLnBrk="0" hangingPunct="1">
        <a:defRPr sz="1349" kern="1200">
          <a:solidFill>
            <a:schemeClr val="tx1"/>
          </a:solidFill>
          <a:latin typeface="+mn-lt"/>
          <a:ea typeface="+mn-ea"/>
          <a:cs typeface="+mn-cs"/>
        </a:defRPr>
      </a:lvl3pPr>
      <a:lvl4pPr marL="1028366" algn="l" defTabSz="685577" rtl="0" eaLnBrk="1" latinLnBrk="0" hangingPunct="1">
        <a:defRPr sz="1349" kern="1200">
          <a:solidFill>
            <a:schemeClr val="tx1"/>
          </a:solidFill>
          <a:latin typeface="+mn-lt"/>
          <a:ea typeface="+mn-ea"/>
          <a:cs typeface="+mn-cs"/>
        </a:defRPr>
      </a:lvl4pPr>
      <a:lvl5pPr marL="1371155" algn="l" defTabSz="685577" rtl="0" eaLnBrk="1" latinLnBrk="0" hangingPunct="1">
        <a:defRPr sz="1349" kern="1200">
          <a:solidFill>
            <a:schemeClr val="tx1"/>
          </a:solidFill>
          <a:latin typeface="+mn-lt"/>
          <a:ea typeface="+mn-ea"/>
          <a:cs typeface="+mn-cs"/>
        </a:defRPr>
      </a:lvl5pPr>
      <a:lvl6pPr marL="1713943" algn="l" defTabSz="685577" rtl="0" eaLnBrk="1" latinLnBrk="0" hangingPunct="1">
        <a:defRPr sz="1349" kern="1200">
          <a:solidFill>
            <a:schemeClr val="tx1"/>
          </a:solidFill>
          <a:latin typeface="+mn-lt"/>
          <a:ea typeface="+mn-ea"/>
          <a:cs typeface="+mn-cs"/>
        </a:defRPr>
      </a:lvl6pPr>
      <a:lvl7pPr marL="2056731" algn="l" defTabSz="685577" rtl="0" eaLnBrk="1" latinLnBrk="0" hangingPunct="1">
        <a:defRPr sz="1349" kern="1200">
          <a:solidFill>
            <a:schemeClr val="tx1"/>
          </a:solidFill>
          <a:latin typeface="+mn-lt"/>
          <a:ea typeface="+mn-ea"/>
          <a:cs typeface="+mn-cs"/>
        </a:defRPr>
      </a:lvl7pPr>
      <a:lvl8pPr marL="2399520" algn="l" defTabSz="685577" rtl="0" eaLnBrk="1" latinLnBrk="0" hangingPunct="1">
        <a:defRPr sz="1349" kern="1200">
          <a:solidFill>
            <a:schemeClr val="tx1"/>
          </a:solidFill>
          <a:latin typeface="+mn-lt"/>
          <a:ea typeface="+mn-ea"/>
          <a:cs typeface="+mn-cs"/>
        </a:defRPr>
      </a:lvl8pPr>
      <a:lvl9pPr marL="2742308" algn="l" defTabSz="685577"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forbes.com/sites/kevinkruse/2013/04/09/what-is-leadership/" TargetMode="External"/><Relationship Id="rId2" Type="http://schemas.openxmlformats.org/officeDocument/2006/relationships/hyperlink" Target="https://www.mckinsey.com/featured-insights/mckinsey-explainers/what-is-leadership#/" TargetMode="Externa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png"/><Relationship Id="rId9"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849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F900F-E63F-3645-B7D0-96BF286DF2E2}"/>
              </a:ext>
            </a:extLst>
          </p:cNvPr>
          <p:cNvSpPr>
            <a:spLocks noGrp="1"/>
          </p:cNvSpPr>
          <p:nvPr>
            <p:ph type="title"/>
          </p:nvPr>
        </p:nvSpPr>
        <p:spPr>
          <a:xfrm>
            <a:off x="541862" y="1047534"/>
            <a:ext cx="7837518" cy="1280067"/>
          </a:xfrm>
        </p:spPr>
        <p:txBody>
          <a:bodyPr/>
          <a:lstStyle/>
          <a:p>
            <a:r>
              <a:rPr lang="en-US"/>
              <a:t>MAN-10081</a:t>
            </a:r>
            <a:br>
              <a:rPr lang="en-US"/>
            </a:br>
            <a:r>
              <a:rPr lang="en-US"/>
              <a:t>Teams, People and Performance</a:t>
            </a:r>
          </a:p>
        </p:txBody>
      </p:sp>
      <p:sp>
        <p:nvSpPr>
          <p:cNvPr id="3" name="Text Placeholder 2">
            <a:extLst>
              <a:ext uri="{FF2B5EF4-FFF2-40B4-BE49-F238E27FC236}">
                <a16:creationId xmlns:a16="http://schemas.microsoft.com/office/drawing/2014/main" id="{193D6C7F-6933-8C47-8F8D-D1556F0D9EA6}"/>
              </a:ext>
            </a:extLst>
          </p:cNvPr>
          <p:cNvSpPr>
            <a:spLocks noGrp="1"/>
          </p:cNvSpPr>
          <p:nvPr>
            <p:ph type="body" sz="quarter" idx="10"/>
          </p:nvPr>
        </p:nvSpPr>
        <p:spPr>
          <a:xfrm>
            <a:off x="540979" y="5206482"/>
            <a:ext cx="6083756" cy="1054358"/>
          </a:xfrm>
        </p:spPr>
        <p:txBody>
          <a:bodyPr/>
          <a:lstStyle/>
          <a:p>
            <a:r>
              <a:rPr lang="en-US"/>
              <a:t>M</a:t>
            </a:r>
          </a:p>
        </p:txBody>
      </p:sp>
    </p:spTree>
    <p:extLst>
      <p:ext uri="{BB962C8B-B14F-4D97-AF65-F5344CB8AC3E}">
        <p14:creationId xmlns:p14="http://schemas.microsoft.com/office/powerpoint/2010/main" val="186714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0500-F162-8B4D-97F4-1DD54772F788}"/>
              </a:ext>
            </a:extLst>
          </p:cNvPr>
          <p:cNvSpPr>
            <a:spLocks noGrp="1"/>
          </p:cNvSpPr>
          <p:nvPr>
            <p:ph type="title"/>
          </p:nvPr>
        </p:nvSpPr>
        <p:spPr>
          <a:xfrm>
            <a:off x="541862" y="4305571"/>
            <a:ext cx="7935708" cy="1280067"/>
          </a:xfrm>
        </p:spPr>
        <p:txBody>
          <a:bodyPr/>
          <a:lstStyle/>
          <a:p>
            <a:r>
              <a:rPr lang="en-GB" dirty="0"/>
              <a:t>LECTURE 2 - Leadership</a:t>
            </a:r>
            <a:endParaRPr lang="en-US" dirty="0"/>
          </a:p>
        </p:txBody>
      </p:sp>
      <p:sp>
        <p:nvSpPr>
          <p:cNvPr id="3" name="Text Placeholder 2">
            <a:extLst>
              <a:ext uri="{FF2B5EF4-FFF2-40B4-BE49-F238E27FC236}">
                <a16:creationId xmlns:a16="http://schemas.microsoft.com/office/drawing/2014/main" id="{22550942-E3AB-314F-9950-52F15611F861}"/>
              </a:ext>
            </a:extLst>
          </p:cNvPr>
          <p:cNvSpPr>
            <a:spLocks noGrp="1"/>
          </p:cNvSpPr>
          <p:nvPr>
            <p:ph type="body" sz="quarter" idx="10"/>
          </p:nvPr>
        </p:nvSpPr>
        <p:spPr>
          <a:xfrm>
            <a:off x="540979" y="5701175"/>
            <a:ext cx="7936592" cy="519078"/>
          </a:xfrm>
        </p:spPr>
        <p:txBody>
          <a:bodyPr>
            <a:normAutofit/>
          </a:bodyPr>
          <a:lstStyle/>
          <a:p>
            <a:r>
              <a:rPr lang="en-US"/>
              <a:t> </a:t>
            </a:r>
          </a:p>
        </p:txBody>
      </p:sp>
    </p:spTree>
    <p:extLst>
      <p:ext uri="{BB962C8B-B14F-4D97-AF65-F5344CB8AC3E}">
        <p14:creationId xmlns:p14="http://schemas.microsoft.com/office/powerpoint/2010/main" val="421241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A76CC6-B0A5-C547-ACA2-2CA96E85456B}"/>
              </a:ext>
            </a:extLst>
          </p:cNvPr>
          <p:cNvSpPr>
            <a:spLocks noGrp="1"/>
          </p:cNvSpPr>
          <p:nvPr>
            <p:ph type="body" sz="quarter" idx="10"/>
          </p:nvPr>
        </p:nvSpPr>
        <p:spPr>
          <a:xfrm>
            <a:off x="544743" y="858520"/>
            <a:ext cx="6266604" cy="1002003"/>
          </a:xfrm>
        </p:spPr>
        <p:txBody>
          <a:bodyPr vert="horz" lIns="0" tIns="0" rIns="0" bIns="0" rtlCol="0" anchor="t">
            <a:noAutofit/>
          </a:bodyPr>
          <a:lstStyle/>
          <a:p>
            <a:r>
              <a:rPr lang="en-GB" dirty="0">
                <a:latin typeface="Palatino Linotype"/>
              </a:rPr>
              <a:t>Session Content</a:t>
            </a:r>
          </a:p>
          <a:p>
            <a:endParaRPr lang="en-GB" sz="3600" dirty="0"/>
          </a:p>
          <a:p>
            <a:pPr marL="457200" indent="-457200">
              <a:buFont typeface="Arial" panose="020B0604020202020204" pitchFamily="34" charset="0"/>
              <a:buChar char="•"/>
            </a:pPr>
            <a:r>
              <a:rPr lang="en-GB" sz="2800" dirty="0">
                <a:latin typeface="Palatino Linotype"/>
              </a:rPr>
              <a:t>Assessment Summary </a:t>
            </a:r>
          </a:p>
          <a:p>
            <a:pPr marL="457200" indent="-457200">
              <a:buFont typeface="Arial" panose="020B0604020202020204" pitchFamily="34" charset="0"/>
              <a:buChar char="•"/>
            </a:pPr>
            <a:r>
              <a:rPr lang="en-GB" sz="2800" dirty="0">
                <a:latin typeface="Palatino Linotype"/>
              </a:rPr>
              <a:t>Quick Recap – </a:t>
            </a:r>
          </a:p>
          <a:p>
            <a:pPr marL="971383" lvl="1" indent="-457200"/>
            <a:r>
              <a:rPr lang="en-GB" sz="2400" dirty="0">
                <a:latin typeface="Palatino Linotype"/>
              </a:rPr>
              <a:t>Forming Teams</a:t>
            </a:r>
          </a:p>
          <a:p>
            <a:pPr marL="971383" lvl="1" indent="-457200"/>
            <a:r>
              <a:rPr lang="en-GB" sz="2400" dirty="0">
                <a:latin typeface="Palatino Linotype"/>
              </a:rPr>
              <a:t>Belin’s Team Roles</a:t>
            </a:r>
          </a:p>
          <a:p>
            <a:pPr marL="457200" indent="-457200">
              <a:buFont typeface="Arial" panose="020B0604020202020204" pitchFamily="34" charset="0"/>
              <a:buChar char="•"/>
            </a:pPr>
            <a:r>
              <a:rPr lang="en-GB" sz="2800" dirty="0">
                <a:latin typeface="Palatino Linotype"/>
              </a:rPr>
              <a:t>Introduction to Leadership </a:t>
            </a:r>
          </a:p>
          <a:p>
            <a:pPr marL="457200" indent="-457200">
              <a:buFont typeface="Arial" panose="020B0604020202020204" pitchFamily="34" charset="0"/>
              <a:buChar char="•"/>
            </a:pPr>
            <a:r>
              <a:rPr lang="en-GB" sz="2800" dirty="0">
                <a:latin typeface="Palatino Linotype"/>
              </a:rPr>
              <a:t>Group Task!</a:t>
            </a:r>
          </a:p>
          <a:p>
            <a:endParaRPr lang="en-GB" sz="2800" dirty="0">
              <a:latin typeface="Palatino Linotype"/>
            </a:endParaRPr>
          </a:p>
          <a:p>
            <a:endParaRPr lang="en-GB" sz="2800" dirty="0"/>
          </a:p>
        </p:txBody>
      </p:sp>
    </p:spTree>
    <p:extLst>
      <p:ext uri="{BB962C8B-B14F-4D97-AF65-F5344CB8AC3E}">
        <p14:creationId xmlns:p14="http://schemas.microsoft.com/office/powerpoint/2010/main" val="514983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1F72C7-2081-E892-062A-9DD960633BD6}"/>
              </a:ext>
            </a:extLst>
          </p:cNvPr>
          <p:cNvSpPr>
            <a:spLocks noGrp="1"/>
          </p:cNvSpPr>
          <p:nvPr>
            <p:ph type="body" sz="quarter" idx="10"/>
          </p:nvPr>
        </p:nvSpPr>
        <p:spPr>
          <a:xfrm>
            <a:off x="544742" y="690467"/>
            <a:ext cx="6990591" cy="765110"/>
          </a:xfrm>
        </p:spPr>
        <p:txBody>
          <a:bodyPr vert="horz" lIns="0" tIns="0" rIns="0" bIns="0" rtlCol="0" anchor="t">
            <a:noAutofit/>
          </a:bodyPr>
          <a:lstStyle/>
          <a:p>
            <a:r>
              <a:rPr lang="en-GB" sz="3200" dirty="0">
                <a:latin typeface="Palatino Linotype"/>
              </a:rPr>
              <a:t>Assessment Summary</a:t>
            </a:r>
          </a:p>
          <a:p>
            <a:endParaRPr lang="en-GB" sz="3200" dirty="0"/>
          </a:p>
          <a:p>
            <a:pPr>
              <a:lnSpc>
                <a:spcPct val="150000"/>
              </a:lnSpc>
            </a:pPr>
            <a:r>
              <a:rPr lang="en-GB" sz="1600" dirty="0">
                <a:latin typeface="Palatino Linotype"/>
              </a:rPr>
              <a:t>Students are required to produce </a:t>
            </a:r>
            <a:r>
              <a:rPr lang="en-GB" sz="1600" b="1" dirty="0">
                <a:latin typeface="Palatino Linotype"/>
              </a:rPr>
              <a:t>either a 5–10-minute podcast or a 1500-word written report</a:t>
            </a:r>
            <a:r>
              <a:rPr lang="en-GB" sz="1600" dirty="0">
                <a:latin typeface="Palatino Linotype"/>
              </a:rPr>
              <a:t>. This project is a deep </a:t>
            </a:r>
            <a:r>
              <a:rPr lang="en-GB" sz="1600" b="1" dirty="0">
                <a:latin typeface="Palatino Linotype"/>
              </a:rPr>
              <a:t>reflection </a:t>
            </a:r>
            <a:r>
              <a:rPr lang="en-GB" sz="1600" dirty="0">
                <a:latin typeface="Palatino Linotype"/>
              </a:rPr>
              <a:t>on your experiences during the team-based exercises in this module, including collaborative tasks, leadership activities, and problem-solving challenges. The submission must address the following three areas:</a:t>
            </a:r>
            <a:endParaRPr lang="en-GB" dirty="0">
              <a:latin typeface="Palatino Linotype"/>
            </a:endParaRPr>
          </a:p>
          <a:p>
            <a:pPr marL="342900" indent="-342900">
              <a:lnSpc>
                <a:spcPct val="150000"/>
              </a:lnSpc>
              <a:buAutoNum type="arabicPeriod"/>
            </a:pPr>
            <a:r>
              <a:rPr lang="en-GB" sz="1600" dirty="0">
                <a:latin typeface="Palatino Linotype"/>
              </a:rPr>
              <a:t>Individual role in the team</a:t>
            </a:r>
          </a:p>
          <a:p>
            <a:pPr marL="342900" indent="-342900">
              <a:lnSpc>
                <a:spcPct val="150000"/>
              </a:lnSpc>
              <a:buAutoNum type="arabicPeriod"/>
            </a:pPr>
            <a:r>
              <a:rPr lang="en-GB" sz="1600" dirty="0">
                <a:latin typeface="Palatino Linotype"/>
              </a:rPr>
              <a:t>Team dynamics</a:t>
            </a:r>
          </a:p>
          <a:p>
            <a:pPr marL="342900" indent="-342900">
              <a:lnSpc>
                <a:spcPct val="150000"/>
              </a:lnSpc>
              <a:buAutoNum type="arabicPeriod"/>
            </a:pPr>
            <a:r>
              <a:rPr lang="en-GB" sz="1600" dirty="0">
                <a:latin typeface="Palatino Linotype"/>
              </a:rPr>
              <a:t>Personal development </a:t>
            </a:r>
          </a:p>
          <a:p>
            <a:pPr>
              <a:lnSpc>
                <a:spcPct val="150000"/>
              </a:lnSpc>
            </a:pPr>
            <a:endParaRPr lang="en-GB" sz="1600" dirty="0">
              <a:latin typeface="Palatino Linotype"/>
            </a:endParaRPr>
          </a:p>
          <a:p>
            <a:pPr>
              <a:lnSpc>
                <a:spcPct val="150000"/>
              </a:lnSpc>
            </a:pPr>
            <a:r>
              <a:rPr lang="en-GB" sz="1600" b="1" dirty="0">
                <a:latin typeface="Palatino Linotype"/>
              </a:rPr>
              <a:t>Submission deadline:</a:t>
            </a:r>
            <a:r>
              <a:rPr lang="en-GB" sz="1600" dirty="0">
                <a:latin typeface="Palatino Linotype"/>
              </a:rPr>
              <a:t> 11 May 2026, 1 pm, via KLE</a:t>
            </a:r>
            <a:endParaRPr lang="en-GB" sz="1600" dirty="0"/>
          </a:p>
          <a:p>
            <a:pPr>
              <a:lnSpc>
                <a:spcPct val="150000"/>
              </a:lnSpc>
            </a:pPr>
            <a:endParaRPr lang="en-GB" sz="2000"/>
          </a:p>
        </p:txBody>
      </p:sp>
    </p:spTree>
    <p:extLst>
      <p:ext uri="{BB962C8B-B14F-4D97-AF65-F5344CB8AC3E}">
        <p14:creationId xmlns:p14="http://schemas.microsoft.com/office/powerpoint/2010/main" val="632177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ight Arrow 9">
            <a:extLst>
              <a:ext uri="{FF2B5EF4-FFF2-40B4-BE49-F238E27FC236}">
                <a16:creationId xmlns:a16="http://schemas.microsoft.com/office/drawing/2014/main" id="{EF5154AD-8507-1406-58EA-61FE87835FC4}"/>
              </a:ext>
            </a:extLst>
          </p:cNvPr>
          <p:cNvSpPr>
            <a:spLocks noChangeArrowheads="1"/>
          </p:cNvSpPr>
          <p:nvPr/>
        </p:nvSpPr>
        <p:spPr bwMode="auto">
          <a:xfrm>
            <a:off x="4770275" y="2453660"/>
            <a:ext cx="2634441" cy="3199428"/>
          </a:xfrm>
          <a:prstGeom prst="rightArrow">
            <a:avLst>
              <a:gd name="adj1" fmla="val 50000"/>
              <a:gd name="adj2" fmla="val 50000"/>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195" name="Right Arrow 8">
            <a:extLst>
              <a:ext uri="{FF2B5EF4-FFF2-40B4-BE49-F238E27FC236}">
                <a16:creationId xmlns:a16="http://schemas.microsoft.com/office/drawing/2014/main" id="{F4200CD7-F2D8-921A-3F79-0A3794A99054}"/>
              </a:ext>
            </a:extLst>
          </p:cNvPr>
          <p:cNvSpPr>
            <a:spLocks noChangeArrowheads="1"/>
          </p:cNvSpPr>
          <p:nvPr/>
        </p:nvSpPr>
        <p:spPr bwMode="auto">
          <a:xfrm>
            <a:off x="3071813" y="2428875"/>
            <a:ext cx="2428875" cy="3295650"/>
          </a:xfrm>
          <a:prstGeom prst="rightArrow">
            <a:avLst>
              <a:gd name="adj1" fmla="val 50000"/>
              <a:gd name="adj2" fmla="val 51819"/>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196" name="Content Placeholder 7">
            <a:extLst>
              <a:ext uri="{FF2B5EF4-FFF2-40B4-BE49-F238E27FC236}">
                <a16:creationId xmlns:a16="http://schemas.microsoft.com/office/drawing/2014/main" id="{71AA0520-F05A-FBB9-8365-CA87AA149816}"/>
              </a:ext>
            </a:extLst>
          </p:cNvPr>
          <p:cNvSpPr>
            <a:spLocks noGrp="1"/>
          </p:cNvSpPr>
          <p:nvPr>
            <p:ph type="body" sz="quarter" idx="10"/>
          </p:nvPr>
        </p:nvSpPr>
        <p:spPr>
          <a:xfrm>
            <a:off x="2282569" y="2365623"/>
            <a:ext cx="1710395" cy="3289457"/>
          </a:xfrm>
          <a:prstGeom prst="rightArrow">
            <a:avLst>
              <a:gd name="adj1" fmla="val 50000"/>
              <a:gd name="adj2" fmla="val 62694"/>
            </a:avLst>
          </a:prstGeom>
          <a:solidFill>
            <a:schemeClr val="accent6">
              <a:lumMod val="40000"/>
              <a:lumOff val="60000"/>
            </a:schemeClr>
          </a:solidFill>
          <a:ln cap="flat" algn="ctr">
            <a:solidFill>
              <a:schemeClr val="tx1"/>
            </a:solidFill>
            <a:round/>
            <a:headEnd type="none" w="med" len="med"/>
            <a:tailEnd type="none" w="med" len="med"/>
          </a:ln>
        </p:spPr>
        <p:txBody>
          <a:bodyPr/>
          <a:lstStyle/>
          <a:p>
            <a:pPr>
              <a:buFontTx/>
              <a:buNone/>
            </a:pPr>
            <a:r>
              <a:rPr lang="en-GB" altLang="it-IT"/>
              <a:t>  </a:t>
            </a:r>
          </a:p>
        </p:txBody>
      </p:sp>
      <p:sp>
        <p:nvSpPr>
          <p:cNvPr id="8197" name="Title 1">
            <a:extLst>
              <a:ext uri="{FF2B5EF4-FFF2-40B4-BE49-F238E27FC236}">
                <a16:creationId xmlns:a16="http://schemas.microsoft.com/office/drawing/2014/main" id="{88B2F9E5-3A6A-1925-718A-FA71FB549FD2}"/>
              </a:ext>
            </a:extLst>
          </p:cNvPr>
          <p:cNvSpPr>
            <a:spLocks noGrp="1"/>
          </p:cNvSpPr>
          <p:nvPr>
            <p:ph type="title" idx="4294967295"/>
          </p:nvPr>
        </p:nvSpPr>
        <p:spPr>
          <a:xfrm>
            <a:off x="0" y="1416050"/>
            <a:ext cx="7772400" cy="655638"/>
          </a:xfrm>
        </p:spPr>
        <p:txBody>
          <a:bodyPr/>
          <a:lstStyle/>
          <a:p>
            <a:r>
              <a:rPr lang="en-GB" altLang="it-IT"/>
              <a:t>Team Life Cycle Model</a:t>
            </a:r>
          </a:p>
        </p:txBody>
      </p:sp>
      <p:sp>
        <p:nvSpPr>
          <p:cNvPr id="8199" name="Right Arrow 6">
            <a:extLst>
              <a:ext uri="{FF2B5EF4-FFF2-40B4-BE49-F238E27FC236}">
                <a16:creationId xmlns:a16="http://schemas.microsoft.com/office/drawing/2014/main" id="{862AA1AA-8A06-D45C-59DB-247876CF36BA}"/>
              </a:ext>
            </a:extLst>
          </p:cNvPr>
          <p:cNvSpPr>
            <a:spLocks noChangeArrowheads="1"/>
          </p:cNvSpPr>
          <p:nvPr/>
        </p:nvSpPr>
        <p:spPr bwMode="auto">
          <a:xfrm>
            <a:off x="642938" y="2369101"/>
            <a:ext cx="1917150" cy="3203024"/>
          </a:xfrm>
          <a:prstGeom prst="rightArrow">
            <a:avLst>
              <a:gd name="adj1" fmla="val 50000"/>
              <a:gd name="adj2" fmla="val 50000"/>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200" name="TextBox 10">
            <a:extLst>
              <a:ext uri="{FF2B5EF4-FFF2-40B4-BE49-F238E27FC236}">
                <a16:creationId xmlns:a16="http://schemas.microsoft.com/office/drawing/2014/main" id="{B656E5DE-18AE-5CBA-2D37-591D17AF55B3}"/>
              </a:ext>
            </a:extLst>
          </p:cNvPr>
          <p:cNvSpPr txBox="1">
            <a:spLocks noChangeArrowheads="1"/>
          </p:cNvSpPr>
          <p:nvPr/>
        </p:nvSpPr>
        <p:spPr bwMode="auto">
          <a:xfrm>
            <a:off x="928688" y="3643313"/>
            <a:ext cx="1428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Forming</a:t>
            </a:r>
          </a:p>
        </p:txBody>
      </p:sp>
      <p:sp>
        <p:nvSpPr>
          <p:cNvPr id="8201" name="TextBox 11">
            <a:extLst>
              <a:ext uri="{FF2B5EF4-FFF2-40B4-BE49-F238E27FC236}">
                <a16:creationId xmlns:a16="http://schemas.microsoft.com/office/drawing/2014/main" id="{9808797B-FF32-EAE3-DF9F-0FF6BEC90F3A}"/>
              </a:ext>
            </a:extLst>
          </p:cNvPr>
          <p:cNvSpPr txBox="1">
            <a:spLocks noChangeArrowheads="1"/>
          </p:cNvSpPr>
          <p:nvPr/>
        </p:nvSpPr>
        <p:spPr bwMode="auto">
          <a:xfrm>
            <a:off x="2571750" y="3643313"/>
            <a:ext cx="1428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Storming</a:t>
            </a:r>
          </a:p>
        </p:txBody>
      </p:sp>
      <p:sp>
        <p:nvSpPr>
          <p:cNvPr id="8202" name="TextBox 12">
            <a:extLst>
              <a:ext uri="{FF2B5EF4-FFF2-40B4-BE49-F238E27FC236}">
                <a16:creationId xmlns:a16="http://schemas.microsoft.com/office/drawing/2014/main" id="{D46F79FB-75FE-ADAE-4976-048BB7ED0325}"/>
              </a:ext>
            </a:extLst>
          </p:cNvPr>
          <p:cNvSpPr txBox="1">
            <a:spLocks noChangeArrowheads="1"/>
          </p:cNvSpPr>
          <p:nvPr/>
        </p:nvSpPr>
        <p:spPr bwMode="auto">
          <a:xfrm>
            <a:off x="4000500" y="3643313"/>
            <a:ext cx="1500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Norming</a:t>
            </a:r>
          </a:p>
        </p:txBody>
      </p:sp>
      <p:sp>
        <p:nvSpPr>
          <p:cNvPr id="8203" name="TextBox 13">
            <a:extLst>
              <a:ext uri="{FF2B5EF4-FFF2-40B4-BE49-F238E27FC236}">
                <a16:creationId xmlns:a16="http://schemas.microsoft.com/office/drawing/2014/main" id="{CEE39876-6919-3506-7B86-8F41AE292D19}"/>
              </a:ext>
            </a:extLst>
          </p:cNvPr>
          <p:cNvSpPr txBox="1">
            <a:spLocks noChangeArrowheads="1"/>
          </p:cNvSpPr>
          <p:nvPr/>
        </p:nvSpPr>
        <p:spPr bwMode="auto">
          <a:xfrm>
            <a:off x="5500688" y="3643313"/>
            <a:ext cx="171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Performing</a:t>
            </a:r>
          </a:p>
        </p:txBody>
      </p:sp>
      <p:sp>
        <p:nvSpPr>
          <p:cNvPr id="8204" name="TextBox 14">
            <a:extLst>
              <a:ext uri="{FF2B5EF4-FFF2-40B4-BE49-F238E27FC236}">
                <a16:creationId xmlns:a16="http://schemas.microsoft.com/office/drawing/2014/main" id="{C9941224-0CF4-88B9-C6D5-9D24344DB1A2}"/>
              </a:ext>
            </a:extLst>
          </p:cNvPr>
          <p:cNvSpPr txBox="1">
            <a:spLocks noChangeArrowheads="1"/>
          </p:cNvSpPr>
          <p:nvPr/>
        </p:nvSpPr>
        <p:spPr bwMode="auto">
          <a:xfrm>
            <a:off x="7429500" y="3571875"/>
            <a:ext cx="171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Adjourning / Mourning</a:t>
            </a:r>
          </a:p>
        </p:txBody>
      </p:sp>
      <p:sp>
        <p:nvSpPr>
          <p:cNvPr id="8205" name="TextBox 15">
            <a:extLst>
              <a:ext uri="{FF2B5EF4-FFF2-40B4-BE49-F238E27FC236}">
                <a16:creationId xmlns:a16="http://schemas.microsoft.com/office/drawing/2014/main" id="{D6992C62-764C-03C9-2B38-2715F95B9121}"/>
              </a:ext>
            </a:extLst>
          </p:cNvPr>
          <p:cNvSpPr txBox="1">
            <a:spLocks noChangeArrowheads="1"/>
          </p:cNvSpPr>
          <p:nvPr/>
        </p:nvSpPr>
        <p:spPr bwMode="auto">
          <a:xfrm>
            <a:off x="107950" y="5572125"/>
            <a:ext cx="4321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Tuckman and Jensen, 1977</a:t>
            </a:r>
          </a:p>
        </p:txBody>
      </p:sp>
    </p:spTree>
    <p:extLst>
      <p:ext uri="{BB962C8B-B14F-4D97-AF65-F5344CB8AC3E}">
        <p14:creationId xmlns:p14="http://schemas.microsoft.com/office/powerpoint/2010/main" val="116062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0" descr="C:\poonams jobs\MMU\leture notes DPP\sitlead1.jpg">
            <a:extLst>
              <a:ext uri="{FF2B5EF4-FFF2-40B4-BE49-F238E27FC236}">
                <a16:creationId xmlns:a16="http://schemas.microsoft.com/office/drawing/2014/main" id="{81DFD888-1FA9-C483-032E-8BE3AD535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765175"/>
            <a:ext cx="7488238" cy="581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69B8E9E-E8D5-2372-FBD2-22EB2ADAA7A1}"/>
              </a:ext>
            </a:extLst>
          </p:cNvPr>
          <p:cNvSpPr>
            <a:spLocks noGrp="1"/>
          </p:cNvSpPr>
          <p:nvPr>
            <p:ph type="body" sz="quarter" idx="10"/>
          </p:nvPr>
        </p:nvSpPr>
        <p:spPr>
          <a:xfrm>
            <a:off x="505543" y="1595194"/>
            <a:ext cx="8132913" cy="1388344"/>
          </a:xfrm>
        </p:spPr>
        <p:txBody>
          <a:bodyPr vert="horz" lIns="0" tIns="0" rIns="0" bIns="0" rtlCol="0" anchor="t">
            <a:noAutofit/>
          </a:bodyPr>
          <a:lstStyle/>
          <a:p>
            <a:r>
              <a:rPr lang="en-GB" dirty="0">
                <a:latin typeface="Palatino Linotype"/>
              </a:rPr>
              <a:t>Task: I am about to go through Belbin’s Team roles again, write down which role best describes you and why!!! </a:t>
            </a:r>
          </a:p>
        </p:txBody>
      </p:sp>
    </p:spTree>
    <p:extLst>
      <p:ext uri="{BB962C8B-B14F-4D97-AF65-F5344CB8AC3E}">
        <p14:creationId xmlns:p14="http://schemas.microsoft.com/office/powerpoint/2010/main" val="1975152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5126ACB8-CF03-5307-FB7D-D4C9323D0FA0}"/>
              </a:ext>
            </a:extLst>
          </p:cNvPr>
          <p:cNvSpPr>
            <a:spLocks noGrp="1"/>
          </p:cNvSpPr>
          <p:nvPr>
            <p:ph type="title" idx="4294967295"/>
          </p:nvPr>
        </p:nvSpPr>
        <p:spPr>
          <a:xfrm>
            <a:off x="249530" y="692150"/>
            <a:ext cx="8894470" cy="792163"/>
          </a:xfrm>
        </p:spPr>
        <p:txBody>
          <a:bodyPr>
            <a:normAutofit/>
          </a:bodyPr>
          <a:lstStyle/>
          <a:p>
            <a:r>
              <a:rPr lang="en-GB" altLang="en-US" sz="3250" b="1">
                <a:latin typeface="Palatino Linotype"/>
              </a:rPr>
              <a:t>Belbin’s Team Roles</a:t>
            </a:r>
          </a:p>
        </p:txBody>
      </p:sp>
      <p:graphicFrame>
        <p:nvGraphicFramePr>
          <p:cNvPr id="7" name="Content Placeholder 6">
            <a:extLst>
              <a:ext uri="{FF2B5EF4-FFF2-40B4-BE49-F238E27FC236}">
                <a16:creationId xmlns:a16="http://schemas.microsoft.com/office/drawing/2014/main" id="{1E8ED515-765D-200C-FA5D-C8D189D9271B}"/>
              </a:ext>
            </a:extLst>
          </p:cNvPr>
          <p:cNvGraphicFramePr>
            <a:graphicFrameLocks noGrp="1"/>
          </p:cNvGraphicFramePr>
          <p:nvPr>
            <p:ph idx="4294967295"/>
            <p:extLst>
              <p:ext uri="{D42A27DB-BD31-4B8C-83A1-F6EECF244321}">
                <p14:modId xmlns:p14="http://schemas.microsoft.com/office/powerpoint/2010/main" val="1979923413"/>
              </p:ext>
            </p:extLst>
          </p:nvPr>
        </p:nvGraphicFramePr>
        <p:xfrm>
          <a:off x="251619" y="1637506"/>
          <a:ext cx="8640762" cy="43767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4036" name="Oval 4">
            <a:extLst>
              <a:ext uri="{FF2B5EF4-FFF2-40B4-BE49-F238E27FC236}">
                <a16:creationId xmlns:a16="http://schemas.microsoft.com/office/drawing/2014/main" id="{01CBA352-6350-6BEA-92A6-056FC2027DE1}"/>
              </a:ext>
            </a:extLst>
          </p:cNvPr>
          <p:cNvSpPr>
            <a:spLocks noChangeArrowheads="1"/>
          </p:cNvSpPr>
          <p:nvPr/>
        </p:nvSpPr>
        <p:spPr bwMode="auto">
          <a:xfrm>
            <a:off x="1285875" y="2357438"/>
            <a:ext cx="6286500" cy="25574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lr>
                <a:srgbClr val="14406B"/>
              </a:buClr>
              <a:buChar char="•"/>
              <a:defRPr sz="2600">
                <a:solidFill>
                  <a:srgbClr val="636363"/>
                </a:solidFill>
                <a:latin typeface="Arial" panose="020B0604020202020204" pitchFamily="34" charset="0"/>
              </a:defRPr>
            </a:lvl1pPr>
            <a:lvl2pPr marL="742950" indent="-285750">
              <a:spcBef>
                <a:spcPct val="20000"/>
              </a:spcBef>
              <a:buChar char="–"/>
              <a:defRPr sz="2400">
                <a:solidFill>
                  <a:srgbClr val="636363"/>
                </a:solidFill>
                <a:latin typeface="Arial" panose="020B0604020202020204" pitchFamily="34" charset="0"/>
              </a:defRPr>
            </a:lvl2pPr>
            <a:lvl3pPr marL="1143000" indent="-228600">
              <a:spcBef>
                <a:spcPct val="20000"/>
              </a:spcBef>
              <a:buChar char="•"/>
              <a:defRPr sz="2200">
                <a:solidFill>
                  <a:srgbClr val="636363"/>
                </a:solidFill>
                <a:latin typeface="Arial" panose="020B0604020202020204" pitchFamily="34" charset="0"/>
              </a:defRPr>
            </a:lvl3pPr>
            <a:lvl4pPr marL="1600200" indent="-228600">
              <a:spcBef>
                <a:spcPct val="20000"/>
              </a:spcBef>
              <a:buChar char="–"/>
              <a:defRPr sz="2000">
                <a:solidFill>
                  <a:srgbClr val="636363"/>
                </a:solidFill>
                <a:latin typeface="Arial" panose="020B0604020202020204" pitchFamily="34" charset="0"/>
              </a:defRPr>
            </a:lvl4pPr>
            <a:lvl5pPr marL="2057400" indent="-228600">
              <a:spcBef>
                <a:spcPct val="20000"/>
              </a:spcBef>
              <a:buChar char="»"/>
              <a:defRPr sz="2000">
                <a:solidFill>
                  <a:srgbClr val="636363"/>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636363"/>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636363"/>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636363"/>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636363"/>
                </a:solidFill>
                <a:latin typeface="Arial" panose="020B0604020202020204" pitchFamily="34" charset="0"/>
              </a:defRPr>
            </a:lvl9pPr>
          </a:lstStyle>
          <a:p>
            <a:pPr>
              <a:spcBef>
                <a:spcPct val="0"/>
              </a:spcBef>
              <a:buClrTx/>
              <a:buFontTx/>
              <a:buNone/>
            </a:pPr>
            <a:endParaRPr lang="en-GB" altLang="en-US" sz="2400">
              <a:solidFill>
                <a:schemeClr val="tx1"/>
              </a:solidFill>
              <a:latin typeface="Times" panose="02020603050405020304" pitchFamily="18" charset="0"/>
            </a:endParaRPr>
          </a:p>
        </p:txBody>
      </p:sp>
      <p:sp>
        <p:nvSpPr>
          <p:cNvPr id="10" name="Rounded Rectangle 4">
            <a:extLst>
              <a:ext uri="{FF2B5EF4-FFF2-40B4-BE49-F238E27FC236}">
                <a16:creationId xmlns:a16="http://schemas.microsoft.com/office/drawing/2014/main" id="{5B74BB68-BA4C-751E-EA18-76FD26F7342C}"/>
              </a:ext>
            </a:extLst>
          </p:cNvPr>
          <p:cNvSpPr/>
          <p:nvPr/>
        </p:nvSpPr>
        <p:spPr>
          <a:xfrm>
            <a:off x="3938588" y="3032125"/>
            <a:ext cx="1266825" cy="793750"/>
          </a:xfrm>
          <a:prstGeom prst="rect">
            <a:avLst/>
          </a:prstGeom>
        </p:spPr>
        <p:style>
          <a:lnRef idx="0">
            <a:scrgbClr r="0" g="0" b="0"/>
          </a:lnRef>
          <a:fillRef idx="0">
            <a:scrgbClr r="0" g="0" b="0"/>
          </a:fillRef>
          <a:effectRef idx="0">
            <a:scrgbClr r="0" g="0" b="0"/>
          </a:effectRef>
          <a:fontRef idx="minor">
            <a:schemeClr val="lt1"/>
          </a:fontRef>
        </p:style>
        <p:txBody>
          <a:bodyPr lIns="53340" tIns="53340" rIns="53340" bIns="53340" spcCol="1270" anchor="ctr"/>
          <a:lstStyle/>
          <a:p>
            <a:pPr algn="ctr" defTabSz="622300">
              <a:lnSpc>
                <a:spcPct val="90000"/>
              </a:lnSpc>
              <a:spcAft>
                <a:spcPct val="35000"/>
              </a:spcAft>
              <a:defRPr/>
            </a:pPr>
            <a:r>
              <a:rPr lang="en-GB" sz="1400"/>
              <a:t>Plant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Content Placeholder 2">
            <a:extLst>
              <a:ext uri="{FF2B5EF4-FFF2-40B4-BE49-F238E27FC236}">
                <a16:creationId xmlns:a16="http://schemas.microsoft.com/office/drawing/2014/main" id="{2AD94406-5CD9-3F2A-47BE-BEEF118D843B}"/>
              </a:ext>
            </a:extLst>
          </p:cNvPr>
          <p:cNvSpPr>
            <a:spLocks noGrp="1"/>
          </p:cNvSpPr>
          <p:nvPr>
            <p:ph type="body" sz="quarter" idx="10"/>
          </p:nvPr>
        </p:nvSpPr>
        <p:spPr>
          <a:xfrm>
            <a:off x="614723" y="2039051"/>
            <a:ext cx="7087159"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p>
          <a:p>
            <a:r>
              <a:rPr lang="en-GB" altLang="en-US" sz="3200">
                <a:latin typeface="Palatino Linotype"/>
              </a:rPr>
              <a:t>Creative, imaginative, unorthodox. </a:t>
            </a:r>
          </a:p>
          <a:p>
            <a:r>
              <a:rPr lang="en-GB" altLang="en-US" sz="3200">
                <a:latin typeface="Palatino Linotype"/>
              </a:rPr>
              <a:t>Solves difficult problems</a:t>
            </a:r>
          </a:p>
          <a:p>
            <a:endParaRPr lang="en-GB" altLang="en-US" sz="3200" b="1" i="1">
              <a:latin typeface="Palatino Linotype"/>
            </a:endParaRPr>
          </a:p>
          <a:p>
            <a:pPr>
              <a:buFont typeface="Wingdings" panose="05000000000000000000" pitchFamily="2" charset="2"/>
              <a:buNone/>
            </a:pPr>
            <a:r>
              <a:rPr lang="en-GB" altLang="en-US" sz="3200" b="1" i="1">
                <a:latin typeface="Palatino Linotype"/>
              </a:rPr>
              <a:t>Allowable weaknesses</a:t>
            </a:r>
            <a:r>
              <a:rPr lang="en-GB" altLang="en-US" sz="3200">
                <a:latin typeface="Palatino Linotype"/>
              </a:rPr>
              <a:t>: </a:t>
            </a:r>
            <a:endParaRPr lang="en-GB"/>
          </a:p>
          <a:p>
            <a:r>
              <a:rPr lang="en-GB" altLang="en-US" sz="3200">
                <a:latin typeface="Palatino Linotype"/>
              </a:rPr>
              <a:t> ignores details, too pre-occupied to communicate effectively</a:t>
            </a:r>
          </a:p>
        </p:txBody>
      </p:sp>
      <p:sp>
        <p:nvSpPr>
          <p:cNvPr id="45058" name="Title 1">
            <a:extLst>
              <a:ext uri="{FF2B5EF4-FFF2-40B4-BE49-F238E27FC236}">
                <a16:creationId xmlns:a16="http://schemas.microsoft.com/office/drawing/2014/main" id="{9C5958E4-4BEF-1061-7321-4D6EF2E20F68}"/>
              </a:ext>
            </a:extLst>
          </p:cNvPr>
          <p:cNvSpPr>
            <a:spLocks noGrp="1"/>
          </p:cNvSpPr>
          <p:nvPr>
            <p:ph type="title" idx="4294967295"/>
          </p:nvPr>
        </p:nvSpPr>
        <p:spPr>
          <a:xfrm>
            <a:off x="0" y="765175"/>
            <a:ext cx="6121400" cy="890588"/>
          </a:xfrm>
        </p:spPr>
        <p:txBody>
          <a:bodyPr>
            <a:normAutofit/>
          </a:bodyPr>
          <a:lstStyle/>
          <a:p>
            <a:r>
              <a:rPr lang="en-GB" altLang="en-US" sz="3250" b="1">
                <a:latin typeface="Palatino Linotype"/>
              </a:rPr>
              <a:t>The Nine Team Roles! Plant:</a:t>
            </a:r>
          </a:p>
        </p:txBody>
      </p:sp>
      <p:pic>
        <p:nvPicPr>
          <p:cNvPr id="45060" name="Picture 6" descr="C:\Documents and Settings\55096613\Local Settings\Temporary Internet Files\Content.IE5\DBMNTVW1\MCNA00018_0000[1].wmf">
            <a:extLst>
              <a:ext uri="{FF2B5EF4-FFF2-40B4-BE49-F238E27FC236}">
                <a16:creationId xmlns:a16="http://schemas.microsoft.com/office/drawing/2014/main" id="{63A53FD6-2F89-A42B-C270-0256D5972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358063" y="4365625"/>
            <a:ext cx="1357312"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a:extLst>
              <a:ext uri="{FF2B5EF4-FFF2-40B4-BE49-F238E27FC236}">
                <a16:creationId xmlns:a16="http://schemas.microsoft.com/office/drawing/2014/main" id="{8BDBB8FC-37EF-7F73-66CA-B19C1C3630F8}"/>
              </a:ext>
            </a:extLst>
          </p:cNvPr>
          <p:cNvSpPr>
            <a:spLocks noGrp="1"/>
          </p:cNvSpPr>
          <p:nvPr>
            <p:ph type="body" sz="quarter" idx="10"/>
          </p:nvPr>
        </p:nvSpPr>
        <p:spPr>
          <a:xfrm>
            <a:off x="369794" y="1584184"/>
            <a:ext cx="6375700" cy="1388344"/>
          </a:xfrm>
        </p:spPr>
        <p:txBody>
          <a:bodyPr vert="horz" lIns="0" tIns="0" rIns="0" bIns="0" rtlCol="0" anchor="t">
            <a:noAutofit/>
          </a:bodyPr>
          <a:lstStyle/>
          <a:p>
            <a:r>
              <a:rPr lang="en-GB" altLang="en-US" sz="3200" b="1" i="1">
                <a:latin typeface="Palatino Linotype"/>
              </a:rPr>
              <a:t>Strengths:</a:t>
            </a:r>
            <a:endParaRPr lang="en-US"/>
          </a:p>
          <a:p>
            <a:r>
              <a:rPr lang="en-GB" altLang="en-US" sz="3200">
                <a:latin typeface="Palatino Linotype"/>
              </a:rPr>
              <a:t>Extrovert, enthusiastic, communicative.  </a:t>
            </a:r>
          </a:p>
          <a:p>
            <a:r>
              <a:rPr lang="en-GB" altLang="en-US" sz="3200">
                <a:latin typeface="Palatino Linotype"/>
              </a:rPr>
              <a:t>Explores opportunities; develops contacts</a:t>
            </a:r>
          </a:p>
          <a:p>
            <a:endParaRPr lang="en-GB" altLang="en-US" sz="3200">
              <a:latin typeface="Palatino Linotype"/>
            </a:endParaRPr>
          </a:p>
          <a:p>
            <a:r>
              <a:rPr lang="en-GB" altLang="en-US" sz="3200" b="1" i="1">
                <a:latin typeface="Palatino Linotype"/>
              </a:rPr>
              <a:t>Allowable weaknesses: </a:t>
            </a:r>
          </a:p>
          <a:p>
            <a:r>
              <a:rPr lang="en-GB" altLang="en-US" sz="3200">
                <a:latin typeface="Palatino Linotype"/>
              </a:rPr>
              <a:t>Over optimistic.  </a:t>
            </a:r>
          </a:p>
          <a:p>
            <a:r>
              <a:rPr lang="en-GB" altLang="en-US" sz="3200">
                <a:latin typeface="Palatino Linotype"/>
              </a:rPr>
              <a:t>Loses interest once initial enthusiasm has passed</a:t>
            </a:r>
          </a:p>
        </p:txBody>
      </p:sp>
      <p:sp>
        <p:nvSpPr>
          <p:cNvPr id="46082" name="Title 1">
            <a:extLst>
              <a:ext uri="{FF2B5EF4-FFF2-40B4-BE49-F238E27FC236}">
                <a16:creationId xmlns:a16="http://schemas.microsoft.com/office/drawing/2014/main" id="{2DE1F19B-903B-4290-A0F2-E0B1CA73D4B7}"/>
              </a:ext>
            </a:extLst>
          </p:cNvPr>
          <p:cNvSpPr>
            <a:spLocks noGrp="1"/>
          </p:cNvSpPr>
          <p:nvPr>
            <p:ph type="title" idx="4294967295"/>
          </p:nvPr>
        </p:nvSpPr>
        <p:spPr>
          <a:xfrm>
            <a:off x="0" y="692150"/>
            <a:ext cx="5111750" cy="522288"/>
          </a:xfrm>
        </p:spPr>
        <p:txBody>
          <a:bodyPr>
            <a:noAutofit/>
          </a:bodyPr>
          <a:lstStyle/>
          <a:p>
            <a:r>
              <a:rPr lang="en-GB" altLang="en-US" sz="3250" b="1" i="1">
                <a:latin typeface="Palatino Linotype"/>
              </a:rPr>
              <a:t>Resource Investigator:</a:t>
            </a:r>
            <a:endParaRPr lang="en-GB" altLang="en-US" sz="3250">
              <a:latin typeface="Palatino Linotype"/>
            </a:endParaRPr>
          </a:p>
        </p:txBody>
      </p:sp>
      <p:pic>
        <p:nvPicPr>
          <p:cNvPr id="46084" name="Picture 2" descr="C:\Program Files\Microsoft Office\MEDIA\CAGCAT10\j0149481.wmf">
            <a:extLst>
              <a:ext uri="{FF2B5EF4-FFF2-40B4-BE49-F238E27FC236}">
                <a16:creationId xmlns:a16="http://schemas.microsoft.com/office/drawing/2014/main" id="{ECA38151-87A9-76A3-48AA-432EBB59E2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3284538"/>
            <a:ext cx="24114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Content Placeholder 2">
            <a:extLst>
              <a:ext uri="{FF2B5EF4-FFF2-40B4-BE49-F238E27FC236}">
                <a16:creationId xmlns:a16="http://schemas.microsoft.com/office/drawing/2014/main" id="{493CCBA7-3081-D0CC-4911-BBF65BC507FF}"/>
              </a:ext>
            </a:extLst>
          </p:cNvPr>
          <p:cNvSpPr>
            <a:spLocks noGrp="1"/>
          </p:cNvSpPr>
          <p:nvPr>
            <p:ph type="body" sz="quarter" idx="10"/>
          </p:nvPr>
        </p:nvSpPr>
        <p:spPr>
          <a:xfrm>
            <a:off x="498090" y="2039051"/>
            <a:ext cx="6375700" cy="1388344"/>
          </a:xfrm>
        </p:spPr>
        <p:txBody>
          <a:bodyPr vert="horz" lIns="0" tIns="0" rIns="0" bIns="0" rtlCol="0" anchor="t">
            <a:noAutofit/>
          </a:bodyPr>
          <a:lstStyle/>
          <a:p>
            <a:pPr>
              <a:buFont typeface="Wingdings" panose="05000000000000000000" pitchFamily="2" charset="2"/>
              <a:buNone/>
            </a:pPr>
            <a:r>
              <a:rPr lang="en-GB" altLang="en-US" sz="2800" b="1" i="1">
                <a:latin typeface="Palatino Linotype"/>
              </a:rPr>
              <a:t>Strengths:</a:t>
            </a:r>
          </a:p>
          <a:p>
            <a:r>
              <a:rPr lang="en-GB" altLang="en-US" sz="2800">
                <a:latin typeface="Palatino Linotype"/>
              </a:rPr>
              <a:t>Mature, confident, a good chair-person. </a:t>
            </a:r>
          </a:p>
          <a:p>
            <a:r>
              <a:rPr lang="en-GB" altLang="en-US" sz="2800">
                <a:latin typeface="Palatino Linotype"/>
              </a:rPr>
              <a:t>Clarifies goals, promotes decision making, delegates well</a:t>
            </a:r>
          </a:p>
          <a:p>
            <a:endParaRPr lang="en-GB" altLang="en-US" sz="2800">
              <a:latin typeface="Palatino Linotype"/>
            </a:endParaRPr>
          </a:p>
          <a:p>
            <a:pPr>
              <a:buFont typeface="Wingdings" panose="05000000000000000000" pitchFamily="2" charset="2"/>
              <a:buNone/>
            </a:pPr>
            <a:r>
              <a:rPr lang="en-GB" altLang="en-US" sz="2800" b="1" i="1">
                <a:latin typeface="Palatino Linotype"/>
              </a:rPr>
              <a:t>Allowable weaknesses: </a:t>
            </a:r>
          </a:p>
          <a:p>
            <a:r>
              <a:rPr lang="en-GB" altLang="en-US" sz="2800">
                <a:latin typeface="Palatino Linotype"/>
              </a:rPr>
              <a:t>Can be seen as manipulative.  Delegates personal work</a:t>
            </a:r>
          </a:p>
        </p:txBody>
      </p:sp>
      <p:sp>
        <p:nvSpPr>
          <p:cNvPr id="47106" name="Title 1">
            <a:extLst>
              <a:ext uri="{FF2B5EF4-FFF2-40B4-BE49-F238E27FC236}">
                <a16:creationId xmlns:a16="http://schemas.microsoft.com/office/drawing/2014/main" id="{7E2766CD-F2CC-4D54-C037-C333A85631CE}"/>
              </a:ext>
            </a:extLst>
          </p:cNvPr>
          <p:cNvSpPr>
            <a:spLocks noGrp="1"/>
          </p:cNvSpPr>
          <p:nvPr>
            <p:ph type="title" idx="4294967295"/>
          </p:nvPr>
        </p:nvSpPr>
        <p:spPr>
          <a:xfrm>
            <a:off x="117379" y="971161"/>
            <a:ext cx="8898325" cy="747713"/>
          </a:xfrm>
        </p:spPr>
        <p:txBody>
          <a:bodyPr>
            <a:normAutofit fontScale="90000"/>
          </a:bodyPr>
          <a:lstStyle/>
          <a:p>
            <a:r>
              <a:rPr lang="en-GB" altLang="en-US" sz="4000" b="1" i="1">
                <a:latin typeface="Palatino Linotype"/>
              </a:rPr>
              <a:t>Co-ordinator:  </a:t>
            </a:r>
            <a:br>
              <a:rPr lang="en-GB" altLang="en-US" sz="4000" b="1" i="1"/>
            </a:br>
            <a:endParaRPr lang="en-GB" altLang="en-US" sz="4000"/>
          </a:p>
        </p:txBody>
      </p:sp>
      <p:pic>
        <p:nvPicPr>
          <p:cNvPr id="47108" name="Picture 2" descr="C:\Program Files\Microsoft Office\MEDIA\CAGCAT10\j0240719.wmf">
            <a:extLst>
              <a:ext uri="{FF2B5EF4-FFF2-40B4-BE49-F238E27FC236}">
                <a16:creationId xmlns:a16="http://schemas.microsoft.com/office/drawing/2014/main" id="{7BBB1FF6-7AC8-96E9-5E5E-0D7578E46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429500" y="4365625"/>
            <a:ext cx="127476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Content Placeholder 2">
            <a:extLst>
              <a:ext uri="{FF2B5EF4-FFF2-40B4-BE49-F238E27FC236}">
                <a16:creationId xmlns:a16="http://schemas.microsoft.com/office/drawing/2014/main" id="{34CEB20C-2757-E83A-4F4D-1A53E190D7FA}"/>
              </a:ext>
            </a:extLst>
          </p:cNvPr>
          <p:cNvSpPr>
            <a:spLocks noGrp="1"/>
          </p:cNvSpPr>
          <p:nvPr>
            <p:ph type="body" sz="quarter" idx="10"/>
          </p:nvPr>
        </p:nvSpPr>
        <p:spPr>
          <a:xfrm>
            <a:off x="416447" y="1584184"/>
            <a:ext cx="6853893"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p>
          <a:p>
            <a:r>
              <a:rPr lang="en-GB" altLang="en-US" sz="3200">
                <a:latin typeface="Palatino Linotype"/>
              </a:rPr>
              <a:t>Challenging, dynamic, thrives on pressure. </a:t>
            </a:r>
          </a:p>
          <a:p>
            <a:r>
              <a:rPr lang="en-GB" altLang="en-US" sz="3200">
                <a:latin typeface="Palatino Linotype"/>
              </a:rPr>
              <a:t>Has the drive and courage to overcome obstacles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a:t>
            </a:r>
            <a:r>
              <a:rPr lang="en-GB" altLang="en-US" sz="3200">
                <a:latin typeface="Palatino Linotype"/>
              </a:rPr>
              <a:t>: </a:t>
            </a:r>
          </a:p>
          <a:p>
            <a:r>
              <a:rPr lang="en-GB" altLang="en-US" sz="3200">
                <a:latin typeface="Palatino Linotype"/>
              </a:rPr>
              <a:t>Can provoke others. </a:t>
            </a:r>
          </a:p>
          <a:p>
            <a:r>
              <a:rPr lang="en-GB" altLang="en-US" sz="3200">
                <a:latin typeface="Palatino Linotype"/>
              </a:rPr>
              <a:t>Tends to hurt people’s </a:t>
            </a:r>
          </a:p>
          <a:p>
            <a:pPr>
              <a:buFontTx/>
              <a:buNone/>
            </a:pPr>
            <a:r>
              <a:rPr lang="en-GB" altLang="en-US" sz="3200">
                <a:latin typeface="Palatino Linotype"/>
              </a:rPr>
              <a:t>    feelings</a:t>
            </a:r>
          </a:p>
          <a:p>
            <a:pPr>
              <a:buFont typeface="Wingdings" panose="05000000000000000000" pitchFamily="2" charset="2"/>
              <a:buNone/>
            </a:pPr>
            <a:endParaRPr lang="en-GB" altLang="en-US" sz="3200"/>
          </a:p>
        </p:txBody>
      </p:sp>
      <p:sp>
        <p:nvSpPr>
          <p:cNvPr id="48130" name="Title 1">
            <a:extLst>
              <a:ext uri="{FF2B5EF4-FFF2-40B4-BE49-F238E27FC236}">
                <a16:creationId xmlns:a16="http://schemas.microsoft.com/office/drawing/2014/main" id="{56FCFA45-1B53-19CD-8580-FBCF97FC5E69}"/>
              </a:ext>
            </a:extLst>
          </p:cNvPr>
          <p:cNvSpPr>
            <a:spLocks noGrp="1"/>
          </p:cNvSpPr>
          <p:nvPr>
            <p:ph type="title" idx="4294967295"/>
          </p:nvPr>
        </p:nvSpPr>
        <p:spPr>
          <a:xfrm>
            <a:off x="2280784" y="1192763"/>
            <a:ext cx="6046787" cy="515938"/>
          </a:xfrm>
        </p:spPr>
        <p:txBody>
          <a:bodyPr>
            <a:normAutofit fontScale="90000"/>
          </a:bodyPr>
          <a:lstStyle/>
          <a:p>
            <a:r>
              <a:rPr lang="en-GB" altLang="en-US" sz="4000" b="1" i="1"/>
              <a:t>Shaper:  </a:t>
            </a:r>
            <a:br>
              <a:rPr lang="en-GB" altLang="en-US" sz="4000" b="1" i="1"/>
            </a:br>
            <a:endParaRPr lang="en-GB" altLang="en-US" sz="4000"/>
          </a:p>
        </p:txBody>
      </p:sp>
      <p:pic>
        <p:nvPicPr>
          <p:cNvPr id="48132" name="Picture 2" descr="C:\Program Files\Microsoft Office\MEDIA\CAGCAT10\j0234657.wmf">
            <a:extLst>
              <a:ext uri="{FF2B5EF4-FFF2-40B4-BE49-F238E27FC236}">
                <a16:creationId xmlns:a16="http://schemas.microsoft.com/office/drawing/2014/main" id="{45CC68A2-1D47-B502-6BED-BC4CB841B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63" y="4714875"/>
            <a:ext cx="191135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a:extLst>
              <a:ext uri="{FF2B5EF4-FFF2-40B4-BE49-F238E27FC236}">
                <a16:creationId xmlns:a16="http://schemas.microsoft.com/office/drawing/2014/main" id="{3FE9136F-B608-1941-D3ED-A6B6F3419C0E}"/>
              </a:ext>
            </a:extLst>
          </p:cNvPr>
          <p:cNvSpPr>
            <a:spLocks noGrp="1"/>
          </p:cNvSpPr>
          <p:nvPr>
            <p:ph type="body" sz="quarter" idx="10"/>
          </p:nvPr>
        </p:nvSpPr>
        <p:spPr>
          <a:xfrm>
            <a:off x="463100" y="1712480"/>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Sober, strategic and discerning.</a:t>
            </a:r>
          </a:p>
          <a:p>
            <a:r>
              <a:rPr lang="en-GB" altLang="en-US" sz="3200">
                <a:latin typeface="Palatino Linotype"/>
              </a:rPr>
              <a:t> Sees all options.  </a:t>
            </a:r>
          </a:p>
          <a:p>
            <a:r>
              <a:rPr lang="en-GB" altLang="en-US" sz="3200">
                <a:latin typeface="Palatino Linotype"/>
              </a:rPr>
              <a:t>Judges accurately</a:t>
            </a:r>
          </a:p>
          <a:p>
            <a:pPr>
              <a:buFont typeface="Wingdings" panose="05000000000000000000" pitchFamily="2" charset="2"/>
              <a:buNone/>
            </a:pPr>
            <a:endParaRPr lang="en-GB" altLang="en-US" sz="3200"/>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Lacks drive and ability</a:t>
            </a:r>
          </a:p>
          <a:p>
            <a:pPr>
              <a:buFontTx/>
              <a:buNone/>
            </a:pPr>
            <a:r>
              <a:rPr lang="en-GB" altLang="en-US" sz="3200">
                <a:latin typeface="Palatino Linotype"/>
              </a:rPr>
              <a:t>    to inspire others. </a:t>
            </a:r>
          </a:p>
          <a:p>
            <a:r>
              <a:rPr lang="en-GB" altLang="en-US" sz="3200">
                <a:latin typeface="Palatino Linotype"/>
              </a:rPr>
              <a:t>Overly critical</a:t>
            </a:r>
          </a:p>
          <a:p>
            <a:endParaRPr lang="en-GB" altLang="en-US"/>
          </a:p>
        </p:txBody>
      </p:sp>
      <p:sp>
        <p:nvSpPr>
          <p:cNvPr id="49154" name="Title 1">
            <a:extLst>
              <a:ext uri="{FF2B5EF4-FFF2-40B4-BE49-F238E27FC236}">
                <a16:creationId xmlns:a16="http://schemas.microsoft.com/office/drawing/2014/main" id="{9F9AB81D-4DD8-0637-6528-A2F38CC54BCA}"/>
              </a:ext>
            </a:extLst>
          </p:cNvPr>
          <p:cNvSpPr>
            <a:spLocks noGrp="1"/>
          </p:cNvSpPr>
          <p:nvPr>
            <p:ph type="title" idx="4294967295"/>
          </p:nvPr>
        </p:nvSpPr>
        <p:spPr>
          <a:xfrm>
            <a:off x="1330358" y="923958"/>
            <a:ext cx="5830887" cy="647700"/>
          </a:xfrm>
        </p:spPr>
        <p:txBody>
          <a:bodyPr>
            <a:normAutofit fontScale="90000"/>
          </a:bodyPr>
          <a:lstStyle/>
          <a:p>
            <a:r>
              <a:rPr lang="en-GB" altLang="en-US" b="1" i="1"/>
              <a:t>Monitor Evaluator:  </a:t>
            </a:r>
            <a:br>
              <a:rPr lang="en-GB" altLang="en-US" b="1" i="1"/>
            </a:br>
            <a:endParaRPr lang="en-GB" altLang="en-US"/>
          </a:p>
        </p:txBody>
      </p:sp>
      <p:pic>
        <p:nvPicPr>
          <p:cNvPr id="49156" name="Picture 2" descr="C:\Program Files\Microsoft Office\MEDIA\CAGCAT10\j0291984.wmf">
            <a:extLst>
              <a:ext uri="{FF2B5EF4-FFF2-40B4-BE49-F238E27FC236}">
                <a16:creationId xmlns:a16="http://schemas.microsoft.com/office/drawing/2014/main" id="{0EFA759A-A04F-B8D5-4DA8-9FC71812F2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4500563"/>
            <a:ext cx="1808162"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Content Placeholder 2">
            <a:extLst>
              <a:ext uri="{FF2B5EF4-FFF2-40B4-BE49-F238E27FC236}">
                <a16:creationId xmlns:a16="http://schemas.microsoft.com/office/drawing/2014/main" id="{1D5C0155-22A6-1E34-526A-8190098A99F0}"/>
              </a:ext>
            </a:extLst>
          </p:cNvPr>
          <p:cNvSpPr>
            <a:spLocks noGrp="1"/>
          </p:cNvSpPr>
          <p:nvPr>
            <p:ph type="body" sz="quarter" idx="10"/>
          </p:nvPr>
        </p:nvSpPr>
        <p:spPr>
          <a:xfrm>
            <a:off x="358131" y="1374245"/>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p>
          <a:p>
            <a:r>
              <a:rPr lang="en-GB" altLang="en-US" sz="3200">
                <a:latin typeface="Palatino Linotype"/>
              </a:rPr>
              <a:t>Co-operative, mild, perceptive and diplomatic.  </a:t>
            </a:r>
          </a:p>
          <a:p>
            <a:r>
              <a:rPr lang="en-GB" altLang="en-US" sz="3200">
                <a:latin typeface="Palatino Linotype"/>
              </a:rPr>
              <a:t>Listens, builds, averts friction, calms the waters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Indecisive in crunch</a:t>
            </a:r>
          </a:p>
          <a:p>
            <a:pPr>
              <a:buFontTx/>
              <a:buNone/>
            </a:pPr>
            <a:r>
              <a:rPr lang="en-GB" altLang="en-US" sz="3200">
                <a:latin typeface="Palatino Linotype"/>
              </a:rPr>
              <a:t> situations.</a:t>
            </a:r>
          </a:p>
          <a:p>
            <a:r>
              <a:rPr lang="en-GB" altLang="en-US" sz="3200">
                <a:latin typeface="Palatino Linotype"/>
              </a:rPr>
              <a:t> Can be easily influenced</a:t>
            </a:r>
          </a:p>
          <a:p>
            <a:pPr>
              <a:buFont typeface="Wingdings" panose="05000000000000000000" pitchFamily="2" charset="2"/>
              <a:buNone/>
            </a:pPr>
            <a:endParaRPr lang="en-GB" altLang="en-US" sz="3200"/>
          </a:p>
        </p:txBody>
      </p:sp>
      <p:sp>
        <p:nvSpPr>
          <p:cNvPr id="50178" name="Title 1">
            <a:extLst>
              <a:ext uri="{FF2B5EF4-FFF2-40B4-BE49-F238E27FC236}">
                <a16:creationId xmlns:a16="http://schemas.microsoft.com/office/drawing/2014/main" id="{4D85B396-6448-8F30-97C3-B289A2487593}"/>
              </a:ext>
            </a:extLst>
          </p:cNvPr>
          <p:cNvSpPr>
            <a:spLocks noGrp="1"/>
          </p:cNvSpPr>
          <p:nvPr>
            <p:ph type="title" idx="4294967295"/>
          </p:nvPr>
        </p:nvSpPr>
        <p:spPr>
          <a:xfrm>
            <a:off x="1391719" y="788501"/>
            <a:ext cx="5757862" cy="592138"/>
          </a:xfrm>
        </p:spPr>
        <p:txBody>
          <a:bodyPr vert="horz" lIns="91440" tIns="45720" rIns="91440" bIns="45720" rtlCol="0" anchor="ctr">
            <a:noAutofit/>
          </a:bodyPr>
          <a:lstStyle/>
          <a:p>
            <a:r>
              <a:rPr lang="en-GB" altLang="en-US" sz="3250">
                <a:latin typeface="Palatino Linotype"/>
              </a:rPr>
              <a:t>  </a:t>
            </a:r>
            <a:r>
              <a:rPr lang="en-GB" altLang="en-US" sz="3250" b="1" i="1">
                <a:latin typeface="Palatino Linotype"/>
              </a:rPr>
              <a:t>Team worker:  </a:t>
            </a:r>
            <a:br>
              <a:rPr lang="en-GB" altLang="en-US" sz="3250" b="1" i="1"/>
            </a:br>
            <a:endParaRPr lang="en-GB" altLang="en-US"/>
          </a:p>
        </p:txBody>
      </p:sp>
      <p:pic>
        <p:nvPicPr>
          <p:cNvPr id="50180" name="Picture 2" descr="C:\Program Files\Microsoft Office\MEDIA\CAGCAT10\j0233018.wmf">
            <a:extLst>
              <a:ext uri="{FF2B5EF4-FFF2-40B4-BE49-F238E27FC236}">
                <a16:creationId xmlns:a16="http://schemas.microsoft.com/office/drawing/2014/main" id="{30AAD788-5F4E-4952-317B-26DC27787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0" y="4786313"/>
            <a:ext cx="2465388"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Content Placeholder 2">
            <a:extLst>
              <a:ext uri="{FF2B5EF4-FFF2-40B4-BE49-F238E27FC236}">
                <a16:creationId xmlns:a16="http://schemas.microsoft.com/office/drawing/2014/main" id="{2E5C228A-1BF5-0BA1-38D5-4340A2226322}"/>
              </a:ext>
            </a:extLst>
          </p:cNvPr>
          <p:cNvSpPr>
            <a:spLocks noGrp="1"/>
          </p:cNvSpPr>
          <p:nvPr>
            <p:ph type="body" sz="quarter" idx="10"/>
          </p:nvPr>
        </p:nvSpPr>
        <p:spPr>
          <a:xfrm>
            <a:off x="579733" y="1560857"/>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endParaRPr lang="en-GB" altLang="en-US" sz="3200" i="1">
              <a:latin typeface="Palatino Linotype"/>
            </a:endParaRPr>
          </a:p>
          <a:p>
            <a:r>
              <a:rPr lang="en-GB" altLang="en-US" sz="3200">
                <a:latin typeface="Palatino Linotype"/>
              </a:rPr>
              <a:t>Disciplined, reliable, conservative and efficient. </a:t>
            </a:r>
          </a:p>
          <a:p>
            <a:r>
              <a:rPr lang="en-GB" altLang="en-US" sz="3200">
                <a:latin typeface="Palatino Linotype"/>
              </a:rPr>
              <a:t> Turns ideas into practical actions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Somewhat inflexible.</a:t>
            </a:r>
          </a:p>
          <a:p>
            <a:r>
              <a:rPr lang="en-GB" altLang="en-US" sz="3200">
                <a:latin typeface="Palatino Linotype"/>
              </a:rPr>
              <a:t>  Slow to respond to new</a:t>
            </a:r>
          </a:p>
          <a:p>
            <a:pPr>
              <a:buFontTx/>
              <a:buNone/>
            </a:pPr>
            <a:r>
              <a:rPr lang="en-GB" altLang="en-US" sz="3200">
                <a:latin typeface="Palatino Linotype"/>
              </a:rPr>
              <a:t>       possibilities</a:t>
            </a:r>
          </a:p>
          <a:p>
            <a:endParaRPr lang="en-GB" altLang="en-US" sz="3200"/>
          </a:p>
        </p:txBody>
      </p:sp>
      <p:sp>
        <p:nvSpPr>
          <p:cNvPr id="51202" name="Title 1">
            <a:extLst>
              <a:ext uri="{FF2B5EF4-FFF2-40B4-BE49-F238E27FC236}">
                <a16:creationId xmlns:a16="http://schemas.microsoft.com/office/drawing/2014/main" id="{134726DD-C592-7D49-EC6E-D68592724803}"/>
              </a:ext>
            </a:extLst>
          </p:cNvPr>
          <p:cNvSpPr>
            <a:spLocks noGrp="1"/>
          </p:cNvSpPr>
          <p:nvPr>
            <p:ph type="title" idx="4294967295"/>
          </p:nvPr>
        </p:nvSpPr>
        <p:spPr>
          <a:xfrm>
            <a:off x="2145328" y="1192763"/>
            <a:ext cx="5902325" cy="747713"/>
          </a:xfrm>
        </p:spPr>
        <p:txBody>
          <a:bodyPr>
            <a:normAutofit fontScale="90000"/>
          </a:bodyPr>
          <a:lstStyle/>
          <a:p>
            <a:r>
              <a:rPr lang="en-GB" altLang="en-US" b="1" i="1"/>
              <a:t>Implementer:  </a:t>
            </a:r>
            <a:br>
              <a:rPr lang="en-GB" altLang="en-US" b="1" i="1"/>
            </a:br>
            <a:br>
              <a:rPr lang="en-GB" altLang="en-US" b="1" i="1"/>
            </a:br>
            <a:endParaRPr lang="en-GB" altLang="en-US"/>
          </a:p>
        </p:txBody>
      </p:sp>
      <p:pic>
        <p:nvPicPr>
          <p:cNvPr id="51204" name="Picture 2" descr="C:\Program Files\Microsoft Office\MEDIA\CAGCAT10\j0240695.wmf">
            <a:extLst>
              <a:ext uri="{FF2B5EF4-FFF2-40B4-BE49-F238E27FC236}">
                <a16:creationId xmlns:a16="http://schemas.microsoft.com/office/drawing/2014/main" id="{3B24CF6D-C4ED-906A-05C1-F3AADA924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63" y="4857750"/>
            <a:ext cx="1825625"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694741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a:extLst>
              <a:ext uri="{FF2B5EF4-FFF2-40B4-BE49-F238E27FC236}">
                <a16:creationId xmlns:a16="http://schemas.microsoft.com/office/drawing/2014/main" id="{0231D60C-5776-C5A9-C3DF-A0D63B1DA917}"/>
              </a:ext>
            </a:extLst>
          </p:cNvPr>
          <p:cNvSpPr>
            <a:spLocks noGrp="1"/>
          </p:cNvSpPr>
          <p:nvPr>
            <p:ph type="body" sz="quarter" idx="10"/>
          </p:nvPr>
        </p:nvSpPr>
        <p:spPr>
          <a:xfrm>
            <a:off x="556406" y="1572521"/>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Painstakingly conscientious, anxious.  </a:t>
            </a:r>
          </a:p>
          <a:p>
            <a:r>
              <a:rPr lang="en-GB" altLang="en-US" sz="3200">
                <a:latin typeface="Palatino Linotype"/>
              </a:rPr>
              <a:t>Searches out errors and omissions.  </a:t>
            </a:r>
          </a:p>
          <a:p>
            <a:r>
              <a:rPr lang="en-GB" altLang="en-US" sz="3200">
                <a:latin typeface="Palatino Linotype"/>
              </a:rPr>
              <a:t>Delivers on time</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Inclined to worry unduly. </a:t>
            </a:r>
          </a:p>
          <a:p>
            <a:r>
              <a:rPr lang="en-GB" altLang="en-US" sz="3200">
                <a:latin typeface="Palatino Linotype"/>
              </a:rPr>
              <a:t> Reluctant to delegate. </a:t>
            </a:r>
          </a:p>
          <a:p>
            <a:r>
              <a:rPr lang="en-GB" altLang="en-US" sz="3200">
                <a:latin typeface="Palatino Linotype"/>
              </a:rPr>
              <a:t>Can be a nit-picker</a:t>
            </a:r>
          </a:p>
        </p:txBody>
      </p:sp>
      <p:sp>
        <p:nvSpPr>
          <p:cNvPr id="52226" name="Title 1">
            <a:extLst>
              <a:ext uri="{FF2B5EF4-FFF2-40B4-BE49-F238E27FC236}">
                <a16:creationId xmlns:a16="http://schemas.microsoft.com/office/drawing/2014/main" id="{5CD45C27-CE19-D913-BAA4-404C2AC1A727}"/>
              </a:ext>
            </a:extLst>
          </p:cNvPr>
          <p:cNvSpPr>
            <a:spLocks noGrp="1"/>
          </p:cNvSpPr>
          <p:nvPr>
            <p:ph type="title" idx="4294967295"/>
          </p:nvPr>
        </p:nvSpPr>
        <p:spPr>
          <a:xfrm>
            <a:off x="1321740" y="670638"/>
            <a:ext cx="5757862" cy="785813"/>
          </a:xfrm>
        </p:spPr>
        <p:txBody>
          <a:bodyPr>
            <a:normAutofit fontScale="90000"/>
          </a:bodyPr>
          <a:lstStyle/>
          <a:p>
            <a:br>
              <a:rPr lang="en-GB" altLang="en-US" b="1" i="1"/>
            </a:br>
            <a:r>
              <a:rPr lang="en-GB" altLang="en-US" b="1" i="1"/>
              <a:t>Completer/finisher:  </a:t>
            </a:r>
            <a:br>
              <a:rPr lang="en-GB" altLang="en-US" b="1" i="1"/>
            </a:br>
            <a:endParaRPr lang="en-GB" altLang="en-US"/>
          </a:p>
        </p:txBody>
      </p:sp>
      <p:pic>
        <p:nvPicPr>
          <p:cNvPr id="52228" name="Picture 2" descr="C:\Program Files\Microsoft Office\MEDIA\CAGCAT10\j0283209.gif">
            <a:extLst>
              <a:ext uri="{FF2B5EF4-FFF2-40B4-BE49-F238E27FC236}">
                <a16:creationId xmlns:a16="http://schemas.microsoft.com/office/drawing/2014/main" id="{1B7C11C9-538C-EA88-ED1C-C9D128DFD7E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929438" y="4786313"/>
            <a:ext cx="18954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Content Placeholder 2">
            <a:extLst>
              <a:ext uri="{FF2B5EF4-FFF2-40B4-BE49-F238E27FC236}">
                <a16:creationId xmlns:a16="http://schemas.microsoft.com/office/drawing/2014/main" id="{218D00A6-82A5-1F99-D3C8-7428E658B2F3}"/>
              </a:ext>
            </a:extLst>
          </p:cNvPr>
          <p:cNvSpPr>
            <a:spLocks noGrp="1"/>
          </p:cNvSpPr>
          <p:nvPr>
            <p:ph type="body" sz="quarter" idx="10"/>
          </p:nvPr>
        </p:nvSpPr>
        <p:spPr>
          <a:xfrm>
            <a:off x="288151" y="1549194"/>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Single-minded, self-starting, dedicated. </a:t>
            </a:r>
          </a:p>
          <a:p>
            <a:r>
              <a:rPr lang="en-GB" altLang="en-US" sz="3200">
                <a:latin typeface="Palatino Linotype"/>
              </a:rPr>
              <a:t> Provides knowledge and skills in short supply</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Contributes on only a narrow front</a:t>
            </a:r>
          </a:p>
          <a:p>
            <a:r>
              <a:rPr lang="en-GB" altLang="en-US" sz="3200">
                <a:latin typeface="Palatino Linotype"/>
              </a:rPr>
              <a:t>Dwells on technicalities </a:t>
            </a:r>
          </a:p>
          <a:p>
            <a:r>
              <a:rPr lang="en-GB" altLang="en-US" sz="3200">
                <a:latin typeface="Palatino Linotype"/>
              </a:rPr>
              <a:t>Overlooks the ‘big picture’.</a:t>
            </a:r>
          </a:p>
        </p:txBody>
      </p:sp>
      <p:sp>
        <p:nvSpPr>
          <p:cNvPr id="53250" name="Title 1">
            <a:extLst>
              <a:ext uri="{FF2B5EF4-FFF2-40B4-BE49-F238E27FC236}">
                <a16:creationId xmlns:a16="http://schemas.microsoft.com/office/drawing/2014/main" id="{46BA89B6-1221-D799-E74C-3866846518E7}"/>
              </a:ext>
            </a:extLst>
          </p:cNvPr>
          <p:cNvSpPr>
            <a:spLocks noGrp="1"/>
          </p:cNvSpPr>
          <p:nvPr>
            <p:ph type="title" idx="4294967295"/>
          </p:nvPr>
        </p:nvSpPr>
        <p:spPr>
          <a:xfrm>
            <a:off x="284908" y="696880"/>
            <a:ext cx="6118225" cy="857250"/>
          </a:xfrm>
        </p:spPr>
        <p:txBody>
          <a:bodyPr vert="horz" lIns="91440" tIns="45720" rIns="91440" bIns="45720" rtlCol="0" anchor="ctr">
            <a:noAutofit/>
          </a:bodyPr>
          <a:lstStyle/>
          <a:p>
            <a:pPr algn="ctr"/>
            <a:br>
              <a:rPr lang="en-GB" altLang="en-US" sz="3250" b="1" i="1"/>
            </a:br>
            <a:r>
              <a:rPr lang="en-GB" altLang="en-US" sz="3250" b="1" i="1">
                <a:latin typeface="Palatino Linotype"/>
              </a:rPr>
              <a:t>Specialist:  </a:t>
            </a:r>
            <a:br>
              <a:rPr lang="en-GB" altLang="en-US" sz="3250" b="1" i="1"/>
            </a:br>
            <a:endParaRPr lang="en-GB" altLang="en-US"/>
          </a:p>
        </p:txBody>
      </p:sp>
      <p:pic>
        <p:nvPicPr>
          <p:cNvPr id="53252" name="Picture 2" descr="C:\Program Files\Microsoft Office\MEDIA\CAGCAT10\j0195384.wmf">
            <a:extLst>
              <a:ext uri="{FF2B5EF4-FFF2-40B4-BE49-F238E27FC236}">
                <a16:creationId xmlns:a16="http://schemas.microsoft.com/office/drawing/2014/main" id="{E6DB0DCC-8BC7-B220-C780-E8383E597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8538" y="4786313"/>
            <a:ext cx="1795462"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0500-F162-8B4D-97F4-1DD54772F788}"/>
              </a:ext>
            </a:extLst>
          </p:cNvPr>
          <p:cNvSpPr>
            <a:spLocks noGrp="1"/>
          </p:cNvSpPr>
          <p:nvPr>
            <p:ph type="title"/>
          </p:nvPr>
        </p:nvSpPr>
        <p:spPr>
          <a:xfrm>
            <a:off x="857725" y="4077072"/>
            <a:ext cx="8316140" cy="1061499"/>
          </a:xfrm>
        </p:spPr>
        <p:txBody>
          <a:bodyPr>
            <a:normAutofit/>
          </a:bodyPr>
          <a:lstStyle/>
          <a:p>
            <a:r>
              <a:rPr lang="en-GB" dirty="0">
                <a:latin typeface="Arial"/>
                <a:cs typeface="Arial"/>
              </a:rPr>
              <a:t>Leadership!</a:t>
            </a:r>
          </a:p>
        </p:txBody>
      </p:sp>
      <p:sp>
        <p:nvSpPr>
          <p:cNvPr id="5" name="TextBox 4">
            <a:extLst>
              <a:ext uri="{FF2B5EF4-FFF2-40B4-BE49-F238E27FC236}">
                <a16:creationId xmlns:a16="http://schemas.microsoft.com/office/drawing/2014/main" id="{8E3CFE1E-D8FF-4CAD-AA16-3AB8680D3D99}"/>
              </a:ext>
            </a:extLst>
          </p:cNvPr>
          <p:cNvSpPr txBox="1"/>
          <p:nvPr/>
        </p:nvSpPr>
        <p:spPr>
          <a:xfrm>
            <a:off x="456137" y="5066233"/>
            <a:ext cx="8316140" cy="646331"/>
          </a:xfrm>
          <a:prstGeom prst="rect">
            <a:avLst/>
          </a:prstGeom>
          <a:noFill/>
        </p:spPr>
        <p:txBody>
          <a:bodyPr wrap="square" lIns="91440" tIns="45720" rIns="91440" bIns="45720" anchor="t">
            <a:spAutoFit/>
          </a:bodyPr>
          <a:lstStyle/>
          <a:p>
            <a:endParaRPr lang="en-US" sz="1800" dirty="0">
              <a:solidFill>
                <a:schemeClr val="bg1"/>
              </a:solidFill>
              <a:cs typeface="Arial"/>
            </a:endParaRPr>
          </a:p>
          <a:p>
            <a:endParaRPr lang="en-GB" sz="1800" dirty="0">
              <a:solidFill>
                <a:schemeClr val="bg1"/>
              </a:solidFill>
            </a:endParaRPr>
          </a:p>
        </p:txBody>
      </p:sp>
    </p:spTree>
    <p:extLst>
      <p:ext uri="{BB962C8B-B14F-4D97-AF65-F5344CB8AC3E}">
        <p14:creationId xmlns:p14="http://schemas.microsoft.com/office/powerpoint/2010/main" val="392544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A44174-0ABA-688F-494A-3ADB091F288A}"/>
              </a:ext>
            </a:extLst>
          </p:cNvPr>
          <p:cNvSpPr>
            <a:spLocks noGrp="1"/>
          </p:cNvSpPr>
          <p:nvPr>
            <p:ph type="body" sz="quarter" idx="11"/>
          </p:nvPr>
        </p:nvSpPr>
        <p:spPr>
          <a:xfrm>
            <a:off x="682691" y="1074939"/>
            <a:ext cx="7968636" cy="420264"/>
          </a:xfrm>
        </p:spPr>
        <p:txBody>
          <a:bodyPr vert="horz" lIns="0" tIns="0" rIns="0" bIns="0" rtlCol="0" anchor="t">
            <a:noAutofit/>
          </a:bodyPr>
          <a:lstStyle/>
          <a:p>
            <a:pPr algn="ctr"/>
            <a:r>
              <a:rPr lang="en-GB" sz="2700" dirty="0">
                <a:latin typeface="Palatino Linotype"/>
              </a:rPr>
              <a:t>What is Leadership?</a:t>
            </a:r>
            <a:endParaRPr lang="en-US" sz="2700" dirty="0">
              <a:latin typeface="Palatino Linotype"/>
            </a:endParaRPr>
          </a:p>
        </p:txBody>
      </p:sp>
      <p:sp>
        <p:nvSpPr>
          <p:cNvPr id="3" name="Content Placeholder 2">
            <a:extLst>
              <a:ext uri="{FF2B5EF4-FFF2-40B4-BE49-F238E27FC236}">
                <a16:creationId xmlns:a16="http://schemas.microsoft.com/office/drawing/2014/main" id="{5715DB7C-8258-F410-0D43-09E23BE6BA37}"/>
              </a:ext>
            </a:extLst>
          </p:cNvPr>
          <p:cNvSpPr>
            <a:spLocks noGrp="1"/>
          </p:cNvSpPr>
          <p:nvPr>
            <p:ph idx="12"/>
          </p:nvPr>
        </p:nvSpPr>
        <p:spPr>
          <a:xfrm>
            <a:off x="326558" y="1691842"/>
            <a:ext cx="8470601" cy="4094915"/>
          </a:xfrm>
        </p:spPr>
        <p:txBody>
          <a:bodyPr vert="horz" lIns="68580" tIns="34290" rIns="68580" bIns="34290" rtlCol="0" anchor="t">
            <a:normAutofit fontScale="85000" lnSpcReduction="10000"/>
          </a:bodyPr>
          <a:lstStyle/>
          <a:p>
            <a:pPr marL="170974" indent="-170974"/>
            <a:r>
              <a:rPr lang="en-US" sz="2400" dirty="0">
                <a:latin typeface="Arial"/>
                <a:cs typeface="Arial"/>
              </a:rPr>
              <a:t>Leadership is a set of behaviors used to help people align their collective direction, to execute strategic plans, and to continually renew an organization- </a:t>
            </a:r>
            <a:r>
              <a:rPr lang="en-US" sz="2063" i="1" dirty="0">
                <a:latin typeface="Arial"/>
                <a:cs typeface="Arial"/>
              </a:rPr>
              <a:t>Mckinsey &amp; Company, </a:t>
            </a:r>
            <a:r>
              <a:rPr lang="en-GB" sz="2063" i="1" dirty="0">
                <a:latin typeface="Arial"/>
                <a:cs typeface="Arial"/>
              </a:rPr>
              <a:t>August 17, 2022</a:t>
            </a:r>
            <a:r>
              <a:rPr lang="en-GB" sz="2063" dirty="0">
                <a:solidFill>
                  <a:srgbClr val="000000"/>
                </a:solidFill>
                <a:latin typeface="McKinsey Sans"/>
              </a:rPr>
              <a:t>, </a:t>
            </a:r>
            <a:r>
              <a:rPr lang="en-GB" sz="2063" dirty="0">
                <a:solidFill>
                  <a:srgbClr val="000000"/>
                </a:solidFill>
                <a:latin typeface="McKinsey Sans"/>
                <a:hlinkClick r:id="rId2"/>
              </a:rPr>
              <a:t>https://www.mckinsey.com/featured-insights/mckinsey-explainers/what-is-leadership#/</a:t>
            </a:r>
            <a:endParaRPr lang="en-GB" sz="2063" dirty="0">
              <a:solidFill>
                <a:srgbClr val="000000"/>
              </a:solidFill>
              <a:latin typeface="McKinsey Sans"/>
            </a:endParaRPr>
          </a:p>
          <a:p>
            <a:pPr marL="170974" indent="-170974"/>
            <a:endParaRPr lang="en-GB">
              <a:solidFill>
                <a:srgbClr val="000000"/>
              </a:solidFill>
              <a:latin typeface="McKinsey Sans"/>
            </a:endParaRPr>
          </a:p>
          <a:p>
            <a:pPr marL="170974" indent="-170974"/>
            <a:r>
              <a:rPr lang="en-US" sz="2400" dirty="0">
                <a:latin typeface="Arial"/>
                <a:cs typeface="Arial"/>
              </a:rPr>
              <a:t>Leadership is a process of social influence, which maximizes the efforts of others, towards the achievement of a goal- </a:t>
            </a:r>
            <a:r>
              <a:rPr lang="en-US" sz="2400" i="1" dirty="0">
                <a:latin typeface="Arial"/>
                <a:cs typeface="Arial"/>
              </a:rPr>
              <a:t>Forbes, </a:t>
            </a:r>
            <a:r>
              <a:rPr lang="en-US" sz="2400" dirty="0">
                <a:latin typeface="Arial"/>
                <a:cs typeface="Arial"/>
                <a:hlinkClick r:id="rId3"/>
              </a:rPr>
              <a:t>https://www.forbes.com/sites/kevinkruse/2013/04/09/what-is-leadership/</a:t>
            </a:r>
            <a:endParaRPr lang="en-US" sz="2400" dirty="0">
              <a:latin typeface="Arial"/>
              <a:cs typeface="Arial"/>
            </a:endParaRPr>
          </a:p>
          <a:p>
            <a:pPr marL="170974" indent="-170974"/>
            <a:endParaRPr lang="en-US" sz="2400" dirty="0">
              <a:latin typeface="Arial"/>
              <a:cs typeface="Arial"/>
            </a:endParaRPr>
          </a:p>
          <a:p>
            <a:pPr marL="170974" indent="-170974"/>
            <a:r>
              <a:rPr lang="en-US" sz="2400" dirty="0">
                <a:latin typeface="Arial"/>
                <a:cs typeface="Arial"/>
              </a:rPr>
              <a:t>Leadership is about </a:t>
            </a:r>
            <a:r>
              <a:rPr lang="en-US" sz="2400" i="1" dirty="0">
                <a:latin typeface="Arial"/>
                <a:cs typeface="Arial"/>
              </a:rPr>
              <a:t>empowering others</a:t>
            </a:r>
            <a:r>
              <a:rPr lang="en-US" sz="2400" dirty="0">
                <a:latin typeface="Arial"/>
                <a:cs typeface="Arial"/>
              </a:rPr>
              <a:t> to achieve things they did not think possible. Leadership is about pointing in the direction, </a:t>
            </a:r>
            <a:r>
              <a:rPr lang="en-US" sz="2400" i="1" dirty="0">
                <a:latin typeface="Arial"/>
                <a:cs typeface="Arial"/>
              </a:rPr>
              <a:t>articulating a vision of the world</a:t>
            </a:r>
            <a:r>
              <a:rPr lang="en-US" sz="2400" dirty="0">
                <a:latin typeface="Arial"/>
                <a:cs typeface="Arial"/>
              </a:rPr>
              <a:t> that does not yet exist. Then </a:t>
            </a:r>
            <a:r>
              <a:rPr lang="en-US" sz="2400" i="1" dirty="0">
                <a:latin typeface="Arial"/>
                <a:cs typeface="Arial"/>
              </a:rPr>
              <a:t>asking help from others</a:t>
            </a:r>
            <a:r>
              <a:rPr lang="en-US" sz="2400" dirty="0">
                <a:latin typeface="Arial"/>
                <a:cs typeface="Arial"/>
              </a:rPr>
              <a:t> to insure that vision happens- </a:t>
            </a:r>
            <a:r>
              <a:rPr lang="en-US" sz="2400" b="1" dirty="0">
                <a:latin typeface="Arial"/>
                <a:cs typeface="Arial"/>
              </a:rPr>
              <a:t>Simon Sinek</a:t>
            </a:r>
          </a:p>
          <a:p>
            <a:pPr marL="170974" indent="-170974"/>
            <a:endParaRPr lang="en-US" sz="2400" dirty="0">
              <a:cs typeface="Arial" panose="020B0604020202020204" pitchFamily="34" charset="0"/>
            </a:endParaRPr>
          </a:p>
          <a:p>
            <a:pPr marL="170974" indent="-170974"/>
            <a:endParaRPr lang="en-GB" sz="2400">
              <a:cs typeface="Arial" panose="020B0604020202020204" pitchFamily="34" charset="0"/>
            </a:endParaRPr>
          </a:p>
        </p:txBody>
      </p:sp>
    </p:spTree>
    <p:extLst>
      <p:ext uri="{BB962C8B-B14F-4D97-AF65-F5344CB8AC3E}">
        <p14:creationId xmlns:p14="http://schemas.microsoft.com/office/powerpoint/2010/main" val="278856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t>"A genuine leader is not a searcher for consensus but a </a:t>
            </a:r>
            <a:r>
              <a:rPr lang="en-GB" sz="2800" dirty="0" err="1"/>
              <a:t>molder</a:t>
            </a:r>
            <a:r>
              <a:rPr lang="en-GB" sz="2800" dirty="0"/>
              <a:t> of consensus." - Martin Luther King, Jr. </a:t>
            </a:r>
          </a:p>
        </p:txBody>
      </p:sp>
      <p:sp>
        <p:nvSpPr>
          <p:cNvPr id="3" name="Content Placeholder 2"/>
          <p:cNvSpPr>
            <a:spLocks noGrp="1"/>
          </p:cNvSpPr>
          <p:nvPr>
            <p:ph idx="1"/>
          </p:nvPr>
        </p:nvSpPr>
        <p:spPr/>
        <p:txBody>
          <a:bodyPr/>
          <a:lstStyle/>
          <a:p>
            <a:endParaRPr lang="en-GB" dirty="0"/>
          </a:p>
        </p:txBody>
      </p:sp>
      <p:pic>
        <p:nvPicPr>
          <p:cNvPr id="2050" name="Picture 2" descr="C:\Users\55098679\Desktop\8392621062_4831ba2661_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690690"/>
            <a:ext cx="7776864" cy="4402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752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8729"/>
          </a:xfrm>
        </p:spPr>
        <p:txBody>
          <a:bodyPr>
            <a:normAutofit fontScale="90000"/>
          </a:bodyPr>
          <a:lstStyle/>
          <a:p>
            <a:pPr algn="ctr"/>
            <a:br>
              <a:rPr lang="en-GB" dirty="0"/>
            </a:br>
            <a:br>
              <a:rPr lang="en-GB" dirty="0"/>
            </a:br>
            <a:r>
              <a:rPr lang="en-GB" b="1" u="sng" dirty="0"/>
              <a:t>Types of Leadership Styles</a:t>
            </a:r>
            <a:br>
              <a:rPr lang="en-GB" dirty="0"/>
            </a:br>
            <a:br>
              <a:rPr lang="en-GB" dirty="0"/>
            </a:br>
            <a:endParaRPr lang="en-GB" dirty="0"/>
          </a:p>
        </p:txBody>
      </p:sp>
      <p:sp>
        <p:nvSpPr>
          <p:cNvPr id="3" name="Content Placeholder 2">
            <a:extLst>
              <a:ext uri="{FF2B5EF4-FFF2-40B4-BE49-F238E27FC236}">
                <a16:creationId xmlns:a16="http://schemas.microsoft.com/office/drawing/2014/main" id="{617AFADF-9E41-AF70-0CD8-8B4B15652695}"/>
              </a:ext>
            </a:extLst>
          </p:cNvPr>
          <p:cNvSpPr>
            <a:spLocks noGrp="1"/>
          </p:cNvSpPr>
          <p:nvPr>
            <p:ph idx="1"/>
          </p:nvPr>
        </p:nvSpPr>
        <p:spPr/>
        <p:txBody>
          <a:bodyPr/>
          <a:lstStyle/>
          <a:p>
            <a:r>
              <a:rPr lang="en-GB" b="1" dirty="0"/>
              <a:t>Charismatic Leadership</a:t>
            </a:r>
            <a:r>
              <a:rPr lang="en-GB" dirty="0"/>
              <a:t>, when leaders uses their charm, magnetism, and emotional appeal to inspire and motivate followers.</a:t>
            </a:r>
          </a:p>
          <a:p>
            <a:r>
              <a:rPr lang="en-GB" b="1" dirty="0"/>
              <a:t>Traditional Leadership</a:t>
            </a:r>
            <a:r>
              <a:rPr lang="en-GB" dirty="0"/>
              <a:t>, is based on the belief that power is bestowed on the leader, in keeping with the traditions of the past</a:t>
            </a:r>
          </a:p>
          <a:p>
            <a:r>
              <a:rPr lang="en-GB" b="1" dirty="0"/>
              <a:t>Situational Leadership</a:t>
            </a:r>
            <a:r>
              <a:rPr lang="en-GB" dirty="0"/>
              <a:t>, A theory of leadership that proposes that leaders change their leadership styles based on who they are leading</a:t>
            </a:r>
          </a:p>
          <a:p>
            <a:r>
              <a:rPr lang="en-GB" b="1" dirty="0"/>
              <a:t>Appointed Leadership</a:t>
            </a:r>
            <a:r>
              <a:rPr lang="en-GB" dirty="0"/>
              <a:t>, select or designated to fill an office or a position</a:t>
            </a:r>
          </a:p>
          <a:p>
            <a:r>
              <a:rPr lang="en-GB" b="1" dirty="0"/>
              <a:t>Functional Leadership, </a:t>
            </a:r>
            <a:r>
              <a:rPr lang="en-GB" dirty="0"/>
              <a:t>Related to team leader theory in that they are just part of the function of the team</a:t>
            </a:r>
          </a:p>
          <a:p>
            <a:endParaRPr lang="en-GB" dirty="0"/>
          </a:p>
        </p:txBody>
      </p:sp>
    </p:spTree>
    <p:extLst>
      <p:ext uri="{BB962C8B-B14F-4D97-AF65-F5344CB8AC3E}">
        <p14:creationId xmlns:p14="http://schemas.microsoft.com/office/powerpoint/2010/main" val="295651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714375" y="1571625"/>
            <a:ext cx="7772400" cy="1233488"/>
          </a:xfrm>
        </p:spPr>
        <p:txBody>
          <a:bodyPr/>
          <a:lstStyle/>
          <a:p>
            <a:pPr>
              <a:buFontTx/>
              <a:buNone/>
            </a:pPr>
            <a:r>
              <a:rPr lang="en-GB" dirty="0"/>
              <a:t>When it comes to leadership there are two opposing arguments:</a:t>
            </a:r>
          </a:p>
        </p:txBody>
      </p:sp>
      <p:sp>
        <p:nvSpPr>
          <p:cNvPr id="7" name="Rectangle 6"/>
          <p:cNvSpPr/>
          <p:nvPr/>
        </p:nvSpPr>
        <p:spPr>
          <a:xfrm>
            <a:off x="1214413" y="555063"/>
            <a:ext cx="7000924" cy="923330"/>
          </a:xfrm>
          <a:prstGeom prst="rect">
            <a:avLst/>
          </a:prstGeom>
          <a:noFill/>
        </p:spPr>
        <p:txBody>
          <a:bodyPr>
            <a:spAutoFit/>
          </a:bodyPr>
          <a:lstStyle/>
          <a:p>
            <a:pPr algn="ctr" eaLnBrk="0" hangingPunct="0">
              <a:defRPr/>
            </a:pPr>
            <a:r>
              <a:rPr lang="en-US" sz="5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Times New Roman" charset="0"/>
              </a:rPr>
              <a:t>The two arguments…</a:t>
            </a:r>
          </a:p>
        </p:txBody>
      </p:sp>
      <p:sp>
        <p:nvSpPr>
          <p:cNvPr id="8" name="Rectangular Callout 7"/>
          <p:cNvSpPr/>
          <p:nvPr/>
        </p:nvSpPr>
        <p:spPr bwMode="auto">
          <a:xfrm>
            <a:off x="357188" y="3143250"/>
            <a:ext cx="4071937" cy="2571750"/>
          </a:xfrm>
          <a:prstGeom prst="wedgeRectCallou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pPr algn="ctr" eaLnBrk="0" hangingPunct="0">
              <a:defRPr/>
            </a:pPr>
            <a:r>
              <a:rPr lang="en-GB" sz="2800" dirty="0"/>
              <a:t>“Leaders are born with special qualities; some people stand out from the crowd. You’ve either got it or you haven’t.”</a:t>
            </a:r>
          </a:p>
        </p:txBody>
      </p:sp>
      <p:sp>
        <p:nvSpPr>
          <p:cNvPr id="9" name="Rectangular Callout 8"/>
          <p:cNvSpPr/>
          <p:nvPr/>
        </p:nvSpPr>
        <p:spPr bwMode="auto">
          <a:xfrm>
            <a:off x="4714875" y="2643188"/>
            <a:ext cx="4071938" cy="2071687"/>
          </a:xfrm>
          <a:prstGeom prst="wedgeRectCallou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eaLnBrk="0" hangingPunct="0">
              <a:defRPr/>
            </a:pPr>
            <a:r>
              <a:rPr lang="en-GB" sz="2800" dirty="0"/>
              <a:t>“Anyone can become a leader. It’s just a skill and can be taught like any other.” </a:t>
            </a:r>
          </a:p>
        </p:txBody>
      </p:sp>
      <p:sp>
        <p:nvSpPr>
          <p:cNvPr id="15366" name="TextBox 12"/>
          <p:cNvSpPr txBox="1">
            <a:spLocks noChangeArrowheads="1"/>
          </p:cNvSpPr>
          <p:nvPr/>
        </p:nvSpPr>
        <p:spPr bwMode="auto">
          <a:xfrm>
            <a:off x="5643563" y="5857875"/>
            <a:ext cx="2786062" cy="461963"/>
          </a:xfrm>
          <a:prstGeom prst="rect">
            <a:avLst/>
          </a:prstGeom>
          <a:noFill/>
          <a:ln w="9525">
            <a:noFill/>
            <a:miter lim="800000"/>
            <a:headEnd/>
            <a:tailEnd/>
          </a:ln>
        </p:spPr>
        <p:txBody>
          <a:bodyPr>
            <a:spAutoFit/>
          </a:bodyPr>
          <a:lstStyle/>
          <a:p>
            <a:pPr eaLnBrk="0" hangingPunct="0"/>
            <a:r>
              <a:rPr lang="en-GB"/>
              <a:t>Charles Handy pg 96</a:t>
            </a:r>
          </a:p>
        </p:txBody>
      </p:sp>
    </p:spTree>
    <p:extLst>
      <p:ext uri="{BB962C8B-B14F-4D97-AF65-F5344CB8AC3E}">
        <p14:creationId xmlns:p14="http://schemas.microsoft.com/office/powerpoint/2010/main" val="187999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5362">
                                            <p:txEl>
                                              <p:pRg st="0" end="0"/>
                                            </p:txEl>
                                          </p:spTgt>
                                        </p:tgtEl>
                                        <p:attrNameLst>
                                          <p:attrName>style.visibility</p:attrName>
                                        </p:attrNameLst>
                                      </p:cBhvr>
                                      <p:to>
                                        <p:strVal val="visible"/>
                                      </p:to>
                                    </p:set>
                                    <p:anim calcmode="lin" valueType="num">
                                      <p:cBhvr additive="base">
                                        <p:cTn id="14" dur="500" fill="hold"/>
                                        <p:tgtEl>
                                          <p:spTgt spid="1536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53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P spid="7" grpId="0"/>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sz="half" idx="1"/>
          </p:nvPr>
        </p:nvSpPr>
        <p:spPr>
          <a:xfrm>
            <a:off x="642938" y="2357438"/>
            <a:ext cx="3810000" cy="4114800"/>
          </a:xfrm>
        </p:spPr>
        <p:txBody>
          <a:bodyPr/>
          <a:lstStyle/>
          <a:p>
            <a:pPr algn="ctr">
              <a:buFontTx/>
              <a:buNone/>
            </a:pPr>
            <a:r>
              <a:rPr lang="en-GB" sz="2400" b="1" dirty="0"/>
              <a:t>Leader</a:t>
            </a:r>
            <a:r>
              <a:rPr lang="en-GB" sz="2400" dirty="0"/>
              <a:t> </a:t>
            </a:r>
          </a:p>
          <a:p>
            <a:r>
              <a:rPr lang="en-GB" sz="2400" dirty="0"/>
              <a:t>Visionary, passionate, creative, flexible, inspiring, innovative, courageous, imaginative, experimental, independent, shares knowledge.</a:t>
            </a:r>
          </a:p>
        </p:txBody>
      </p:sp>
      <p:sp>
        <p:nvSpPr>
          <p:cNvPr id="16387" name="Rectangle 4"/>
          <p:cNvSpPr>
            <a:spLocks noGrp="1" noChangeArrowheads="1"/>
          </p:cNvSpPr>
          <p:nvPr>
            <p:ph sz="half" idx="2"/>
          </p:nvPr>
        </p:nvSpPr>
        <p:spPr>
          <a:xfrm>
            <a:off x="4643438" y="2428875"/>
            <a:ext cx="3810000" cy="4114800"/>
          </a:xfrm>
        </p:spPr>
        <p:txBody>
          <a:bodyPr/>
          <a:lstStyle/>
          <a:p>
            <a:pPr algn="ctr">
              <a:buFontTx/>
              <a:buNone/>
            </a:pPr>
            <a:r>
              <a:rPr lang="en-GB" sz="2400" b="1" dirty="0"/>
              <a:t>Manager</a:t>
            </a:r>
          </a:p>
          <a:p>
            <a:r>
              <a:rPr lang="en-GB" sz="2400" dirty="0"/>
              <a:t>Rational, consulting, persistent, problem solving, tough minded, analytical, structured, deliberate, authoritative, stabilising, centralises knowledge. </a:t>
            </a:r>
          </a:p>
        </p:txBody>
      </p:sp>
      <p:sp>
        <p:nvSpPr>
          <p:cNvPr id="11" name="Rectangle 10"/>
          <p:cNvSpPr/>
          <p:nvPr/>
        </p:nvSpPr>
        <p:spPr>
          <a:xfrm>
            <a:off x="1285852" y="571480"/>
            <a:ext cx="6667210" cy="923330"/>
          </a:xfrm>
          <a:prstGeom prst="rect">
            <a:avLst/>
          </a:prstGeom>
          <a:noFill/>
        </p:spPr>
        <p:txBody>
          <a:bodyPr wrap="none">
            <a:spAutoFit/>
          </a:bodyPr>
          <a:lstStyle/>
          <a:p>
            <a:pPr algn="ctr" eaLnBrk="0" hangingPunct="0">
              <a:defRPr/>
            </a:pPr>
            <a:r>
              <a:rPr lang="en-US" sz="5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Times New Roman" charset="0"/>
              </a:rPr>
              <a:t>Leaders vs. Managers</a:t>
            </a:r>
          </a:p>
        </p:txBody>
      </p:sp>
      <p:sp>
        <p:nvSpPr>
          <p:cNvPr id="16389" name="TextBox 11"/>
          <p:cNvSpPr txBox="1">
            <a:spLocks noChangeArrowheads="1"/>
          </p:cNvSpPr>
          <p:nvPr/>
        </p:nvSpPr>
        <p:spPr bwMode="auto">
          <a:xfrm>
            <a:off x="1785938" y="1494810"/>
            <a:ext cx="5715000" cy="830263"/>
          </a:xfrm>
          <a:prstGeom prst="rect">
            <a:avLst/>
          </a:prstGeom>
          <a:noFill/>
          <a:ln w="9525">
            <a:noFill/>
            <a:miter lim="800000"/>
            <a:headEnd/>
            <a:tailEnd/>
          </a:ln>
        </p:spPr>
        <p:txBody>
          <a:bodyPr>
            <a:spAutoFit/>
          </a:bodyPr>
          <a:lstStyle/>
          <a:p>
            <a:pPr algn="ctr" eaLnBrk="0" hangingPunct="0"/>
            <a:r>
              <a:rPr lang="en-GB" b="1" dirty="0"/>
              <a:t>“A manager does the right thing whereas a leader does what is right.” </a:t>
            </a:r>
          </a:p>
        </p:txBody>
      </p:sp>
    </p:spTree>
    <p:extLst>
      <p:ext uri="{BB962C8B-B14F-4D97-AF65-F5344CB8AC3E}">
        <p14:creationId xmlns:p14="http://schemas.microsoft.com/office/powerpoint/2010/main" val="156261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6">
                                            <p:txEl>
                                              <p:pRg st="0" end="0"/>
                                            </p:txEl>
                                          </p:spTgt>
                                        </p:tgtEl>
                                        <p:attrNameLst>
                                          <p:attrName>style.visibility</p:attrName>
                                        </p:attrNameLst>
                                      </p:cBhvr>
                                      <p:to>
                                        <p:strVal val="visible"/>
                                      </p:to>
                                    </p:set>
                                    <p:anim calcmode="lin" valueType="num">
                                      <p:cBhvr additive="base">
                                        <p:cTn id="13" dur="500" fill="hold"/>
                                        <p:tgtEl>
                                          <p:spTgt spid="1638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6">
                                            <p:txEl>
                                              <p:pRg st="1" end="1"/>
                                            </p:txEl>
                                          </p:spTgt>
                                        </p:tgtEl>
                                        <p:attrNameLst>
                                          <p:attrName>style.visibility</p:attrName>
                                        </p:attrNameLst>
                                      </p:cBhvr>
                                      <p:to>
                                        <p:strVal val="visible"/>
                                      </p:to>
                                    </p:set>
                                    <p:anim calcmode="lin" valueType="num">
                                      <p:cBhvr additive="base">
                                        <p:cTn id="19" dur="500" fill="hold"/>
                                        <p:tgtEl>
                                          <p:spTgt spid="1638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7">
                                            <p:txEl>
                                              <p:pRg st="0" end="0"/>
                                            </p:txEl>
                                          </p:spTgt>
                                        </p:tgtEl>
                                        <p:attrNameLst>
                                          <p:attrName>style.visibility</p:attrName>
                                        </p:attrNameLst>
                                      </p:cBhvr>
                                      <p:to>
                                        <p:strVal val="visible"/>
                                      </p:to>
                                    </p:set>
                                    <p:anim calcmode="lin" valueType="num">
                                      <p:cBhvr additive="base">
                                        <p:cTn id="25"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387">
                                            <p:txEl>
                                              <p:pRg st="1" end="1"/>
                                            </p:txEl>
                                          </p:spTgt>
                                        </p:tgtEl>
                                        <p:attrNameLst>
                                          <p:attrName>style.visibility</p:attrName>
                                        </p:attrNameLst>
                                      </p:cBhvr>
                                      <p:to>
                                        <p:strVal val="visible"/>
                                      </p:to>
                                    </p:set>
                                    <p:anim calcmode="lin" valueType="num">
                                      <p:cBhvr additive="base">
                                        <p:cTn id="31"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P spid="16387" grpId="0" build="p"/>
      <p:bldP spid="1638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8" y="388308"/>
            <a:ext cx="7759776" cy="1021424"/>
          </a:xfrm>
        </p:spPr>
        <p:txBody>
          <a:bodyPr anchor="b">
            <a:normAutofit fontScale="90000"/>
          </a:bodyPr>
          <a:lstStyle/>
          <a:p>
            <a:r>
              <a:rPr lang="en-GB" sz="3500" b="1" dirty="0">
                <a:solidFill>
                  <a:schemeClr val="bg1"/>
                </a:solidFill>
              </a:rPr>
              <a:t>My journey and what type of leader I am.</a:t>
            </a:r>
            <a:br>
              <a:rPr lang="en-GB" sz="3500" b="1" dirty="0">
                <a:solidFill>
                  <a:schemeClr val="bg1"/>
                </a:solidFill>
              </a:rPr>
            </a:br>
            <a:endParaRPr lang="en-GB" sz="3500" dirty="0">
              <a:solidFill>
                <a:schemeClr val="bg1"/>
              </a:solidFill>
            </a:endParaRPr>
          </a:p>
        </p:txBody>
      </p:sp>
      <p:pic>
        <p:nvPicPr>
          <p:cNvPr id="7170" name="Picture 2" descr="C:\Users\55098679\Desktop\30520_130048723686729_1886239_n.jpg"/>
          <p:cNvPicPr>
            <a:picLocks noChangeAspect="1" noChangeArrowheads="1"/>
          </p:cNvPicPr>
          <p:nvPr/>
        </p:nvPicPr>
        <p:blipFill rotWithShape="1">
          <a:blip r:embed="rId3">
            <a:extLst>
              <a:ext uri="{28A0092B-C50C-407E-A947-70E740481C1C}">
                <a14:useLocalDpi xmlns:a14="http://schemas.microsoft.com/office/drawing/2010/main" val="0"/>
              </a:ext>
            </a:extLst>
          </a:blip>
          <a:srcRect t="1" r="7722" b="15868"/>
          <a:stretch/>
        </p:blipFill>
        <p:spPr bwMode="auto">
          <a:xfrm>
            <a:off x="6812340" y="4923843"/>
            <a:ext cx="2265514" cy="18333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0A269B8-0072-58AC-8A56-DA9BCCCB4F4B}"/>
              </a:ext>
            </a:extLst>
          </p:cNvPr>
          <p:cNvPicPr>
            <a:picLocks noChangeAspect="1"/>
          </p:cNvPicPr>
          <p:nvPr/>
        </p:nvPicPr>
        <p:blipFill rotWithShape="1">
          <a:blip r:embed="rId4"/>
          <a:srcRect t="11111" b="19551"/>
          <a:stretch/>
        </p:blipFill>
        <p:spPr>
          <a:xfrm>
            <a:off x="41448" y="4870556"/>
            <a:ext cx="1983051" cy="1833356"/>
          </a:xfrm>
          <a:prstGeom prst="rect">
            <a:avLst/>
          </a:prstGeom>
        </p:spPr>
      </p:pic>
      <p:pic>
        <p:nvPicPr>
          <p:cNvPr id="1026" name="Picture 2" descr="No photo description available.">
            <a:extLst>
              <a:ext uri="{FF2B5EF4-FFF2-40B4-BE49-F238E27FC236}">
                <a16:creationId xmlns:a16="http://schemas.microsoft.com/office/drawing/2014/main" id="{6D9B6C1C-3942-8225-9AE7-E8F707FF2F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51274" y="4946758"/>
            <a:ext cx="2494076" cy="17251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DCEB9C71-A51B-8B42-385F-85C2283B2D8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655" y="1495210"/>
            <a:ext cx="1983051" cy="198305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a:extLst>
              <a:ext uri="{FF2B5EF4-FFF2-40B4-BE49-F238E27FC236}">
                <a16:creationId xmlns:a16="http://schemas.microsoft.com/office/drawing/2014/main" id="{1FB3AB3D-DA4C-A44C-785B-4CD2857FBBEA}"/>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0219" b="10594"/>
          <a:stretch/>
        </p:blipFill>
        <p:spPr bwMode="auto">
          <a:xfrm>
            <a:off x="4721847" y="5583345"/>
            <a:ext cx="2090409" cy="11740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a:extLst>
              <a:ext uri="{FF2B5EF4-FFF2-40B4-BE49-F238E27FC236}">
                <a16:creationId xmlns:a16="http://schemas.microsoft.com/office/drawing/2014/main" id="{1E65C507-B635-D004-A0FA-70487C7F8A5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6447" t="17135" r="15258" b="28266"/>
          <a:stretch/>
        </p:blipFill>
        <p:spPr bwMode="auto">
          <a:xfrm>
            <a:off x="6812256" y="2028172"/>
            <a:ext cx="2315011" cy="24676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FF06104-B27E-B287-56B2-C26C6E248E56}"/>
              </a:ext>
            </a:extLst>
          </p:cNvPr>
          <p:cNvPicPr>
            <a:picLocks noChangeAspect="1"/>
          </p:cNvPicPr>
          <p:nvPr/>
        </p:nvPicPr>
        <p:blipFill rotWithShape="1">
          <a:blip r:embed="rId9"/>
          <a:srcRect t="6939"/>
          <a:stretch/>
        </p:blipFill>
        <p:spPr>
          <a:xfrm>
            <a:off x="2166686" y="1527455"/>
            <a:ext cx="2043312" cy="1901542"/>
          </a:xfrm>
          <a:prstGeom prst="rect">
            <a:avLst/>
          </a:prstGeom>
        </p:spPr>
      </p:pic>
      <p:pic>
        <p:nvPicPr>
          <p:cNvPr id="1034" name="Picture 10" descr="Image">
            <a:extLst>
              <a:ext uri="{FF2B5EF4-FFF2-40B4-BE49-F238E27FC236}">
                <a16:creationId xmlns:a16="http://schemas.microsoft.com/office/drawing/2014/main" id="{985ACA5F-11BB-62A5-C16F-93AFAD7C45BC}"/>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5710" t="4409" r="16385"/>
          <a:stretch/>
        </p:blipFill>
        <p:spPr bwMode="auto">
          <a:xfrm>
            <a:off x="4630590" y="1494482"/>
            <a:ext cx="2060686" cy="403496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a:extLst>
              <a:ext uri="{FF2B5EF4-FFF2-40B4-BE49-F238E27FC236}">
                <a16:creationId xmlns:a16="http://schemas.microsoft.com/office/drawing/2014/main" id="{3D87E86D-0212-6756-C828-3D8CD28A2A7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1448" y="3483982"/>
            <a:ext cx="4168550" cy="1407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0732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826DB2-E1E2-92CE-2A03-F020A5A75771}"/>
              </a:ext>
            </a:extLst>
          </p:cNvPr>
          <p:cNvSpPr>
            <a:spLocks noGrp="1"/>
          </p:cNvSpPr>
          <p:nvPr>
            <p:ph type="body" sz="quarter" idx="11"/>
          </p:nvPr>
        </p:nvSpPr>
        <p:spPr/>
        <p:txBody>
          <a:bodyPr/>
          <a:lstStyle/>
          <a:p>
            <a:pPr algn="ctr"/>
            <a:r>
              <a:rPr lang="en-GB" b="1" u="sng" dirty="0"/>
              <a:t>Some thoughts</a:t>
            </a:r>
          </a:p>
        </p:txBody>
      </p:sp>
      <p:sp>
        <p:nvSpPr>
          <p:cNvPr id="3" name="Content Placeholder 2">
            <a:extLst>
              <a:ext uri="{FF2B5EF4-FFF2-40B4-BE49-F238E27FC236}">
                <a16:creationId xmlns:a16="http://schemas.microsoft.com/office/drawing/2014/main" id="{E05FDD58-B48A-FFCE-3A34-684DD2D5AFE4}"/>
              </a:ext>
            </a:extLst>
          </p:cNvPr>
          <p:cNvSpPr>
            <a:spLocks noGrp="1"/>
          </p:cNvSpPr>
          <p:nvPr>
            <p:ph idx="12"/>
          </p:nvPr>
        </p:nvSpPr>
        <p:spPr/>
        <p:txBody>
          <a:bodyPr vert="horz" lIns="91440" tIns="45720" rIns="91440" bIns="45720" rtlCol="0" anchor="t">
            <a:normAutofit fontScale="77500" lnSpcReduction="20000"/>
          </a:bodyPr>
          <a:lstStyle/>
          <a:p>
            <a:pPr marL="227965" indent="-227965"/>
            <a:r>
              <a:rPr lang="en-GB" sz="2400" dirty="0">
                <a:latin typeface="Arial"/>
                <a:cs typeface="Arial"/>
              </a:rPr>
              <a:t>Leadership has nothing to do with position/title.</a:t>
            </a:r>
            <a:endParaRPr lang="en-US" sz="2400" dirty="0">
              <a:latin typeface="Arial"/>
              <a:cs typeface="Arial"/>
            </a:endParaRPr>
          </a:p>
          <a:p>
            <a:pPr marL="685165" lvl="1" indent="-227965"/>
            <a:r>
              <a:rPr lang="en-GB" sz="2400" dirty="0">
                <a:latin typeface="Arial"/>
                <a:cs typeface="Arial"/>
              </a:rPr>
              <a:t>Leadership is the awesome opportunity to see and lift those around us rise up and reach their dreams and ambitions.</a:t>
            </a:r>
          </a:p>
          <a:p>
            <a:pPr marL="227965" indent="-227965"/>
            <a:r>
              <a:rPr lang="en-GB" sz="2400" dirty="0"/>
              <a:t>What makes a good leader? </a:t>
            </a:r>
            <a:endParaRPr lang="en-GB" sz="2400" dirty="0">
              <a:cs typeface="Arial" panose="020B0604020202020204" pitchFamily="34" charset="0"/>
            </a:endParaRPr>
          </a:p>
          <a:p>
            <a:pPr marL="685165" lvl="1" indent="-227965"/>
            <a:r>
              <a:rPr lang="en-GB" sz="2400" dirty="0"/>
              <a:t>Kindness! Treat people how you would like to be treated, it goes a long way when you need them to step up.</a:t>
            </a:r>
            <a:endParaRPr lang="en-GB" sz="2400" dirty="0">
              <a:cs typeface="Arial" panose="020B0604020202020204" pitchFamily="34" charset="0"/>
            </a:endParaRPr>
          </a:p>
          <a:p>
            <a:pPr marL="685165" lvl="1" indent="-227965"/>
            <a:r>
              <a:rPr lang="en-GB" sz="2400" dirty="0"/>
              <a:t>Honesty! Always be honest, do not be afraid to have the difficult conversations.</a:t>
            </a:r>
            <a:endParaRPr lang="en-GB" sz="2400" dirty="0">
              <a:cs typeface="Arial" panose="020B0604020202020204" pitchFamily="34" charset="0"/>
            </a:endParaRPr>
          </a:p>
          <a:p>
            <a:pPr marL="685165" lvl="1" indent="-227965"/>
            <a:r>
              <a:rPr lang="en-GB" sz="2400" dirty="0"/>
              <a:t>Humility! If you are not humble you are not listening, we have two ears and one mouth, use these in equal proportion.</a:t>
            </a:r>
            <a:endParaRPr lang="en-GB" sz="2400" dirty="0">
              <a:cs typeface="Arial" panose="020B0604020202020204" pitchFamily="34" charset="0"/>
            </a:endParaRPr>
          </a:p>
          <a:p>
            <a:pPr marL="227965" indent="-227965"/>
            <a:r>
              <a:rPr lang="en-GB" sz="2400" dirty="0"/>
              <a:t>Leaders need to focus on environment they create. </a:t>
            </a:r>
            <a:endParaRPr lang="en-GB" sz="2400" dirty="0">
              <a:cs typeface="Arial" panose="020B0604020202020204" pitchFamily="34" charset="0"/>
            </a:endParaRPr>
          </a:p>
          <a:p>
            <a:pPr marL="685165" lvl="1" indent="-227965"/>
            <a:r>
              <a:rPr lang="en-GB" sz="2400" dirty="0">
                <a:latin typeface="Arial"/>
                <a:cs typeface="Arial"/>
              </a:rPr>
              <a:t>Leaders are not responsible for results, they are responsible for the people who are responsible for results.</a:t>
            </a:r>
          </a:p>
          <a:p>
            <a:pPr marL="685165" lvl="1" indent="-227965"/>
            <a:r>
              <a:rPr lang="en-GB" sz="2400" dirty="0"/>
              <a:t>Take care of the people and the environment. </a:t>
            </a:r>
            <a:endParaRPr lang="en-GB" sz="2400" dirty="0">
              <a:cs typeface="Arial" panose="020B0604020202020204" pitchFamily="34" charset="0"/>
            </a:endParaRPr>
          </a:p>
          <a:p>
            <a:pPr marL="227965" indent="-227965"/>
            <a:r>
              <a:rPr lang="en-GB" sz="2400" dirty="0"/>
              <a:t>Leadership comes at a cost!</a:t>
            </a:r>
            <a:endParaRPr lang="en-GB" sz="2400" dirty="0">
              <a:cs typeface="Arial" panose="020B0604020202020204" pitchFamily="34" charset="0"/>
            </a:endParaRPr>
          </a:p>
          <a:p>
            <a:pPr marL="685165" lvl="1" indent="-227965"/>
            <a:r>
              <a:rPr lang="en-GB" sz="2400" dirty="0"/>
              <a:t>You do not do less work, you do more.</a:t>
            </a:r>
            <a:endParaRPr lang="en-GB" sz="2400" dirty="0">
              <a:cs typeface="Arial" panose="020B0604020202020204" pitchFamily="34" charset="0"/>
            </a:endParaRPr>
          </a:p>
          <a:p>
            <a:pPr marL="685165" lvl="1" indent="-227965"/>
            <a:r>
              <a:rPr lang="en-GB" sz="2400" dirty="0"/>
              <a:t>The more work you do is look after others.</a:t>
            </a:r>
            <a:endParaRPr lang="en-GB" sz="2400" dirty="0">
              <a:cs typeface="Arial" panose="020B0604020202020204" pitchFamily="34" charset="0"/>
            </a:endParaRPr>
          </a:p>
          <a:p>
            <a:pPr marL="685165" lvl="1" indent="-227965"/>
            <a:endParaRPr lang="en-GB" dirty="0">
              <a:cs typeface="Arial" panose="020B0604020202020204" pitchFamily="34" charset="0"/>
            </a:endParaRPr>
          </a:p>
        </p:txBody>
      </p:sp>
    </p:spTree>
    <p:extLst>
      <p:ext uri="{BB962C8B-B14F-4D97-AF65-F5344CB8AC3E}">
        <p14:creationId xmlns:p14="http://schemas.microsoft.com/office/powerpoint/2010/main" val="275395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anim calcmode="lin" valueType="num">
                                      <p:cBhvr additive="base">
                                        <p:cTn id="6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572A-105F-66A0-8EE6-BB3F362D8004}"/>
            </a:ext>
          </a:extLst>
        </p:cNvPr>
        <p:cNvGrpSpPr/>
        <p:nvPr/>
      </p:nvGrpSpPr>
      <p:grpSpPr>
        <a:xfrm>
          <a:off x="0" y="0"/>
          <a:ext cx="0" cy="0"/>
          <a:chOff x="0" y="0"/>
          <a:chExt cx="0" cy="0"/>
        </a:xfrm>
      </p:grpSpPr>
      <p:sp>
        <p:nvSpPr>
          <p:cNvPr id="16386" name="Rectangle 3">
            <a:extLst>
              <a:ext uri="{FF2B5EF4-FFF2-40B4-BE49-F238E27FC236}">
                <a16:creationId xmlns:a16="http://schemas.microsoft.com/office/drawing/2014/main" id="{D6F79FB2-B00F-D513-0CE9-CE949DF9E749}"/>
              </a:ext>
            </a:extLst>
          </p:cNvPr>
          <p:cNvSpPr>
            <a:spLocks noGrp="1" noChangeArrowheads="1"/>
          </p:cNvSpPr>
          <p:nvPr>
            <p:ph type="body" sz="half" idx="1"/>
          </p:nvPr>
        </p:nvSpPr>
        <p:spPr>
          <a:xfrm>
            <a:off x="642938" y="2357438"/>
            <a:ext cx="3810000" cy="4114800"/>
          </a:xfrm>
        </p:spPr>
        <p:txBody>
          <a:bodyPr/>
          <a:lstStyle/>
          <a:p>
            <a:pPr algn="ctr">
              <a:buFontTx/>
              <a:buNone/>
            </a:pPr>
            <a:r>
              <a:rPr lang="en-GB" sz="2400" b="1" dirty="0"/>
              <a:t>Leader</a:t>
            </a:r>
            <a:r>
              <a:rPr lang="en-GB" sz="2400" dirty="0"/>
              <a:t> </a:t>
            </a:r>
          </a:p>
          <a:p>
            <a:r>
              <a:rPr lang="en-GB" sz="2400" dirty="0"/>
              <a:t>Visionary, passionate, creative, flexible, inspiring, innovative, courageous, imaginative, experimental, independent, shares knowledge.</a:t>
            </a:r>
          </a:p>
        </p:txBody>
      </p:sp>
      <p:sp>
        <p:nvSpPr>
          <p:cNvPr id="16387" name="Rectangle 4">
            <a:extLst>
              <a:ext uri="{FF2B5EF4-FFF2-40B4-BE49-F238E27FC236}">
                <a16:creationId xmlns:a16="http://schemas.microsoft.com/office/drawing/2014/main" id="{70700DA4-138B-A243-F3BD-5D58B75DEBE1}"/>
              </a:ext>
            </a:extLst>
          </p:cNvPr>
          <p:cNvSpPr>
            <a:spLocks noGrp="1" noChangeArrowheads="1"/>
          </p:cNvSpPr>
          <p:nvPr>
            <p:ph type="body" sz="half" idx="2"/>
          </p:nvPr>
        </p:nvSpPr>
        <p:spPr>
          <a:xfrm>
            <a:off x="4643438" y="2428875"/>
            <a:ext cx="3810000" cy="4114800"/>
          </a:xfrm>
        </p:spPr>
        <p:txBody>
          <a:bodyPr/>
          <a:lstStyle/>
          <a:p>
            <a:pPr algn="ctr">
              <a:buFontTx/>
              <a:buNone/>
            </a:pPr>
            <a:r>
              <a:rPr lang="en-GB" sz="2400" b="1" dirty="0"/>
              <a:t>Manager</a:t>
            </a:r>
          </a:p>
          <a:p>
            <a:r>
              <a:rPr lang="en-GB" sz="2400" dirty="0"/>
              <a:t>Rational, consulting, persistent, problem solving, tough minded, analytical, structured, deliberate, authoritative, stabilising, centralises knowledge. </a:t>
            </a:r>
          </a:p>
        </p:txBody>
      </p:sp>
      <p:sp>
        <p:nvSpPr>
          <p:cNvPr id="16389" name="TextBox 11">
            <a:extLst>
              <a:ext uri="{FF2B5EF4-FFF2-40B4-BE49-F238E27FC236}">
                <a16:creationId xmlns:a16="http://schemas.microsoft.com/office/drawing/2014/main" id="{25EAA257-BB2C-340C-0103-99843176F94F}"/>
              </a:ext>
            </a:extLst>
          </p:cNvPr>
          <p:cNvSpPr txBox="1">
            <a:spLocks noChangeArrowheads="1"/>
          </p:cNvSpPr>
          <p:nvPr/>
        </p:nvSpPr>
        <p:spPr bwMode="auto">
          <a:xfrm>
            <a:off x="1714500" y="690138"/>
            <a:ext cx="5715000" cy="1631216"/>
          </a:xfrm>
          <a:prstGeom prst="rect">
            <a:avLst/>
          </a:prstGeom>
          <a:noFill/>
          <a:ln w="9525">
            <a:noFill/>
            <a:miter lim="800000"/>
            <a:headEnd/>
            <a:tailEnd/>
          </a:ln>
        </p:spPr>
        <p:txBody>
          <a:bodyPr>
            <a:spAutoFit/>
          </a:bodyPr>
          <a:lstStyle/>
          <a:p>
            <a:pPr algn="ctr" eaLnBrk="0" hangingPunct="0"/>
            <a:r>
              <a:rPr lang="en-GB" sz="2000" b="1" dirty="0"/>
              <a:t>In pairs discuss what characteristics you have from each list!</a:t>
            </a:r>
          </a:p>
          <a:p>
            <a:pPr algn="ctr" eaLnBrk="0" hangingPunct="0"/>
            <a:endParaRPr lang="en-GB" sz="2000" b="1" dirty="0"/>
          </a:p>
          <a:p>
            <a:pPr algn="ctr" eaLnBrk="0" hangingPunct="0"/>
            <a:r>
              <a:rPr lang="en-GB" sz="2000" b="1" dirty="0"/>
              <a:t>Be ready to share your thoughts with the group!</a:t>
            </a:r>
          </a:p>
        </p:txBody>
      </p:sp>
    </p:spTree>
    <p:extLst>
      <p:ext uri="{BB962C8B-B14F-4D97-AF65-F5344CB8AC3E}">
        <p14:creationId xmlns:p14="http://schemas.microsoft.com/office/powerpoint/2010/main" val="275334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6">
                                            <p:txEl>
                                              <p:pRg st="0" end="0"/>
                                            </p:txEl>
                                          </p:spTgt>
                                        </p:tgtEl>
                                        <p:attrNameLst>
                                          <p:attrName>style.visibility</p:attrName>
                                        </p:attrNameLst>
                                      </p:cBhvr>
                                      <p:to>
                                        <p:strVal val="visible"/>
                                      </p:to>
                                    </p:set>
                                    <p:anim calcmode="lin" valueType="num">
                                      <p:cBhvr additive="base">
                                        <p:cTn id="13" dur="500" fill="hold"/>
                                        <p:tgtEl>
                                          <p:spTgt spid="1638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6">
                                            <p:txEl>
                                              <p:pRg st="1" end="1"/>
                                            </p:txEl>
                                          </p:spTgt>
                                        </p:tgtEl>
                                        <p:attrNameLst>
                                          <p:attrName>style.visibility</p:attrName>
                                        </p:attrNameLst>
                                      </p:cBhvr>
                                      <p:to>
                                        <p:strVal val="visible"/>
                                      </p:to>
                                    </p:set>
                                    <p:anim calcmode="lin" valueType="num">
                                      <p:cBhvr additive="base">
                                        <p:cTn id="19" dur="500" fill="hold"/>
                                        <p:tgtEl>
                                          <p:spTgt spid="1638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7">
                                            <p:txEl>
                                              <p:pRg st="0" end="0"/>
                                            </p:txEl>
                                          </p:spTgt>
                                        </p:tgtEl>
                                        <p:attrNameLst>
                                          <p:attrName>style.visibility</p:attrName>
                                        </p:attrNameLst>
                                      </p:cBhvr>
                                      <p:to>
                                        <p:strVal val="visible"/>
                                      </p:to>
                                    </p:set>
                                    <p:anim calcmode="lin" valueType="num">
                                      <p:cBhvr additive="base">
                                        <p:cTn id="25"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387">
                                            <p:txEl>
                                              <p:pRg st="1" end="1"/>
                                            </p:txEl>
                                          </p:spTgt>
                                        </p:tgtEl>
                                        <p:attrNameLst>
                                          <p:attrName>style.visibility</p:attrName>
                                        </p:attrNameLst>
                                      </p:cBhvr>
                                      <p:to>
                                        <p:strVal val="visible"/>
                                      </p:to>
                                    </p:set>
                                    <p:anim calcmode="lin" valueType="num">
                                      <p:cBhvr additive="base">
                                        <p:cTn id="31"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P spid="16387" grpId="0" build="p"/>
      <p:bldP spid="1638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743139"/>
      </p:ext>
    </p:extLst>
  </p:cSld>
  <p:clrMapOvr>
    <a:masterClrMapping/>
  </p:clrMapOvr>
</p:sld>
</file>

<file path=ppt/theme/theme1.xml><?xml version="1.0" encoding="utf-8"?>
<a:theme xmlns:a="http://schemas.openxmlformats.org/drawingml/2006/main" name="keeletheme-widescreen">
  <a:themeElements>
    <a:clrScheme name="Keele Colours">
      <a:dk1>
        <a:srgbClr val="282541"/>
      </a:dk1>
      <a:lt1>
        <a:srgbClr val="FEFFFE"/>
      </a:lt1>
      <a:dk2>
        <a:srgbClr val="282541"/>
      </a:dk2>
      <a:lt2>
        <a:srgbClr val="FEFFFE"/>
      </a:lt2>
      <a:accent1>
        <a:srgbClr val="342A4E"/>
      </a:accent1>
      <a:accent2>
        <a:srgbClr val="5D566D"/>
      </a:accent2>
      <a:accent3>
        <a:srgbClr val="938E9E"/>
      </a:accent3>
      <a:accent4>
        <a:srgbClr val="EDCE28"/>
      </a:accent4>
      <a:accent5>
        <a:srgbClr val="DC3719"/>
      </a:accent5>
      <a:accent6>
        <a:srgbClr val="47AE65"/>
      </a:accent6>
      <a:hlink>
        <a:srgbClr val="665D78"/>
      </a:hlink>
      <a:folHlink>
        <a:srgbClr val="655E77"/>
      </a:folHlink>
    </a:clrScheme>
    <a:fontScheme name="Keele Fonts">
      <a:majorFont>
        <a:latin typeface="Palatino Linotype"/>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eeletheme-widescreen" id="{ED877600-EBE8-0F47-B29E-7D88887687C3}" vid="{9AA46253-BB01-0A46-B354-D8C3ABC1EE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TotalTime>
  <Words>1358</Words>
  <Application>Microsoft Office PowerPoint</Application>
  <PresentationFormat>On-screen Show (4:3)</PresentationFormat>
  <Paragraphs>174</Paragraphs>
  <Slides>28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Arial</vt:lpstr>
      <vt:lpstr>Calibri</vt:lpstr>
      <vt:lpstr>McKinsey Sans</vt:lpstr>
      <vt:lpstr>Palatino Linotype</vt:lpstr>
      <vt:lpstr>Times</vt:lpstr>
      <vt:lpstr>Times New Roman</vt:lpstr>
      <vt:lpstr>Wingdings</vt:lpstr>
      <vt:lpstr>keeletheme-widescreen</vt:lpstr>
      <vt:lpstr>PowerPoint Presentation</vt:lpstr>
      <vt:lpstr>MAN-10081 Teams, People and Performance</vt:lpstr>
      <vt:lpstr>LECTURE 2 - Leadership</vt:lpstr>
      <vt:lpstr>PowerPoint Presentation</vt:lpstr>
      <vt:lpstr>PowerPoint Presentation</vt:lpstr>
      <vt:lpstr>Team Life Cycle Model</vt:lpstr>
      <vt:lpstr>PowerPoint Presentation</vt:lpstr>
      <vt:lpstr>PowerPoint Presentation</vt:lpstr>
      <vt:lpstr>Belbin’s Team Roles</vt:lpstr>
      <vt:lpstr>The Nine Team Roles! Plant:</vt:lpstr>
      <vt:lpstr>Resource Investigator:</vt:lpstr>
      <vt:lpstr>Co-ordinator:   </vt:lpstr>
      <vt:lpstr>Shaper:   </vt:lpstr>
      <vt:lpstr>Monitor Evaluator:   </vt:lpstr>
      <vt:lpstr>  Team worker:   </vt:lpstr>
      <vt:lpstr>Implementer:    </vt:lpstr>
      <vt:lpstr> Completer/finisher:   </vt:lpstr>
      <vt:lpstr> Specialist:   </vt:lpstr>
      <vt:lpstr>Leadership!</vt:lpstr>
      <vt:lpstr>PowerPoint Presentation</vt:lpstr>
      <vt:lpstr>"A genuine leader is not a searcher for consensus but a molder of consensus." - Martin Luther King, Jr. </vt:lpstr>
      <vt:lpstr>  Types of Leadership Styles  </vt:lpstr>
      <vt:lpstr>PowerPoint Presentation</vt:lpstr>
      <vt:lpstr>PowerPoint Presentation</vt:lpstr>
      <vt:lpstr>My journey and what type of leader I am.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Cheryl Belford</dc:creator>
  <cp:lastModifiedBy>Swati Garg</cp:lastModifiedBy>
  <cp:revision>81</cp:revision>
  <dcterms:created xsi:type="dcterms:W3CDTF">2021-03-17T15:09:57Z</dcterms:created>
  <dcterms:modified xsi:type="dcterms:W3CDTF">2026-02-06T12:38:20Z</dcterms:modified>
</cp:coreProperties>
</file>