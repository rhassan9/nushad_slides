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740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641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https://commons.wikimedia.org/wiki/File:Teamwork_-_Concept_Illustration.jpg (CC BY 2.0)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https://commons.wikimedia.org/wiki/File:Teamwork_-_Concept_Illustration.jpg
- https://commons.wikimedia.org/wiki/File:Leadership_-_The_Noun_Project.svg (preview PNG; CC0)
- https://commons.wikimedia.org/wiki/File:Human_resources.png (CC0)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https://hr.mit.edu/learning-topics/teams/articles/stages-development (teamwork concepts for group development context)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https://www.jstor.org/stable/pdf/3791464.pdf (groupthink concept referencing Janis)
- https://web.mit.edu/curhan/www/docs/Articles/15341_Readings/Group_Dynamics/required_reading/4Latane_et_al_1979_Many_hands_make_light_the_work.pdf (social loafing evidence)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https://en.wikipedia.org/wiki/Tuckman%27s_stages_of_group_development (background + original 1965 attribution)
- https://hr.mit.edu/learning-topics/teams/articles/stages-development (applied description of stages)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https://www.belbin.com/resources/faqs (list of nine roles)
- https://link.springer.com/chapter/10.1007/978-1-349-91440-1_6 (Belbin 1981 referenced)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6309-F110-D877-AB16-724AA0D9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AC988-176C-5BE7-33DF-9C26FA66F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29892-50A3-D2ED-A3C1-4A10DCCD1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https://umbrex.com/resources/frameworks/organization-frameworks/hackman-five-conditions-for-team-effectiveness/ (five conditions summary)
- https://emperform.co.uk/blog/the-hackman-model-of-team-effectiveness-explained/ (book attribution to Hackman, 2002)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A6E88-44BD-76CD-7E1E-27A48FEFA0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03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https://web.mit.edu/curhan/www/docs/Articles/15341_Readings/Group_Dynamics/Janis_Groupthink.pdf (Janis groupthink summary &amp; symptoms)
- https://www.amazon.com/Victims-groupthink-psychological-foreign-policy-decisions/dp/0395140021 (publication details for Janis, 1972)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https://link.springer.com/article/10.1023/A:1013280109471 (TKI overview in negotiation education)
- https://en.wikipedia.org/wiki/Thomas%E2%80%93Kilmann_Conflict_Mode_Instrument (background and five modes)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https://web.mit.edu/curhan/www/docs/Articles/15341_Readings/Group_Dynamics/required_reading/4Latane_et_al_1979_Many_hands_make_light_the_work.pdf (social loafing experiments)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https://journals.sagepub.com/doi/10.2307/2666999 (Edmondson, 1999 psychological safety definition)
- https://web.mit.edu/curhan/www/docs/Articles/15341_Readings/Group_Performance/Edmondson%20Psychological%20safety.pdf (PDF copy of Edmondson 1999)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https://commons.wikimedia.org/wiki/File:Leadership_-_The_Noun_Project.svg (preview PNG; CC0)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https://www.f5fp.com/wp-content/uploads/2015/01/HBR-Classic-Skills-of-an-Effective-Administrator-Katz.pdf (Katz skills model)
- https://pubmed.ncbi.nlm.nih.gov/10187249/ (Goleman, 1998 EI and leadership)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https://www.symlog.com/resources/blake-mouton (grid description and axes)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https://www.sciencedirect.com/science/article/abs/pii/0030507367900232 (empirical test referencing Fiedler contingency model)
- https://www.econbiz.de/Record/the-contingency-model-new-direction-for-leadership-utilization-fiedler-fred/10002149876 (bibliographic reference to Fiedler, 1967)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https://www.sciencedirect.com/science/article/pii/S104898439790014X (critical review citing Hersey &amp; Blanchard 1969/1970s evolution)
- https://www.ebsco.com/research-starters/social-sciences-and-humanities/situational-leadership-theory (overview of style–maturity alignment)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https://www.jstor.org/stable/pdf/2391905 (House, 1971 original article)
- https://www.scirp.org/reference/referencespapers?referenceid=3007294 (citation details and DOI)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https://www.sciencedirect.com/science/article/pii/1048984395900365 (Graen &amp; Uhl-Bien, 1995 LMX theory article)
- https://www.scirp.org/reference/referencespapers?referenceid=1143589 (citation details and DOI)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https://www.scirp.org/reference/referencespapers?referenceid=2745603 (French &amp; Raven, 1959 citation details)
- https://www.ebsco.com/research-starters/social-sciences-and-humanities/french-and-ravens-bases-power (overview of bases of power)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https://www.regent.edu/journal/emerging-leadership-journeys/transformational-leadership-the-impact-on-organizational-and-personal-outcomes/ (Bass 1985 summary)
- https://www.businessballs.com/leadership-styles/four-is-transformational-leadership/ (Four I’s list)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https://commons.wikimedia.org/wiki/File:Human_resources.png (CC0)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https://web.mit.edu/curhan/www/docs/Articles/15341_Readings/Group_Performance/Hackman_et_al_1976_Motivation_thru_the_design_of_work.pdf (Hackman &amp; Oldham, 1976)
- https://en.wikipedia.org/wiki/Job_characteristic_theory (summary of five characteristics and three psychological states)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https://psychclassics.yorku.ca/Maslow/motivation.htm (Maslow, 1943 original paper)
- https://www.scirp.org/reference/referencespapers?referenceid=2481540 (Herzberg, 1959 book citation)
- https://www.sciencedirect.com/science/article/pii/S2451958825001617 (references McClelland, 1961)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https://books.google.com/books/about/Work_and_Motivation.html?id=kexEAAAAIAAJ (Vroom, 1964 book record)
- https://www.sciencedirect.com/science/chapter/bookseries/pii/S0065260108601082 (Adams equity theory references and related publications)
- https://pubmed.ncbi.nlm.nih.gov/12237980/ (Locke &amp; Latham, 2002 goal-setting theory review)
- https://en.wikipedia.org/wiki/SMART_criteria (Doran, 1981 SMART origins overview)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https://www.dartmouth.edu/hr/professional_development/for_managers/performance_management/common_rater_errors.php (definitions of halo, leniency, central tendency)
- https://en.wikipedia.org/wiki/SMART_criteria (SMART origin and criteria overview)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https://go.worldatwork.org/rs/935-UZU-718/images/WorldatWork_Unlock_the_Power_of_Total_Rewards_Guide.pdf (Total Rewards definition and elements)
- https://www.who.int/standards/classifications/frequently-asked-questions/burn-out-an-occupational-phenomenon (WHO burnout definition in ICD-11)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BAFF-987C-410C-B806-7A277F2CD490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8E01-613D-21D1-05D5-EC8CA5307E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982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_teamwork.jpg"/>
          <p:cNvPicPr>
            <a:picLocks noChangeAspect="1"/>
          </p:cNvPicPr>
          <p:nvPr/>
        </p:nvPicPr>
        <p:blipFill>
          <a:blip r:embed="rId3"/>
          <a:srcRect t="10193" b="1019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12222"/>
            <a:ext cx="12191695" cy="6858000"/>
          </a:xfrm>
          <a:prstGeom prst="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1"/>
          <p:cNvSpPr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4: Teams, Leadership &amp; Managing People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41248" y="1874520"/>
            <a:ext cx="105091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2743200"/>
            <a:ext cx="6583680" cy="2926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1051560" y="2907792"/>
            <a:ext cx="6126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groups vs teams and diagnose team effectiveness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core leadership theories to real workplace situations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people-management tools: job design, motivation, performance, rewards, wellbeing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move through three connected lenses: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352044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960120" y="1874520"/>
            <a:ext cx="640080" cy="640080"/>
          </a:xfrm>
          <a:prstGeom prst="roundRect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13662"/>
            <a:ext cx="512064" cy="36179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1847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Working in groups &amp; teams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51460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groups form and perform</a:t>
            </a:r>
            <a:endParaRPr lang="en-US" sz="16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norms, decision-making</a:t>
            </a:r>
            <a:endParaRPr lang="en-US" sz="16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Conflict, cohesion, and inclusion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1600200"/>
            <a:ext cx="352044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4572000" y="1874520"/>
            <a:ext cx="640080" cy="640080"/>
          </a:xfrm>
          <a:prstGeom prst="round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4" name="Image 1" descr="assets/img_leaders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983467"/>
            <a:ext cx="512064" cy="4221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847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Leadership in work organisations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54880" y="251460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is (and isn’t)</a:t>
            </a:r>
            <a:endParaRPr lang="en-US" sz="16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theories &amp; when to use them</a:t>
            </a:r>
            <a:endParaRPr lang="en-US" sz="16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influence, and ethics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55280" y="1600200"/>
            <a:ext cx="352044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8183880" y="1874520"/>
            <a:ext cx="640080" cy="640080"/>
          </a:xfrm>
          <a:prstGeom prst="round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9" name="Image 2" descr="assets/img_h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1982341"/>
            <a:ext cx="512064" cy="4244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15400" y="1847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Managing people at work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66760" y="251460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design &amp; motivation</a:t>
            </a:r>
            <a:endParaRPr lang="en-US" sz="16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feedback systems</a:t>
            </a:r>
            <a:endParaRPr lang="en-US" sz="16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Rewards, wellbeing, relations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64748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Give an example of a team you ’ve been in and keep it as a running case across the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vs Teams: Core distinctions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distinction: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0887" y="141732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0566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coordinate (sometimes loosely)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mainly individual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aggregated (sum of parts)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share information, resources, norms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people in the same department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75120" y="1572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96596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Interdependence is designed-in (shared tasks)</a:t>
            </a:r>
            <a:endParaRPr lang="en-US" sz="16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accountability and shared goals</a:t>
            </a:r>
            <a:endParaRPr lang="en-US" sz="16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possible (whole &gt; sum of parts)</a:t>
            </a:r>
            <a:endParaRPr lang="en-US" sz="16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complementary (coordination is explicit)</a:t>
            </a:r>
            <a:endParaRPr lang="en-US" sz="16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product squad delivering a feature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4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3225" y="5568781"/>
            <a:ext cx="11094415" cy="484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Think of one “group” you belong to that would perform better if redesigned as a “team”. What would need to change?</a:t>
            </a:r>
            <a:endParaRPr lang="en-US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organisations use teams (and when they backfire)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not “automatically better” — they are a design choice.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577840" cy="42976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benefits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084832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skill mix → better problem solving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learning and knowledge sharing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commitment when people co-create goals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coordination across functions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Resilience: coverage when someone is absent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1508760"/>
            <a:ext cx="4919472" cy="4297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812280" y="16642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risks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2280" y="2084832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cost (meetings, handoffs)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loafing / unclear accountability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Groupthink: premature consensus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escalation (task → relationship)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Inequity perceptions (effort vs rewards)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4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team types (and typical challenges)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differ in purpose, duration, boundaries, and degree of autonomy.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749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/ operational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391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within one function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silos, local optimisation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3749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029200" y="1673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/ project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391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or product-based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role ambiguity, conflict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508760"/>
            <a:ext cx="3749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9098280" y="1673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/ autonomous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98280" y="20391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discretion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coordination with wider org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3749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960120" y="3410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/ distributed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77647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across locations/time zones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trust + communication gaps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00600" y="3246120"/>
            <a:ext cx="3749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5029200" y="3410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/ top team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377647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direction and allocates resources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politics, groupthink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69680" y="3246120"/>
            <a:ext cx="3749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9098280" y="3410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of practice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98280" y="377647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knowledge sharing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 priority, weak sponsorship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6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5813127"/>
            <a:ext cx="11094415" cy="512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64748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Mini-activity: Pick one team type and list 2 “design choices” you would make to reduce its typical risks.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develop: Tuckman’s stages (diagnostic lens)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stages as a map, not a rigid script — teams can move back and forth.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2194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uncertainty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purpose + roles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99232" y="2167128"/>
            <a:ext cx="283464" cy="27432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2194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42900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Conflict, testing norms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facilitation + clarity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22392" y="2167128"/>
            <a:ext cx="283464" cy="27432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5669280" y="1600200"/>
            <a:ext cx="2194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585216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5216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rules &amp; trust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commitment + feedback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45552" y="2167128"/>
            <a:ext cx="283464" cy="27432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2194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827532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interdependence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autonomy + support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268712" y="2167128"/>
            <a:ext cx="283464" cy="27432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10515600" y="1600200"/>
            <a:ext cx="2194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1069848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Adjourning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9848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/ transition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review + learning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3383280"/>
            <a:ext cx="1069848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1051560" y="3547872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>
              <a:buNone/>
            </a:pPr>
            <a:r>
              <a:rPr lang="en-ZA" sz="2400" b="1" dirty="0">
                <a:solidFill>
                  <a:srgbClr val="64748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see and hear?” at each stage (behaviours, language, meeting patterns). Then discuss the leader’s actions</a:t>
            </a:r>
            <a:endParaRPr lang="en-US" sz="2400" b="1" dirty="0">
              <a:solidFill>
                <a:srgbClr val="64748B"/>
              </a:solidFill>
              <a:highlight>
                <a:srgbClr val="FFFF00"/>
              </a:highlight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9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roles: balancing contributions (Belbin)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“role” is a tendency in how people contribute — not a fixed personality label.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155448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273552" y="1344168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09815" y="1740107"/>
            <a:ext cx="155448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537247" y="1804115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82213" y="2904735"/>
            <a:ext cx="155448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209645" y="2968743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Co-ordinator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48691" y="4229100"/>
            <a:ext cx="155448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976123" y="4293108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18518" y="5093518"/>
            <a:ext cx="155448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3945950" y="5157526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73722" y="5093518"/>
            <a:ext cx="155448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2601154" y="5157526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543549" y="4229100"/>
            <a:ext cx="155448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1570981" y="4293108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310027" y="2904735"/>
            <a:ext cx="155448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1337459" y="2968743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982425" y="1740107"/>
            <a:ext cx="155448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2009857" y="1804115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54680" y="3154680"/>
            <a:ext cx="1737360" cy="1005840"/>
          </a:xfrm>
          <a:prstGeom prst="ellipse">
            <a:avLst/>
          </a:prstGeom>
          <a:solidFill>
            <a:srgbClr val="ECFE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3154680" y="3246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0" y="1417320"/>
            <a:ext cx="487375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903720" y="15727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role thinking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15404" y="196596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the mix needed for the task (not clones)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gaps (e.g., no “finisher”) and mitigate with process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stereotyping — people flex by context and skill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“team norms” that protect weaker roles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214248" y="5855963"/>
            <a:ext cx="5669280" cy="868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5442848" y="5987947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Quick exercise: Have learners map their last team onto these roles. Where were the overloads/gaps? What problems did that create?</a:t>
            </a:r>
            <a:endParaRPr lang="en-US" sz="1400" b="1" dirty="0">
              <a:highlight>
                <a:srgbClr val="FFFF00"/>
              </a:highlight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3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F0D55-CC3A-A5C3-3F37-3D33AB69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BC95D1-858C-A589-6292-C88BA65D46DA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30EBC1-F95C-3751-6BB9-0E969C1E0F80}"/>
              </a:ext>
            </a:extLst>
          </p:cNvPr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A13580-B64A-79BE-81A7-B189134740AB}"/>
              </a:ext>
            </a:extLst>
          </p:cNvPr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team effectiveness: Hackman’s conditions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7BE7B2-4E45-0D63-43C1-62A967690C01}"/>
              </a:ext>
            </a:extLst>
          </p:cNvPr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1CE5DC-717E-92DA-D064-D4F96068682D}"/>
              </a:ext>
            </a:extLst>
          </p:cNvPr>
          <p:cNvSpPr/>
          <p:nvPr/>
        </p:nvSpPr>
        <p:spPr>
          <a:xfrm>
            <a:off x="731520" y="9144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Hackman argues team performance depends heavily on the conditions leaders set, not constant micromanagement.</a:t>
            </a:r>
            <a:endParaRPr lang="en-US" sz="16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ECA3E3C-9EA2-EC29-AE7B-6C0B70F4D876}"/>
              </a:ext>
            </a:extLst>
          </p:cNvPr>
          <p:cNvSpPr/>
          <p:nvPr/>
        </p:nvSpPr>
        <p:spPr>
          <a:xfrm>
            <a:off x="7589520" y="4389120"/>
            <a:ext cx="0" cy="0"/>
          </a:xfrm>
          <a:prstGeom prst="line">
            <a:avLst/>
          </a:prstGeom>
          <a:noFill/>
          <a:ln w="25400">
            <a:solidFill>
              <a:srgbClr val="0EA5E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81C0E70-8961-8C62-D7FF-D806885CBC83}"/>
              </a:ext>
            </a:extLst>
          </p:cNvPr>
          <p:cNvSpPr/>
          <p:nvPr/>
        </p:nvSpPr>
        <p:spPr>
          <a:xfrm>
            <a:off x="3474720" y="4389120"/>
            <a:ext cx="0" cy="0"/>
          </a:xfrm>
          <a:prstGeom prst="line">
            <a:avLst/>
          </a:prstGeom>
          <a:noFill/>
          <a:ln w="25400">
            <a:solidFill>
              <a:srgbClr val="0EA5E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506D552-D8D7-D9D7-B671-DBA4FC0A591E}"/>
              </a:ext>
            </a:extLst>
          </p:cNvPr>
          <p:cNvSpPr/>
          <p:nvPr/>
        </p:nvSpPr>
        <p:spPr>
          <a:xfrm>
            <a:off x="731520" y="5349240"/>
            <a:ext cx="10789920" cy="1051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774A137-D0CD-3C02-3F1E-4A291CC59EDD}"/>
              </a:ext>
            </a:extLst>
          </p:cNvPr>
          <p:cNvSpPr/>
          <p:nvPr/>
        </p:nvSpPr>
        <p:spPr>
          <a:xfrm>
            <a:off x="960120" y="55138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Checklist question: Which condition is weakest right now?</a:t>
            </a:r>
            <a:endParaRPr lang="en-US" sz="1400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→ Fix the system first (direction, structure, resources), then coach behaviour.</a:t>
            </a:r>
            <a:endParaRPr lang="en-US" sz="1400" b="1" dirty="0">
              <a:highlight>
                <a:srgbClr val="FFFF00"/>
              </a:highlight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DA144C1-416A-5319-EB7A-861AADB4AD90}"/>
              </a:ext>
            </a:extLst>
          </p:cNvPr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0" descr="assets/img_teamwork.jpg">
            <a:extLst>
              <a:ext uri="{FF2B5EF4-FFF2-40B4-BE49-F238E27FC236}">
                <a16:creationId xmlns:a16="http://schemas.microsoft.com/office/drawing/2014/main" id="{F27E943C-F425-7316-366A-5C560D20F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66CC04-70FC-7A59-2379-161C17520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1270290"/>
            <a:ext cx="5760200" cy="385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5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in groups: quality vs speed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process prevents predictable failure modes.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623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methods (choose to fit the decision)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5257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+ converge (separate idea gen from evaluation)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group technique (individual write-up → structured sharing)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(iterative anonymous expert input for complex issues)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rules (consensus, majority, leader decides) — state upfront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5074920"/>
            <a:ext cx="5257800" cy="8229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234440" y="523951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“pre-mortems” and “red teams” for high-stakes decisions.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1417320"/>
            <a:ext cx="4919472" cy="46634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6812280" y="1581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Groupthink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196596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for unanimity; dissent is punished or self-censored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Illusion of invulnerability (“we can’t be wrong”)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Rationalising away warning signals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Stereotyping outsiders / critics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contingency planning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6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 teams (especially virtual)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problems are rarely “just interpersonal” — they are often structural.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rich / more ambiguous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rich / more nuanced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148840"/>
            <a:ext cx="9966960" cy="0"/>
          </a:xfrm>
          <a:prstGeom prst="line">
            <a:avLst/>
          </a:prstGeom>
          <a:noFill/>
          <a:ln w="508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1188720" y="19659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9659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256032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9659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02336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19659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48640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9659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94944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26880" y="19659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896112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788920"/>
            <a:ext cx="5486400" cy="3291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1005840" y="2944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that reduce friction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33756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“source of truth” (shared docs + decision log)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meeting norms (agenda, timeboxes, facilitation)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Asynchronous-first where possible; sync for ambiguity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handoffs: who owns what, by when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537960" y="2788920"/>
            <a:ext cx="491947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6812280" y="29443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virtual-team traps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2280" y="333756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= misread as agreement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Time-zone inequity (same people always flex)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“context” for new joiners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build trust without informal contact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0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conflict: task vs relationship (and your default style)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is not always bad: task conflict can improve decisions; relationship conflict usually harms trust.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669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Thomas–Kilmann: 2 dimensions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5806440"/>
            <a:ext cx="5212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1234440" y="2240280"/>
            <a:ext cx="0" cy="35661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14300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Assertiveness 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5852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17320" y="2423160"/>
            <a:ext cx="1463040" cy="548640"/>
          </a:xfrm>
          <a:prstGeom prst="roundRect">
            <a:avLst/>
          </a:prstGeom>
          <a:solidFill>
            <a:srgbClr val="FDE68A">
              <a:alpha val="90000"/>
            </a:srgbClr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1417320" y="25328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423160"/>
            <a:ext cx="1463040" cy="548640"/>
          </a:xfrm>
          <a:prstGeom prst="roundRect">
            <a:avLst/>
          </a:prstGeom>
          <a:solidFill>
            <a:srgbClr val="A7F3D0">
              <a:alpha val="90000"/>
            </a:srgbClr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800600" y="25328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17320" y="5074920"/>
            <a:ext cx="1463040" cy="548640"/>
          </a:xfrm>
          <a:prstGeom prst="roundRect">
            <a:avLst/>
          </a:prstGeom>
          <a:solidFill>
            <a:srgbClr val="E2E8F0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1417320" y="5184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5074920"/>
            <a:ext cx="1463040" cy="548640"/>
          </a:xfrm>
          <a:prstGeom prst="roundRect">
            <a:avLst/>
          </a:prstGeom>
          <a:solidFill>
            <a:srgbClr val="BFDB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800600" y="5184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08960" y="3749040"/>
            <a:ext cx="1463040" cy="548640"/>
          </a:xfrm>
          <a:prstGeom prst="roundRect">
            <a:avLst/>
          </a:prstGeom>
          <a:solidFill>
            <a:srgbClr val="DDD6FE">
              <a:alpha val="90000"/>
            </a:srgbClr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3108960" y="38587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600200"/>
            <a:ext cx="4919472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812280" y="17556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14884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issue about ideas (task) or identity (relationship)?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“good conflict” look like here?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need speed (decide) or quality (explore)?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agreements can prevent repeat conflicts (roles, norms, resources)?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Cohesion, norms, and social loafing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 can be an asset — but only if aligned to the task and to healthy norms.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703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960120" y="16642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3337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of belonging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to team goals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support in stress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17720" y="1508760"/>
            <a:ext cx="3703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337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Unwritten “rules”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acceptable behaviour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quality &amp; safety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503920" y="1508760"/>
            <a:ext cx="3703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732520" y="16642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loafing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2057400"/>
            <a:ext cx="3337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drops in groups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work / unclear contribution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when tasks are additive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39"/>
            <a:ext cx="10698480" cy="1404851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960120" y="5285232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Countermeasures to loafing: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contributions visible (task boards, shared metrics)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 task significance and ownership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smaller teams for additive 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fairness: clear expectations + feedback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9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safety: enabling learning and speaking up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9462" y="800100"/>
            <a:ext cx="10571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safety: </a:t>
            </a: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belief that the team is safe for interpersonal risk-taking (e.g., questions, dissent, admitting mistakes).</a:t>
            </a:r>
            <a:r>
              <a:rPr lang="en-ZA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Leader behaviours that create psychological safety are as follows: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34924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work as learning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tasks need experiments, not perfection.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fallibility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1671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admit uncertainty and mistakes first.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534924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96012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participation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2245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rounds, questions, and quiet-first methods.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34924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49224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productively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2245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Thank, explore, and act — don’t punish messengers.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3552" y="6099027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64748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When was the last time you held back a concern at work? Which of the four practices would have helped?</a:t>
            </a:r>
          </a:p>
        </p:txBody>
      </p:sp>
      <p:sp>
        <p:nvSpPr>
          <p:cNvPr id="21" name="Shape 19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0" descr="assets/img_team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69906"/>
            <a:ext cx="685800" cy="4845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_leadership.png"/>
          <p:cNvPicPr>
            <a:picLocks noChangeAspect="1"/>
          </p:cNvPicPr>
          <p:nvPr/>
        </p:nvPicPr>
        <p:blipFill>
          <a:blip r:embed="rId3"/>
          <a:srcRect t="15887" b="15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6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in work organisations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49808" y="2971800"/>
            <a:ext cx="1069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influence direction, motivation, and culture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vs Management (complementary, not rivals)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most roles require a blend — but the emphasis shifts by level and context.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534924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6080760" y="1463040"/>
            <a:ext cx="53492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914400" y="1572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(stability)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1572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(change)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624328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budgets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2057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direction &amp; vision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374136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914400" y="28072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&amp; staffs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28072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people to purpose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123944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14400" y="35570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solves problems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35570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&amp; inspires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48737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914400" y="430682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reliable processes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430682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culture and meaning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56235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914400" y="50566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efficiency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63640" y="50566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effectiveness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80760" y="1463040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503225" y="6089903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2400" b="1" dirty="0">
                <a:solidFill>
                  <a:srgbClr val="64748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Prompt: In your organisation, where is leadership most needed right now </a:t>
            </a:r>
          </a:p>
          <a:p>
            <a:pPr indent="0">
              <a:buNone/>
            </a:pPr>
            <a:r>
              <a:rPr lang="en-US" sz="2400" b="1" dirty="0">
                <a:solidFill>
                  <a:srgbClr val="64748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— direction, alignment, or motivation?</a:t>
            </a:r>
          </a:p>
        </p:txBody>
      </p:sp>
      <p:sp>
        <p:nvSpPr>
          <p:cNvPr id="29" name="Shape 27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0" name="Image 0" descr="assets/img_lead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9466"/>
            <a:ext cx="685800" cy="5654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capabilities: skills + emotional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useful lenses: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Katz: 3-skill approach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skill: knowing methods/tools (important early-career)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skill: working with people (important at every level)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skill: systems thinking, strategy (rises with seniority)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977640"/>
            <a:ext cx="5029200" cy="1965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23444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without skill-shifts can create “accidental managers”. Build people skills early; build systems thinking deliberately.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1417320"/>
            <a:ext cx="4919472" cy="4663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81228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 (EI)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2280" y="196596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Self-awareness: recognise emotions and triggers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Self-regulation: manage reactions under pressure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Empathy: read others’ perspectives and needs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skill: influence, listen, build trust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persistence and purpose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796735" y="4718643"/>
            <a:ext cx="4480560" cy="685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933895" y="471864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Micro-skill: In 1:1s, ask “What’s making this hard right now?” then mirror and summarise before problem-solving.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9" name="Image 0" descr="assets/img_lead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9466"/>
            <a:ext cx="685800" cy="5654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leadership: what leaders *do* (and trade-offs)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theories focus on observable actions: concern for task vs concern for people.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55168" y="137160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Blake &amp; Mouton grid (simplified)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589788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1097280" y="1691640"/>
            <a:ext cx="0" cy="42062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 for people 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5943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 for production 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5074920"/>
            <a:ext cx="1645920" cy="548640"/>
          </a:xfrm>
          <a:prstGeom prst="roundRect">
            <a:avLst/>
          </a:prstGeom>
          <a:solidFill>
            <a:srgbClr val="E2E8F0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1280160" y="5184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Impoverished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1874520"/>
            <a:ext cx="1645920" cy="548640"/>
          </a:xfrm>
          <a:prstGeom prst="roundRect">
            <a:avLst/>
          </a:prstGeom>
          <a:solidFill>
            <a:srgbClr val="BFDB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1280160" y="19842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club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(1,9)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0" y="5074920"/>
            <a:ext cx="1645920" cy="548640"/>
          </a:xfrm>
          <a:prstGeom prst="roundRect">
            <a:avLst/>
          </a:prstGeom>
          <a:solidFill>
            <a:srgbClr val="FDE68A">
              <a:alpha val="90000"/>
            </a:srgbClr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023360" y="5184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(9,1)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0" y="1874520"/>
            <a:ext cx="1645920" cy="548640"/>
          </a:xfrm>
          <a:prstGeom prst="roundRect">
            <a:avLst/>
          </a:prstGeom>
          <a:solidFill>
            <a:srgbClr val="A7F3D0">
              <a:alpha val="90000"/>
            </a:srgbClr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023360" y="19842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(9,9)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3520440"/>
            <a:ext cx="1645920" cy="548640"/>
          </a:xfrm>
          <a:prstGeom prst="roundRect">
            <a:avLst/>
          </a:prstGeom>
          <a:solidFill>
            <a:srgbClr val="DDD6FE">
              <a:alpha val="90000"/>
            </a:srgbClr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2651760" y="36301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(5,5)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417320"/>
            <a:ext cx="491947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81228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 grid in practice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196596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as a conversation tool (not a personality test)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does the situation require (task demands + people needs)?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your “default” under stress (e.g., authority vs accommodation)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range: practice behaviours you underuse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812280" y="5440680"/>
            <a:ext cx="448056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7040880" y="5422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For a current challenge, plot your behaviour today and your target behaviour. What one action would shift the point?</a:t>
            </a:r>
            <a:endParaRPr lang="en-US" sz="1400" b="1" dirty="0"/>
          </a:p>
        </p:txBody>
      </p:sp>
      <p:sp>
        <p:nvSpPr>
          <p:cNvPr id="28" name="Shape 26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9" name="Image 0" descr="assets/img_lead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9466"/>
            <a:ext cx="685800" cy="5654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thinking: matching style to situation (Fiedler)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leadership effectiveness depends on the fit between a leader’s style and situational “favourableness”.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situational favourableness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Leader–member relations (trust, respect)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structure (clarity of goals, methods, standards)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power (formal authority, control of rewards)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4069080"/>
            <a:ext cx="4937760" cy="1828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2344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52628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style is relatively stable, change the situation (structure, authority, relationships) or change the role/leader.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1508760"/>
            <a:ext cx="4919472" cy="4526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812280" y="16642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fit (simplified)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2280" y="20574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Task-oriented leaders tend to perform best in very favourable or very unfavourable situations; relationship-oriented leaders in mid-range situations (classic interpretation).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95160" y="3931920"/>
            <a:ext cx="4297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995160" y="3246120"/>
            <a:ext cx="0" cy="12801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903720" y="39776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18520" y="39776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26680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favourableness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3520440"/>
            <a:ext cx="155448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641080" y="4160520"/>
            <a:ext cx="14630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10104120" y="3520440"/>
            <a:ext cx="114300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7178040" y="2926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0" descr="assets/img_lead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9466"/>
            <a:ext cx="685800" cy="5654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leadership: adapting task &amp; support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adjust the balance of directive (task) and supportive (relationship) behaviour to follower development for a specific task.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852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behaviour (2×2)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5120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1097280" y="1828800"/>
            <a:ext cx="0" cy="42062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32511" y="1783080"/>
            <a:ext cx="1379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3931920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3657600" y="182880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703320" y="1874520"/>
            <a:ext cx="2423160" cy="1965960"/>
          </a:xfrm>
          <a:prstGeom prst="roundRect">
            <a:avLst/>
          </a:prstGeom>
          <a:solidFill>
            <a:srgbClr val="FDE68A">
              <a:alpha val="90000"/>
            </a:srgbClr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3703320" y="201168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dir, high sup)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3977640"/>
            <a:ext cx="2423160" cy="1965960"/>
          </a:xfrm>
          <a:prstGeom prst="roundRect">
            <a:avLst/>
          </a:prstGeom>
          <a:solidFill>
            <a:srgbClr val="FED7AA">
              <a:alpha val="90000"/>
            </a:srgbClr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703320" y="411480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dir, low sup)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42999" y="1920240"/>
            <a:ext cx="2423160" cy="1965960"/>
          </a:xfrm>
          <a:prstGeom prst="roundRect">
            <a:avLst/>
          </a:prstGeom>
          <a:solidFill>
            <a:srgbClr val="A7F3D0">
              <a:alpha val="90000"/>
            </a:srgbClr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1143000" y="201168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dir, high sup)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43000" y="3977640"/>
            <a:ext cx="2423160" cy="1965960"/>
          </a:xfrm>
          <a:prstGeom prst="roundRect">
            <a:avLst/>
          </a:prstGeom>
          <a:solidFill>
            <a:srgbClr val="E2E8F0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1143000" y="411480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dir, low sup)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20840" y="1554480"/>
            <a:ext cx="4736592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995160" y="17007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apply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2084832"/>
            <a:ext cx="42976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*task-specific* ability + commitment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more direction when risk is high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direction as competence grows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support high when confidence dips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Re-diagnose when tasks change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995160" y="5257800"/>
            <a:ext cx="4297680" cy="8229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7223760" y="532231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“Adapt style” is useful advice — but evidence on specific prescriptions is mixed. Use as a coaching heuristic, not a rulebook.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9" name="Image 0" descr="assets/img_lead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9466"/>
            <a:ext cx="685800" cy="5654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Path–Goal theory (House): removing obstacles to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Leader’s job: clarify goals, clarify the “path”, and increase motivation by aligning rewards with performance.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behaviours (choose to fit follower + task)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5394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Directive: clarify roles, standards, steps (helpful when tasks are ambiguous)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Supportive: build confidence, reduce stress (helpful in demanding contexts)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Participative: involve people in decisions (helps commitment and quality)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Achievement-oriented: set stretch goals and show confidence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5257800"/>
            <a:ext cx="5394960" cy="7772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234440" y="5303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is blocking performance right now — unclear goals, low capability, low motivation, poor resources, or conflicting priorities?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600200"/>
            <a:ext cx="4828032" cy="4480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6903720" y="17556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applications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2148840"/>
            <a:ext cx="4389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joiner: more directive + supportive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team: participative + achievement-oriented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 period: supportive + clear priorities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ambiguity: directive + participative (co-create process)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6" name="Image 0" descr="assets/img_lead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9466"/>
            <a:ext cx="685800" cy="5654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Leader–Member Exchange (LMX): quality of relationships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 focuses on the relationship quality between leader and each follower, not “one style fits all”.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3383280" cy="2011680"/>
          </a:xfrm>
          <a:prstGeom prst="roundRect">
            <a:avLst/>
          </a:prstGeom>
          <a:solidFill>
            <a:srgbClr val="E2E8F0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121408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exchanges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977640" y="2331720"/>
            <a:ext cx="365760" cy="32004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343400" y="1600200"/>
            <a:ext cx="3383280" cy="2011680"/>
          </a:xfrm>
          <a:prstGeom prst="roundRect">
            <a:avLst/>
          </a:prstGeom>
          <a:solidFill>
            <a:srgbClr val="FDE68A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Acquaintance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121408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mutual support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89520" y="2331720"/>
            <a:ext cx="365760" cy="32004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7955280" y="1600200"/>
            <a:ext cx="3383280" cy="2011680"/>
          </a:xfrm>
          <a:prstGeom prst="roundRect">
            <a:avLst/>
          </a:prstGeom>
          <a:solidFill>
            <a:srgbClr val="A7F3D0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8183880" y="1755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3880" y="2121408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influence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5715000" cy="2194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1005840" y="40416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“in-groups” vs “out-groups”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407408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relationships can look like favouritism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access to information and opportunity harms trust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unfairness reduces motivation and increases conflict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29400" y="1600200"/>
            <a:ext cx="4828032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6903720" y="17556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actions to raise LMX fairly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2148840"/>
            <a:ext cx="4389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1:1 rhythms with everyone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transparent criteria for opportunities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 broadly (avoid “inner circle” dynamics)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feedback + development for all team members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5" name="Image 0" descr="assets/img_lead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9466"/>
            <a:ext cx="685800" cy="5654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and influence: French &amp; Raven’s bases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is the capacity to influence outcomes; influence is the process of changing attitudes/behaviour.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069848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960120" y="1874520"/>
            <a:ext cx="1874520" cy="1600200"/>
          </a:xfrm>
          <a:prstGeom prst="roundRect">
            <a:avLst/>
          </a:prstGeom>
          <a:solidFill>
            <a:srgbClr val="E2E8F0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authority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08376" y="1874520"/>
            <a:ext cx="1874520" cy="1600200"/>
          </a:xfrm>
          <a:prstGeom prst="roundRect">
            <a:avLst/>
          </a:prstGeom>
          <a:solidFill>
            <a:srgbClr val="FDE68A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008376" y="2029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8376" y="23317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benefits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56632" y="1874520"/>
            <a:ext cx="1874520" cy="1600200"/>
          </a:xfrm>
          <a:prstGeom prst="roundRect">
            <a:avLst/>
          </a:prstGeom>
          <a:solidFill>
            <a:srgbClr val="FECACA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056632" y="2029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56632" y="23317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punish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04888" y="1874520"/>
            <a:ext cx="1874520" cy="1600200"/>
          </a:xfrm>
          <a:prstGeom prst="roundRect">
            <a:avLst/>
          </a:prstGeom>
          <a:solidFill>
            <a:srgbClr val="A7F3D0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7104888" y="2029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04888" y="23317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Credibility/skill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53144" y="1874520"/>
            <a:ext cx="1874520" cy="1600200"/>
          </a:xfrm>
          <a:prstGeom prst="roundRect">
            <a:avLst/>
          </a:prstGeom>
          <a:solidFill>
            <a:srgbClr val="BFDBFE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9153144" y="2029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53144" y="23317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Respect/identification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principle: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43200" y="5394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“expert” and “referent” influence; use coercion sparingly and transparently (risk: fear, silence, cynicism).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6" name="Image 0" descr="assets/img_lead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9466"/>
            <a:ext cx="685800" cy="5654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 leadership &amp; developing leaders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715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Transformational: the “Four I’s”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Idealised influence (role model, integrity)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Inspirational motivation (vision + meaning)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stimulation (challenge + learning)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Individualised consideration (coaching, growth)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05840" y="4251960"/>
            <a:ext cx="5394960" cy="1691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234440" y="4389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guardrails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compelling vision must still respect fairness, voice, and psychological safety — charisma without ethics can become manipulation.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0" y="1508760"/>
            <a:ext cx="4828032" cy="4526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6903720" y="16642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leaders (practical)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2057400"/>
            <a:ext cx="4389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stretch assignments with real support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specific behaviours (not “be more confident”)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loops: peers, team, customers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+ role modelling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practice (after-action reviews)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6" name="Image 0" descr="assets/img_lead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9466"/>
            <a:ext cx="685800" cy="5654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_hr.png"/>
          <p:cNvPicPr>
            <a:picLocks noChangeAspect="1"/>
          </p:cNvPicPr>
          <p:nvPr/>
        </p:nvPicPr>
        <p:blipFill>
          <a:blip r:embed="rId3"/>
          <a:srcRect t="16068" b="1606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6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people at work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49808" y="2971800"/>
            <a:ext cx="1069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jobs, motivation systems, performance, rewards, and wellbeing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management as a system (HRM cycle)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end-to-end: attract → develop → perform → reward → retain (with fairness throughout).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035040" y="5715000"/>
            <a:ext cx="0" cy="0"/>
          </a:xfrm>
          <a:prstGeom prst="line">
            <a:avLst/>
          </a:prstGeom>
          <a:noFill/>
          <a:ln w="25400">
            <a:solidFill>
              <a:srgbClr val="10B98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253279" y="4686300"/>
            <a:ext cx="0" cy="0"/>
          </a:xfrm>
          <a:prstGeom prst="line">
            <a:avLst/>
          </a:prstGeom>
          <a:noFill/>
          <a:ln w="25400">
            <a:solidFill>
              <a:srgbClr val="10B98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731520" y="1508760"/>
            <a:ext cx="3619261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1005840" y="16642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Manager’s role in the cycle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39" y="2139696"/>
            <a:ext cx="2984269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strategy into clear roles and priorities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capability (coaching + learning opportunities)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expectations and give frequent feedback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rewards meaningful and fair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wellbeing and psychological safety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1" name="Image 0" descr="assets/img_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7958"/>
            <a:ext cx="685800" cy="568444"/>
          </a:xfrm>
          <a:prstGeom prst="rect">
            <a:avLst/>
          </a:prstGeom>
        </p:spPr>
      </p:pic>
      <p:pic>
        <p:nvPicPr>
          <p:cNvPr id="33" name="Picture 32" descr="A diagram of a company&#10;&#10;AI-generated content may be incorrect.">
            <a:extLst>
              <a:ext uri="{FF2B5EF4-FFF2-40B4-BE49-F238E27FC236}">
                <a16:creationId xmlns:a16="http://schemas.microsoft.com/office/drawing/2014/main" id="{F057E82B-3AB4-5497-8321-5564EB582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323" y="1623812"/>
            <a:ext cx="5833390" cy="46725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design: Job Characteristics Model (Hackman &amp; Oldham)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jobs can increase intrinsic motivation by shaping core psychological states.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characteristics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variety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identity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significance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500" dirty="0"/>
          </a:p>
          <a:p>
            <a:pPr marL="190500" indent="-1905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03520" y="2788920"/>
            <a:ext cx="822960" cy="502920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6629400" y="1508760"/>
            <a:ext cx="4828032" cy="4526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903720" y="16642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psychological states → outcomes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205740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Meaningfulness of work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for outcomes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results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Higher motivation, satisfaction, performance; lower turnover/absences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903720" y="5166360"/>
            <a:ext cx="4389120" cy="868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7132320" y="5330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redesign ideas: combine tasks, increase customer contact, rotate roles, give decision rights, build faster feedback loops.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0" descr="assets/img_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7958"/>
            <a:ext cx="685800" cy="5684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(content theories): what people need/want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theories focus on needs and the factors that create satisfaction or dissatisfaction.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Maslow (1943)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of needs (simplified):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Physiological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Belonging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Esteem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Self-actualisation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474720" cy="4526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709160" y="16642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Herzberg (1959)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09160" y="201168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theory: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Hygiene factors prevent dissatisfaction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(pay, policy, conditions)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Motivators create satisfaction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(achievement, recognition, growth)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319272" cy="4526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412480" y="16642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McClelland (1961)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12480" y="2011680"/>
            <a:ext cx="2971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learned needs: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Achievement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Affiliation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tailor roles/rewards to dominant needs.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note: Use these as lenses for *hypotheses* about motivation; validate with the person (don’t assume).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8" name="Image 0" descr="assets/img_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7958"/>
            <a:ext cx="685800" cy="5684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(process theories): expectations, fairness, goals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theories explain *how* motivation happens (cognition and perceived fairness).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3703320" cy="452628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960120" y="16642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Expectancy (Vroom)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3337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→ performance (expectancy)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→ outcomes (instrumentality)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outcomes (valence)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by: capability, resources, clear link to rewards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17720" y="1508760"/>
            <a:ext cx="3703320" cy="4526280"/>
          </a:xfrm>
          <a:prstGeom prst="roundRect">
            <a:avLst/>
          </a:prstGeom>
          <a:solidFill>
            <a:srgbClr val="FEE2E2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(Adams)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337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compare inputs/outcomes to others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inequity drives tension and withdrawal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by: transparency, consistent standards, voice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503920" y="1508760"/>
            <a:ext cx="3703320" cy="4526280"/>
          </a:xfrm>
          <a:prstGeom prst="roundRect">
            <a:avLst/>
          </a:prstGeom>
          <a:solidFill>
            <a:srgbClr val="FEF3C7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732520" y="16642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Goal-setting (Locke &amp; Latham)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732520" y="2057400"/>
            <a:ext cx="3337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&amp; challenging goals improve performance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commitment + feedback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SMART objectives as a practical tool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0" descr="assets/img_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7958"/>
            <a:ext cx="685800" cy="5684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management: expectations, feedback, and bias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works best as a continuous loop, not a once-a-year event.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24688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0" y="1554480"/>
            <a:ext cx="24688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886200" y="16642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support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1920240"/>
            <a:ext cx="24688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949440" y="202996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86200" y="3611880"/>
            <a:ext cx="24688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886200" y="37216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reward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2148840"/>
            <a:ext cx="548640" cy="365760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6355080" y="2148840"/>
            <a:ext cx="548640" cy="365760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5029200" y="2788920"/>
            <a:ext cx="411480" cy="548640"/>
          </a:xfrm>
          <a:prstGeom prst="down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3337560" y="3886200"/>
            <a:ext cx="548640" cy="365760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9418320" y="1290997"/>
            <a:ext cx="2587752" cy="4526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978408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 errors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75520" y="21945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Halo/horns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Leniency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 tendency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Recency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905695" y="3723301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bias by:</a:t>
            </a:r>
          </a:p>
          <a:p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evidence</a:t>
            </a:r>
          </a:p>
          <a:p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</a:t>
            </a:r>
          </a:p>
          <a:p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criteria</a:t>
            </a:r>
          </a:p>
          <a:p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inputs</a:t>
            </a:r>
          </a:p>
        </p:txBody>
      </p:sp>
      <p:sp>
        <p:nvSpPr>
          <p:cNvPr id="23" name="Text 21"/>
          <p:cNvSpPr/>
          <p:nvPr/>
        </p:nvSpPr>
        <p:spPr>
          <a:xfrm>
            <a:off x="503225" y="621013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2400" b="1" dirty="0">
                <a:solidFill>
                  <a:srgbClr val="64748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Practice: Draft one SMART objective + 2 behavioural indicators. Then write a feedback sentence using SBI (Situation–Behaviour–Impact).</a:t>
            </a:r>
          </a:p>
        </p:txBody>
      </p:sp>
      <p:sp>
        <p:nvSpPr>
          <p:cNvPr id="24" name="Shape 22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5" name="Image 0" descr="assets/img_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7958"/>
            <a:ext cx="685800" cy="5684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Rewards, engagement, and wellbeing: sustaining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68735" y="1280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systems should attract, retain, and energise — while preventing chronic stress and burnout.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rewards (portfolio view)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and benefits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(timely, specific)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 and development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Well-being supports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work + fair management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5257800"/>
            <a:ext cx="4937760" cy="7772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234440" y="53548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Pay needs to be fair and understood; motivation is sustained more by growth, autonomy, and respect than by money alone.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508760"/>
            <a:ext cx="4828032" cy="4526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6903720" y="16642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and burnout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2057400"/>
            <a:ext cx="4389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burnout is an occupational phenomenon from chronic workplace stress not successfully managed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dimensions: exhaustion; mental distance/cynicism; reduced efficacy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levers are systemic: workload, control, community, fairness, values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actions: prioritise, remove low-value work, resource properly, build safety and support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3240" y="639089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64748B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Close: Revisit your running case team. Which 2 interventions would you prioritise next week (team design, leadership behaviour, or people system)?</a:t>
            </a:r>
          </a:p>
        </p:txBody>
      </p:sp>
      <p:sp>
        <p:nvSpPr>
          <p:cNvPr id="16" name="Shape 14"/>
          <p:cNvSpPr/>
          <p:nvPr/>
        </p:nvSpPr>
        <p:spPr>
          <a:xfrm>
            <a:off x="10957255" y="5623560"/>
            <a:ext cx="777240" cy="7772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0" descr="assets/img_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5727958"/>
            <a:ext cx="685800" cy="56844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A11C48-238F-3565-871A-B3021DE49464}"/>
              </a:ext>
            </a:extLst>
          </p:cNvPr>
          <p:cNvSpPr txBox="1"/>
          <p:nvPr/>
        </p:nvSpPr>
        <p:spPr>
          <a:xfrm>
            <a:off x="766119" y="1659773"/>
            <a:ext cx="8377881" cy="176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References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Buchanan, D. and Huczynski, A. (2023) Organizational Behaviour, 11th edition, Harlow: Pearson Education Limited (Essential reading)</a:t>
            </a:r>
            <a:endParaRPr lang="en-ZA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Mullins, L. J. and Rees, G. (2023) Management and organisational behaviour, 13th edition, Harlow: Pearson. </a:t>
            </a:r>
            <a:endParaRPr lang="en-ZA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357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04216-5CB4-BC72-DEB3-46A86843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ANY 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4F46C4-9AEA-8023-4EF6-0CE7D4D7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3C338E01-613D-21D1-05D5-EC8CA5307E53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3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4611</Words>
  <Application>Microsoft Office PowerPoint</Application>
  <PresentationFormat>Widescreen</PresentationFormat>
  <Paragraphs>534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Groups &amp; teams, leadership, and managing people at work (lecture slides)</dc:subject>
  <dc:creator>Generated by ChatGPT</dc:creator>
  <cp:lastModifiedBy>Andrew Jenkins</cp:lastModifiedBy>
  <cp:revision>18</cp:revision>
  <dcterms:created xsi:type="dcterms:W3CDTF">2026-02-18T01:43:08Z</dcterms:created>
  <dcterms:modified xsi:type="dcterms:W3CDTF">2026-02-19T10:24:55Z</dcterms:modified>
</cp:coreProperties>
</file>