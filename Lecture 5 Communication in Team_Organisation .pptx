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22579-8B8A-488F-9FB0-974B35461007}" v="41" dt="2026-02-26T14:50:37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kpo, Godfred (Dr) (Summerstrand Campus South)" userId="f3293df5-0acc-49c2-9284-1acca1178b2a" providerId="ADAL" clId="{B8F22579-8B8A-488F-9FB0-974B35461007}"/>
    <pc:docChg chg="undo custSel modSld">
      <pc:chgData name="Anakpo, Godfred (Dr) (Summerstrand Campus South)" userId="f3293df5-0acc-49c2-9284-1acca1178b2a" providerId="ADAL" clId="{B8F22579-8B8A-488F-9FB0-974B35461007}" dt="2026-02-26T14:52:10.645" v="1060" actId="20577"/>
      <pc:docMkLst>
        <pc:docMk/>
      </pc:docMkLst>
      <pc:sldChg chg="modSp mod">
        <pc:chgData name="Anakpo, Godfred (Dr) (Summerstrand Campus South)" userId="f3293df5-0acc-49c2-9284-1acca1178b2a" providerId="ADAL" clId="{B8F22579-8B8A-488F-9FB0-974B35461007}" dt="2026-02-26T13:25:09.457" v="108" actId="20577"/>
        <pc:sldMkLst>
          <pc:docMk/>
          <pc:sldMk cId="0" sldId="257"/>
        </pc:sldMkLst>
        <pc:spChg chg="mod">
          <ac:chgData name="Anakpo, Godfred (Dr) (Summerstrand Campus South)" userId="f3293df5-0acc-49c2-9284-1acca1178b2a" providerId="ADAL" clId="{B8F22579-8B8A-488F-9FB0-974B35461007}" dt="2026-02-26T13:25:09.457" v="108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modSp mod">
        <pc:chgData name="Anakpo, Godfred (Dr) (Summerstrand Campus South)" userId="f3293df5-0acc-49c2-9284-1acca1178b2a" providerId="ADAL" clId="{B8F22579-8B8A-488F-9FB0-974B35461007}" dt="2026-02-26T13:40:50.132" v="164" actId="14100"/>
        <pc:sldMkLst>
          <pc:docMk/>
          <pc:sldMk cId="0" sldId="258"/>
        </pc:sldMkLst>
        <pc:spChg chg="mod">
          <ac:chgData name="Anakpo, Godfred (Dr) (Summerstrand Campus South)" userId="f3293df5-0acc-49c2-9284-1acca1178b2a" providerId="ADAL" clId="{B8F22579-8B8A-488F-9FB0-974B35461007}" dt="2026-02-26T13:40:50.132" v="164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3:40:45.799" v="163" actId="14100"/>
          <ac:spMkLst>
            <pc:docMk/>
            <pc:sldMk cId="0" sldId="258"/>
            <ac:spMk id="6" creationId="{00000000-0000-0000-0000-000000000000}"/>
          </ac:spMkLst>
        </pc:spChg>
        <pc:spChg chg="add">
          <ac:chgData name="Anakpo, Godfred (Dr) (Summerstrand Campus South)" userId="f3293df5-0acc-49c2-9284-1acca1178b2a" providerId="ADAL" clId="{B8F22579-8B8A-488F-9FB0-974B35461007}" dt="2026-02-26T13:35:57.162" v="110"/>
          <ac:spMkLst>
            <pc:docMk/>
            <pc:sldMk cId="0" sldId="258"/>
            <ac:spMk id="7" creationId="{0BCA643D-311C-91C5-B074-742194D2D5B0}"/>
          </ac:spMkLst>
        </pc:spChg>
      </pc:sldChg>
      <pc:sldChg chg="addSp modSp mod">
        <pc:chgData name="Anakpo, Godfred (Dr) (Summerstrand Campus South)" userId="f3293df5-0acc-49c2-9284-1acca1178b2a" providerId="ADAL" clId="{B8F22579-8B8A-488F-9FB0-974B35461007}" dt="2026-02-26T13:48:24.848" v="250" actId="14100"/>
        <pc:sldMkLst>
          <pc:docMk/>
          <pc:sldMk cId="0" sldId="259"/>
        </pc:sldMkLst>
        <pc:spChg chg="mod">
          <ac:chgData name="Anakpo, Godfred (Dr) (Summerstrand Campus South)" userId="f3293df5-0acc-49c2-9284-1acca1178b2a" providerId="ADAL" clId="{B8F22579-8B8A-488F-9FB0-974B35461007}" dt="2026-02-26T13:44:03.818" v="177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3:45:09.201" v="197" actId="20577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3:48:24.848" v="250" actId="14100"/>
          <ac:spMkLst>
            <pc:docMk/>
            <pc:sldMk cId="0" sldId="259"/>
            <ac:spMk id="7" creationId="{14548547-B7E0-158D-EB13-76E669AB15A6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3:56:28.331" v="348" actId="20577"/>
        <pc:sldMkLst>
          <pc:docMk/>
          <pc:sldMk cId="0" sldId="260"/>
        </pc:sldMkLst>
        <pc:spChg chg="mod">
          <ac:chgData name="Anakpo, Godfred (Dr) (Summerstrand Campus South)" userId="f3293df5-0acc-49c2-9284-1acca1178b2a" providerId="ADAL" clId="{B8F22579-8B8A-488F-9FB0-974B35461007}" dt="2026-02-26T13:52:44.754" v="265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3:55:05.283" v="34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3:56:28.331" v="348" actId="20577"/>
          <ac:spMkLst>
            <pc:docMk/>
            <pc:sldMk cId="0" sldId="260"/>
            <ac:spMk id="7" creationId="{00000000-0000-0000-0000-000000000000}"/>
          </ac:spMkLst>
        </pc:spChg>
      </pc:sldChg>
      <pc:sldChg chg="addSp modSp mod">
        <pc:chgData name="Anakpo, Godfred (Dr) (Summerstrand Campus South)" userId="f3293df5-0acc-49c2-9284-1acca1178b2a" providerId="ADAL" clId="{B8F22579-8B8A-488F-9FB0-974B35461007}" dt="2026-02-26T14:06:03.293" v="491" actId="20577"/>
        <pc:sldMkLst>
          <pc:docMk/>
          <pc:sldMk cId="0" sldId="261"/>
        </pc:sldMkLst>
        <pc:spChg chg="mod">
          <ac:chgData name="Anakpo, Godfred (Dr) (Summerstrand Campus South)" userId="f3293df5-0acc-49c2-9284-1acca1178b2a" providerId="ADAL" clId="{B8F22579-8B8A-488F-9FB0-974B35461007}" dt="2026-02-26T14:02:18.333" v="473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03:21.355" v="475" actId="20577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4:04:36.370" v="483" actId="255"/>
          <ac:spMkLst>
            <pc:docMk/>
            <pc:sldMk cId="0" sldId="261"/>
            <ac:spMk id="7" creationId="{C89B78A6-F368-8369-F08E-ADDC60CD69CF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4:06:03.293" v="491" actId="20577"/>
          <ac:spMkLst>
            <pc:docMk/>
            <pc:sldMk cId="0" sldId="261"/>
            <ac:spMk id="8" creationId="{2CCC9B1D-7F7E-BC7D-EDAB-9DFF5F30F099}"/>
          </ac:spMkLst>
        </pc:spChg>
      </pc:sldChg>
      <pc:sldChg chg="addSp modSp mod">
        <pc:chgData name="Anakpo, Godfred (Dr) (Summerstrand Campus South)" userId="f3293df5-0acc-49c2-9284-1acca1178b2a" providerId="ADAL" clId="{B8F22579-8B8A-488F-9FB0-974B35461007}" dt="2026-02-26T14:13:25.347" v="578" actId="20577"/>
        <pc:sldMkLst>
          <pc:docMk/>
          <pc:sldMk cId="0" sldId="262"/>
        </pc:sldMkLst>
        <pc:spChg chg="mod">
          <ac:chgData name="Anakpo, Godfred (Dr) (Summerstrand Campus South)" userId="f3293df5-0acc-49c2-9284-1acca1178b2a" providerId="ADAL" clId="{B8F22579-8B8A-488F-9FB0-974B35461007}" dt="2026-02-26T14:09:29.849" v="495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10:27.231" v="504" actId="20577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4:12:12.543" v="543" actId="20577"/>
          <ac:spMkLst>
            <pc:docMk/>
            <pc:sldMk cId="0" sldId="262"/>
            <ac:spMk id="7" creationId="{AB00E123-9251-C536-5419-8D6529F31B3D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4:13:25.347" v="578" actId="20577"/>
          <ac:spMkLst>
            <pc:docMk/>
            <pc:sldMk cId="0" sldId="262"/>
            <ac:spMk id="8" creationId="{47928E08-04B3-B474-58C6-B783EC300201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4:15:09.347" v="580" actId="12"/>
        <pc:sldMkLst>
          <pc:docMk/>
          <pc:sldMk cId="0" sldId="263"/>
        </pc:sldMkLst>
        <pc:spChg chg="mod">
          <ac:chgData name="Anakpo, Godfred (Dr) (Summerstrand Campus South)" userId="f3293df5-0acc-49c2-9284-1acca1178b2a" providerId="ADAL" clId="{B8F22579-8B8A-488F-9FB0-974B35461007}" dt="2026-02-26T14:15:04.041" v="579" actId="12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15:09.347" v="580" actId="12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4:21:09.024" v="599" actId="20577"/>
        <pc:sldMkLst>
          <pc:docMk/>
          <pc:sldMk cId="0" sldId="264"/>
        </pc:sldMkLst>
        <pc:spChg chg="mod">
          <ac:chgData name="Anakpo, Godfred (Dr) (Summerstrand Campus South)" userId="f3293df5-0acc-49c2-9284-1acca1178b2a" providerId="ADAL" clId="{B8F22579-8B8A-488F-9FB0-974B35461007}" dt="2026-02-26T14:21:09.024" v="599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20:27.942" v="598" actId="113"/>
          <ac:spMkLst>
            <pc:docMk/>
            <pc:sldMk cId="0" sldId="264"/>
            <ac:spMk id="6" creationId="{00000000-0000-0000-0000-000000000000}"/>
          </ac:spMkLst>
        </pc:spChg>
      </pc:sldChg>
      <pc:sldChg chg="addSp modSp mod">
        <pc:chgData name="Anakpo, Godfred (Dr) (Summerstrand Campus South)" userId="f3293df5-0acc-49c2-9284-1acca1178b2a" providerId="ADAL" clId="{B8F22579-8B8A-488F-9FB0-974B35461007}" dt="2026-02-26T14:29:19.182" v="641" actId="20577"/>
        <pc:sldMkLst>
          <pc:docMk/>
          <pc:sldMk cId="0" sldId="265"/>
        </pc:sldMkLst>
        <pc:spChg chg="mod">
          <ac:chgData name="Anakpo, Godfred (Dr) (Summerstrand Campus South)" userId="f3293df5-0acc-49c2-9284-1acca1178b2a" providerId="ADAL" clId="{B8F22579-8B8A-488F-9FB0-974B35461007}" dt="2026-02-26T12:21:00.251" v="1" actId="10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26:23.880" v="629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28:06.313" v="638" actId="14100"/>
          <ac:spMkLst>
            <pc:docMk/>
            <pc:sldMk cId="0" sldId="265"/>
            <ac:spMk id="6" creationId="{00000000-0000-0000-0000-000000000000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4:24:44.938" v="602" actId="1076"/>
          <ac:spMkLst>
            <pc:docMk/>
            <pc:sldMk cId="0" sldId="265"/>
            <ac:spMk id="7" creationId="{48E211B7-EFC5-CF37-158E-7832F9E1ECF1}"/>
          </ac:spMkLst>
        </pc:spChg>
        <pc:spChg chg="add mod">
          <ac:chgData name="Anakpo, Godfred (Dr) (Summerstrand Campus South)" userId="f3293df5-0acc-49c2-9284-1acca1178b2a" providerId="ADAL" clId="{B8F22579-8B8A-488F-9FB0-974B35461007}" dt="2026-02-26T14:29:19.182" v="641" actId="20577"/>
          <ac:spMkLst>
            <pc:docMk/>
            <pc:sldMk cId="0" sldId="265"/>
            <ac:spMk id="8" creationId="{4FCB0D31-3F64-9E96-F982-FF9249F59602}"/>
          </ac:spMkLst>
        </pc:spChg>
      </pc:sldChg>
      <pc:sldChg chg="addSp delSp modSp mod">
        <pc:chgData name="Anakpo, Godfred (Dr) (Summerstrand Campus South)" userId="f3293df5-0acc-49c2-9284-1acca1178b2a" providerId="ADAL" clId="{B8F22579-8B8A-488F-9FB0-974B35461007}" dt="2026-02-26T14:38:45.826" v="910" actId="14100"/>
        <pc:sldMkLst>
          <pc:docMk/>
          <pc:sldMk cId="0" sldId="266"/>
        </pc:sldMkLst>
        <pc:spChg chg="mod">
          <ac:chgData name="Anakpo, Godfred (Dr) (Summerstrand Campus South)" userId="f3293df5-0acc-49c2-9284-1acca1178b2a" providerId="ADAL" clId="{B8F22579-8B8A-488F-9FB0-974B35461007}" dt="2026-02-26T14:38:45.826" v="910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38:18.719" v="908" actId="14100"/>
          <ac:spMkLst>
            <pc:docMk/>
            <pc:sldMk cId="0" sldId="266"/>
            <ac:spMk id="6" creationId="{00000000-0000-0000-0000-000000000000}"/>
          </ac:spMkLst>
        </pc:spChg>
        <pc:spChg chg="add del mod">
          <ac:chgData name="Anakpo, Godfred (Dr) (Summerstrand Campus South)" userId="f3293df5-0acc-49c2-9284-1acca1178b2a" providerId="ADAL" clId="{B8F22579-8B8A-488F-9FB0-974B35461007}" dt="2026-02-26T14:38:41.359" v="909" actId="478"/>
          <ac:spMkLst>
            <pc:docMk/>
            <pc:sldMk cId="0" sldId="266"/>
            <ac:spMk id="7" creationId="{785B5301-3784-67F8-FB78-43F65A74A058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4:40:52.257" v="975" actId="20577"/>
        <pc:sldMkLst>
          <pc:docMk/>
          <pc:sldMk cId="0" sldId="267"/>
        </pc:sldMkLst>
        <pc:spChg chg="mod">
          <ac:chgData name="Anakpo, Godfred (Dr) (Summerstrand Campus South)" userId="f3293df5-0acc-49c2-9284-1acca1178b2a" providerId="ADAL" clId="{B8F22579-8B8A-488F-9FB0-974B35461007}" dt="2026-02-26T14:40:52.257" v="975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4:43:47.063" v="1023" actId="20577"/>
        <pc:sldMkLst>
          <pc:docMk/>
          <pc:sldMk cId="0" sldId="268"/>
        </pc:sldMkLst>
        <pc:spChg chg="mod">
          <ac:chgData name="Anakpo, Godfred (Dr) (Summerstrand Campus South)" userId="f3293df5-0acc-49c2-9284-1acca1178b2a" providerId="ADAL" clId="{B8F22579-8B8A-488F-9FB0-974B35461007}" dt="2026-02-26T14:43:25.987" v="101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43:47.063" v="1023" actId="20577"/>
          <ac:spMkLst>
            <pc:docMk/>
            <pc:sldMk cId="0" sldId="268"/>
            <ac:spMk id="6" creationId="{00000000-0000-0000-0000-000000000000}"/>
          </ac:spMkLst>
        </pc:spChg>
      </pc:sldChg>
      <pc:sldChg chg="addSp delSp modSp mod">
        <pc:chgData name="Anakpo, Godfred (Dr) (Summerstrand Campus South)" userId="f3293df5-0acc-49c2-9284-1acca1178b2a" providerId="ADAL" clId="{B8F22579-8B8A-488F-9FB0-974B35461007}" dt="2026-02-26T14:47:42.461" v="1036" actId="20577"/>
        <pc:sldMkLst>
          <pc:docMk/>
          <pc:sldMk cId="0" sldId="269"/>
        </pc:sldMkLst>
        <pc:spChg chg="mod">
          <ac:chgData name="Anakpo, Godfred (Dr) (Summerstrand Campus South)" userId="f3293df5-0acc-49c2-9284-1acca1178b2a" providerId="ADAL" clId="{B8F22579-8B8A-488F-9FB0-974B35461007}" dt="2026-02-26T14:47:13.099" v="1031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47:42.461" v="1036" actId="20577"/>
          <ac:spMkLst>
            <pc:docMk/>
            <pc:sldMk cId="0" sldId="269"/>
            <ac:spMk id="6" creationId="{00000000-0000-0000-0000-000000000000}"/>
          </ac:spMkLst>
        </pc:spChg>
        <pc:spChg chg="add del mod">
          <ac:chgData name="Anakpo, Godfred (Dr) (Summerstrand Campus South)" userId="f3293df5-0acc-49c2-9284-1acca1178b2a" providerId="ADAL" clId="{B8F22579-8B8A-488F-9FB0-974B35461007}" dt="2026-02-26T14:45:26.190" v="1026" actId="478"/>
          <ac:spMkLst>
            <pc:docMk/>
            <pc:sldMk cId="0" sldId="269"/>
            <ac:spMk id="7" creationId="{74A5A2A4-7A63-BCCF-62B9-55EE4094675B}"/>
          </ac:spMkLst>
        </pc:spChg>
      </pc:sldChg>
      <pc:sldChg chg="addSp modSp mod">
        <pc:chgData name="Anakpo, Godfred (Dr) (Summerstrand Campus South)" userId="f3293df5-0acc-49c2-9284-1acca1178b2a" providerId="ADAL" clId="{B8F22579-8B8A-488F-9FB0-974B35461007}" dt="2026-02-26T14:50:44.049" v="1052" actId="20577"/>
        <pc:sldMkLst>
          <pc:docMk/>
          <pc:sldMk cId="0" sldId="270"/>
        </pc:sldMkLst>
        <pc:spChg chg="mod">
          <ac:chgData name="Anakpo, Godfred (Dr) (Summerstrand Campus South)" userId="f3293df5-0acc-49c2-9284-1acca1178b2a" providerId="ADAL" clId="{B8F22579-8B8A-488F-9FB0-974B35461007}" dt="2026-02-26T14:50:44.049" v="1052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Anakpo, Godfred (Dr) (Summerstrand Campus South)" userId="f3293df5-0acc-49c2-9284-1acca1178b2a" providerId="ADAL" clId="{B8F22579-8B8A-488F-9FB0-974B35461007}" dt="2026-02-26T14:50:13.287" v="1047" actId="20577"/>
          <ac:spMkLst>
            <pc:docMk/>
            <pc:sldMk cId="0" sldId="270"/>
            <ac:spMk id="6" creationId="{00000000-0000-0000-0000-000000000000}"/>
          </ac:spMkLst>
        </pc:spChg>
        <pc:spChg chg="add">
          <ac:chgData name="Anakpo, Godfred (Dr) (Summerstrand Campus South)" userId="f3293df5-0acc-49c2-9284-1acca1178b2a" providerId="ADAL" clId="{B8F22579-8B8A-488F-9FB0-974B35461007}" dt="2026-02-26T14:49:54.897" v="1041"/>
          <ac:spMkLst>
            <pc:docMk/>
            <pc:sldMk cId="0" sldId="270"/>
            <ac:spMk id="7" creationId="{47603152-5768-A0EB-927B-F3E336798E17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4:15:49.624" v="584" actId="313"/>
        <pc:sldMkLst>
          <pc:docMk/>
          <pc:sldMk cId="1229387521" sldId="275"/>
        </pc:sldMkLst>
        <pc:spChg chg="mod">
          <ac:chgData name="Anakpo, Godfred (Dr) (Summerstrand Campus South)" userId="f3293df5-0acc-49c2-9284-1acca1178b2a" providerId="ADAL" clId="{B8F22579-8B8A-488F-9FB0-974B35461007}" dt="2026-02-26T14:15:49.624" v="584" actId="313"/>
          <ac:spMkLst>
            <pc:docMk/>
            <pc:sldMk cId="1229387521" sldId="275"/>
            <ac:spMk id="5" creationId="{2951022E-A655-68D7-B46A-BD43D6D24167}"/>
          </ac:spMkLst>
        </pc:spChg>
      </pc:sldChg>
      <pc:sldChg chg="modSp mod">
        <pc:chgData name="Anakpo, Godfred (Dr) (Summerstrand Campus South)" userId="f3293df5-0acc-49c2-9284-1acca1178b2a" providerId="ADAL" clId="{B8F22579-8B8A-488F-9FB0-974B35461007}" dt="2026-02-26T14:52:10.645" v="1060" actId="20577"/>
        <pc:sldMkLst>
          <pc:docMk/>
          <pc:sldMk cId="882180291" sldId="276"/>
        </pc:sldMkLst>
        <pc:spChg chg="mod">
          <ac:chgData name="Anakpo, Godfred (Dr) (Summerstrand Campus South)" userId="f3293df5-0acc-49c2-9284-1acca1178b2a" providerId="ADAL" clId="{B8F22579-8B8A-488F-9FB0-974B35461007}" dt="2026-02-26T14:52:10.645" v="1060" actId="20577"/>
          <ac:spMkLst>
            <pc:docMk/>
            <pc:sldMk cId="882180291" sldId="276"/>
            <ac:spMk id="5" creationId="{F7A58C8A-A4DE-5ACE-DA67-0380EF5B55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4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Chapter 7. Emphasize that communication is central to leadership, culture, power,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students through expected competencies aligned to Chapter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Communication as Shared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Why Study Communication?.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Communication Process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Interpersonal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Verbal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Non-Verbal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6BA1F-4BD1-C338-C114-71E34E0B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68220-D773-2B1C-7C23-32289D21A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49020-C521-E96A-FF69-D88653509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students through expected competencies aligned to Chapter 7.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A0E1-35F6-5E7E-7FAD-E1B8BBD61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81309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Cultural Communication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Impression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Emotional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Organizational Communication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Communication Climate.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Digital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Communication and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UK Case Insight – NHS.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Expand verbally with real examples and discussion for Chapter 7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8A6-8718-4BB6-FD8C-55073CCC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722F8-C9C7-805B-C10C-5B31AC32C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B116D-345C-5BB4-0F54-9ED973D9E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students through expected competencies aligned to Chapter 7.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D51CE-5404-D9DD-E2AD-82392F2AF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8453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0860-3F4E-2346-E109-38088E11D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1E6D8-24EE-CD40-BD51-5A40BF810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BCF3C-4272-BD58-8BD7-51D9D10AD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students through expected competencies aligned to Chapter 7.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D1A8E-B65D-3D10-34F1-F591F5D99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7424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48131"/>
            <a:ext cx="8241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dirty="0">
                <a:solidFill>
                  <a:srgbClr val="FFFFFF"/>
                </a:solidFill>
              </a:rPr>
              <a:t>LECTURE 5:  </a:t>
            </a:r>
            <a:r>
              <a:rPr sz="2400" b="1" dirty="0">
                <a:solidFill>
                  <a:srgbClr val="FFFFFF"/>
                </a:solidFill>
              </a:rPr>
              <a:t>COMMUNICATION IN </a:t>
            </a:r>
            <a:r>
              <a:rPr lang="en-ZA" sz="2400" b="1" dirty="0">
                <a:solidFill>
                  <a:srgbClr val="FFFFFF"/>
                </a:solidFill>
              </a:rPr>
              <a:t>TEAMS/ </a:t>
            </a:r>
            <a:r>
              <a:rPr sz="2400" b="1" dirty="0">
                <a:solidFill>
                  <a:srgbClr val="FFFFFF"/>
                </a:solidFill>
              </a:rPr>
              <a:t>ORGANIZATIONS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7315200" cy="27432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By the end of this session, students should be able to: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1600" dirty="0"/>
              <a:t>Explain the communication process model.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1600" dirty="0"/>
              <a:t>Distinguish verbal and non-verbal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1600" dirty="0"/>
              <a:t>Evaluate cultural differences in communication styles.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1600" dirty="0"/>
              <a:t>Assess the role of emotional intelligence.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1600" dirty="0"/>
              <a:t>Analy</a:t>
            </a:r>
            <a:r>
              <a:rPr lang="en-ZA" sz="1600" dirty="0"/>
              <a:t>s</a:t>
            </a:r>
            <a:r>
              <a:rPr sz="1600" dirty="0"/>
              <a:t>e communication flows in organizations.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Communication as Shared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400" y="1463039"/>
            <a:ext cx="4267200" cy="3422228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ZA" sz="1600" b="1" dirty="0">
              <a:solidFill>
                <a:srgbClr val="FFFFFF"/>
              </a:solidFill>
            </a:endParaRPr>
          </a:p>
          <a:p>
            <a:pPr algn="ctr"/>
            <a:r>
              <a:rPr sz="1600" b="1" dirty="0">
                <a:solidFill>
                  <a:srgbClr val="FFFFFF"/>
                </a:solidFill>
              </a:rPr>
              <a:t>Definition</a:t>
            </a:r>
            <a:r>
              <a:rPr lang="en-ZA" sz="1600" b="1" dirty="0">
                <a:solidFill>
                  <a:srgbClr val="FFFFFF"/>
                </a:solidFill>
              </a:rPr>
              <a:t> of </a:t>
            </a:r>
            <a:r>
              <a:rPr lang="en-ZA" sz="1600" b="1" dirty="0" err="1">
                <a:solidFill>
                  <a:srgbClr val="FFFFFF"/>
                </a:solidFill>
              </a:rPr>
              <a:t>Commucnication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Process of creating shared understanding.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Meaning is interpreted, not transmitted.</a:t>
            </a:r>
            <a:r>
              <a:rPr lang="en-ZA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Involves symbols (words, images, gestures).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Requires feedback to check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39"/>
            <a:ext cx="4114800" cy="3117427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Why </a:t>
            </a:r>
            <a:r>
              <a:rPr lang="en-ZA" sz="1600" b="1" dirty="0">
                <a:solidFill>
                  <a:srgbClr val="FFFFFF"/>
                </a:solidFill>
              </a:rPr>
              <a:t>Communication </a:t>
            </a:r>
            <a:r>
              <a:rPr sz="1600" b="1" dirty="0">
                <a:solidFill>
                  <a:srgbClr val="FFFFFF"/>
                </a:solidFill>
              </a:rPr>
              <a:t> Matters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Shapes culture and leadership.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Influences performance and trust.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Shapes organisational culture.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Builds (or destroys) trust.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Influences leadership effectiveness.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Affects performance and coordination.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Reduces misunderstanding and conflict.</a:t>
            </a:r>
            <a:endParaRPr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BCA643D-311C-91C5-B074-742194D2D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Involves symbols (words, images, gestures).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feedback to check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Why Study Communication?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Organizational Impact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Improves coordination and task integration.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Reduces ambiguity and role conflict.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Enables effective decision-making.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Supports change implementation..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Leadership </a:t>
            </a:r>
            <a:r>
              <a:rPr lang="en-ZA" sz="1600" b="1" dirty="0">
                <a:solidFill>
                  <a:srgbClr val="FFFFFF"/>
                </a:solidFill>
              </a:rPr>
              <a:t>Effectiveness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Builds credibility and trust.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Shapes vision and meaning.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Enhances engagement and motivation.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Aligns behaviour with strategy</a:t>
            </a:r>
            <a:endParaRPr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14548547-B7E0-158D-EB13-76E669AB15A6}"/>
              </a:ext>
            </a:extLst>
          </p:cNvPr>
          <p:cNvSpPr/>
          <p:nvPr/>
        </p:nvSpPr>
        <p:spPr>
          <a:xfrm>
            <a:off x="2560319" y="3825239"/>
            <a:ext cx="4306147" cy="2287693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Organisational Culture and Managing Uncertain and Change</a:t>
            </a:r>
            <a:endParaRPr sz="1600" b="1" dirty="0">
              <a:solidFill>
                <a:srgbClr val="FFFFFF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Transmits values and norms.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Reinforces identity and shared assumptions.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Reduces anxiety during restructuring.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Clarifies expectations.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Communication Process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219456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Sender &amp; Encoding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Idea originates from sender.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Encoding: translating thoughts into symbols (words, tone, gestures).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Influenced by assumptions, emotions, status, and cultural background.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Intention ≠ impact.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39"/>
            <a:ext cx="3657600" cy="2194559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Channel &amp; Noise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Communication channels affect interpretations, includes; </a:t>
            </a:r>
            <a:r>
              <a:rPr dirty="0"/>
              <a:t>Email,</a:t>
            </a:r>
            <a:r>
              <a:rPr lang="en-ZA" dirty="0"/>
              <a:t>face-to-face, </a:t>
            </a:r>
            <a:r>
              <a:rPr dirty="0"/>
              <a:t>meetings,</a:t>
            </a:r>
            <a:r>
              <a:rPr lang="en-ZA" dirty="0"/>
              <a:t>text/chats,</a:t>
            </a:r>
            <a:r>
              <a:rPr dirty="0"/>
              <a:t> reports.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Noise disrupts clarity</a:t>
            </a:r>
            <a:r>
              <a:rPr lang="en-ZA" dirty="0"/>
              <a:t> (such as</a:t>
            </a:r>
            <a:r>
              <a:rPr lang="fr-FR" dirty="0"/>
              <a:t>Physical noise (distractions)</a:t>
            </a:r>
            <a:r>
              <a:rPr lang="fr-FR" dirty="0" err="1"/>
              <a:t>Psychological</a:t>
            </a:r>
            <a:r>
              <a:rPr lang="fr-FR" dirty="0"/>
              <a:t> noise (</a:t>
            </a:r>
            <a:r>
              <a:rPr lang="fr-FR" dirty="0" err="1"/>
              <a:t>bias</a:t>
            </a:r>
            <a:r>
              <a:rPr lang="fr-FR" dirty="0"/>
              <a:t>, stress)</a:t>
            </a:r>
            <a:r>
              <a:rPr lang="en-ZA" dirty="0"/>
              <a:t> 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679787" y="416052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Receiver &amp; Feedback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Decoding shaped by perception and prior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Feedback confirms, modifies, or distorts meaning.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Communication is interactive, not linear.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Interpersonal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Active Listening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Full a</a:t>
            </a:r>
            <a:r>
              <a:rPr dirty="0"/>
              <a:t>attention</a:t>
            </a:r>
            <a:r>
              <a:rPr lang="en-ZA" dirty="0"/>
              <a:t> (verbal&amp; non-verbal signals)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</a:t>
            </a:r>
            <a:r>
              <a:rPr dirty="0" err="1"/>
              <a:t>eflect</a:t>
            </a:r>
            <a:r>
              <a:rPr lang="en-ZA" dirty="0" err="1"/>
              <a:t>ing</a:t>
            </a:r>
            <a:r>
              <a:rPr lang="en-ZA" dirty="0"/>
              <a:t> feelings and meanings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Reduces misunderstanding.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Psychological Safety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sz="1400" dirty="0"/>
              <a:t>Climate where individuals feel safe to speak up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Encourages openness.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Reduces defensive </a:t>
            </a:r>
            <a:r>
              <a:rPr dirty="0" err="1"/>
              <a:t>behaviour</a:t>
            </a:r>
            <a:r>
              <a:rPr dirty="0"/>
              <a:t>.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C89B78A6-F368-8369-F08E-ADDC60CD69CF}"/>
              </a:ext>
            </a:extLst>
          </p:cNvPr>
          <p:cNvSpPr/>
          <p:nvPr/>
        </p:nvSpPr>
        <p:spPr>
          <a:xfrm>
            <a:off x="914400" y="37236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Perception &amp; Attribution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rgbClr val="FFFFFF"/>
                </a:solidFill>
              </a:rPr>
              <a:t>Messages filtered through personal assumptions.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rgbClr val="FFFFFF"/>
                </a:solidFill>
              </a:rPr>
              <a:t>Stereotyping and bias distort interpretation.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rgbClr val="FFFFFF"/>
                </a:solidFill>
              </a:rPr>
              <a:t>Attribution errors affect workplace relationships.</a:t>
            </a:r>
            <a:endParaRPr sz="1600" dirty="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2CCC9B1D-7F7E-BC7D-EDAB-9DFF5F30F099}"/>
              </a:ext>
            </a:extLst>
          </p:cNvPr>
          <p:cNvSpPr/>
          <p:nvPr/>
        </p:nvSpPr>
        <p:spPr>
          <a:xfrm>
            <a:off x="4888653" y="39776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Emotional Intelligence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 Awareness of own emotions.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Sensitivity to others’ emotional cues.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Regulating reactions in conflict situations.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Verbal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Language Choice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Framing affects perception.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Clarity improves understanding.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Word choice signals priorities and values.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Avoid jargon and ambiguity.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Tone &amp; Delivery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Tone communicates attitude and intent.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Emotion affects meaning.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Confidence vs hesitation shapes credibility.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Inconsistency between words and tone reduces trust.</a:t>
            </a:r>
            <a:endParaRPr dirty="0"/>
          </a:p>
          <a:p>
            <a:pPr lvl="1"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AB00E123-9251-C536-5419-8D6529F31B3D}"/>
              </a:ext>
            </a:extLst>
          </p:cNvPr>
          <p:cNvSpPr/>
          <p:nvPr/>
        </p:nvSpPr>
        <p:spPr>
          <a:xfrm>
            <a:off x="878840" y="365760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Framing &amp; Sensemaking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Leaders frame events to shape meaning.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Positive vs negative framing influences morale.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Language constructs organisational reality</a:t>
            </a:r>
            <a:endParaRPr dirty="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47928E08-04B3-B474-58C6-B783EC300201}"/>
              </a:ext>
            </a:extLst>
          </p:cNvPr>
          <p:cNvSpPr/>
          <p:nvPr/>
        </p:nvSpPr>
        <p:spPr>
          <a:xfrm>
            <a:off x="4754880" y="3716867"/>
            <a:ext cx="3657600" cy="1954106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Barriers in Verbal Communication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Ambiguity.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Euphemisms.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Over-complex language.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Cultural differences in interpretation.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Non-Verbal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Body Language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Posture signals confidence.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Gestures reinforce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Paralanguage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Tone, pitch, speed.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Often overrides 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723F-ABF0-F256-DDE5-A7D0F6D4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A6A126-E03D-C270-A372-E5F50513D25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13898-6757-6A3E-58E5-CC2DB76045C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22D4B-88CE-B741-6A21-1752B06F0278}"/>
              </a:ext>
            </a:extLst>
          </p:cNvPr>
          <p:cNvSpPr txBox="1"/>
          <p:nvPr/>
        </p:nvSpPr>
        <p:spPr>
          <a:xfrm>
            <a:off x="640080" y="457200"/>
            <a:ext cx="34156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ZA" sz="3200" b="1" dirty="0">
                <a:solidFill>
                  <a:srgbClr val="FFFFFF"/>
                </a:solidFill>
              </a:rPr>
              <a:t>TEAM ACTIVITIES 1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8FE4ED-7D59-F051-F091-F50F0E8C838F}"/>
              </a:ext>
            </a:extLst>
          </p:cNvPr>
          <p:cNvSpPr/>
          <p:nvPr/>
        </p:nvSpPr>
        <p:spPr>
          <a:xfrm>
            <a:off x="914400" y="1645920"/>
            <a:ext cx="7315200" cy="27432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lang="en-ZA" sz="1600" dirty="0"/>
              <a:t>When working in your team, what is your preferred communication mode for important issues? Options; face-to-</a:t>
            </a:r>
            <a:r>
              <a:rPr lang="en-ZA" sz="1600" dirty="0" err="1"/>
              <a:t>fac</a:t>
            </a:r>
            <a:r>
              <a:rPr lang="en-ZA" sz="1600" dirty="0"/>
              <a:t>, email, WhatsApp/</a:t>
            </a:r>
            <a:r>
              <a:rPr lang="en-ZA" sz="1600" dirty="0" err="1"/>
              <a:t>Text,,Team</a:t>
            </a:r>
            <a:r>
              <a:rPr lang="en-ZA" sz="1600" dirty="0"/>
              <a:t>/Zoom, Phone call.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Each of you in the team should write your  preferred mode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Each should explain  to the team why you prefer that mode of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Mention one frustration about other modes.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Identify each member’s preferred mode.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Write them down visibly (one sheet per team).</a:t>
            </a:r>
            <a:r>
              <a:rPr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422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Cultural Communication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High-Context</a:t>
            </a:r>
            <a:r>
              <a:rPr lang="en-ZA" sz="1600" b="1" dirty="0">
                <a:solidFill>
                  <a:srgbClr val="FFFFFF"/>
                </a:solidFill>
              </a:rPr>
              <a:t>(</a:t>
            </a:r>
            <a:r>
              <a:rPr lang="en-ZA" sz="1600" b="1" dirty="0"/>
              <a:t>meaning embedded in relationships, tone, and non-verbal cues)</a:t>
            </a:r>
            <a:endParaRPr sz="1600" b="1" dirty="0">
              <a:solidFill>
                <a:srgbClr val="FFFFFF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Implicit meaning.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Relationship-oriented.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Shared understanding.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Non-verbal cues are important.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Low-Context</a:t>
            </a:r>
            <a:r>
              <a:rPr lang="en-ZA" sz="1600" b="1" dirty="0">
                <a:solidFill>
                  <a:srgbClr val="FFFFFF"/>
                </a:solidFill>
              </a:rPr>
              <a:t> (</a:t>
            </a:r>
            <a:r>
              <a:rPr lang="en-ZA" sz="1600" b="1" dirty="0"/>
              <a:t>meaning explicit, direct, and clearly verbalised)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Explicit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Task-focused.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Clear instructions.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Direct feedback.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878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Impression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96596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ZA" sz="1600" b="1" dirty="0">
              <a:solidFill>
                <a:srgbClr val="FFFFFF"/>
              </a:solidFill>
            </a:endParaRPr>
          </a:p>
          <a:p>
            <a:pPr algn="ctr"/>
            <a:r>
              <a:rPr lang="en-ZA" sz="1600" b="1" dirty="0">
                <a:solidFill>
                  <a:srgbClr val="FFFFFF"/>
                </a:solidFill>
              </a:rPr>
              <a:t>What is Impression Management?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Conscious or unconscious attempts to shape others’ perceptions.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Part of everyday organisational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Linked to self-presentation and identity at work.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39"/>
            <a:ext cx="3657600" cy="2236893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Common Strategies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Self-promotion – highlighting competence and achievements.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Ingratiation – seeking approval through praise or agreement.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Exemplification – appearing dedicated or morally committed.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Supplication – highlighting limitations to gain support.</a:t>
            </a:r>
            <a:endParaRPr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4FCB0D31-3F64-9E96-F982-FF9249F59602}"/>
              </a:ext>
            </a:extLst>
          </p:cNvPr>
          <p:cNvSpPr/>
          <p:nvPr/>
        </p:nvSpPr>
        <p:spPr>
          <a:xfrm>
            <a:off x="1520614" y="4128117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ZA" sz="1600" b="1" dirty="0">
                <a:solidFill>
                  <a:srgbClr val="FFFFFF"/>
                </a:solidFill>
              </a:rPr>
              <a:t>Ethical Considerations</a:t>
            </a:r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Risk of manipulation.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Authenticity matters.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 Impact on trust and credibility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Emotional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247396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lang="en-ZA" sz="1600" b="1" dirty="0">
                <a:solidFill>
                  <a:srgbClr val="FFFFFF"/>
                </a:solidFill>
              </a:rPr>
              <a:t>Emotional Intelligence </a:t>
            </a:r>
            <a:r>
              <a:rPr lang="en-ZA" sz="1600" dirty="0">
                <a:solidFill>
                  <a:srgbClr val="FFFFFF"/>
                </a:solidFill>
              </a:rPr>
              <a:t>is the ability to identify, integrate understand and reflectively manage one’s own and other people’s feeling</a:t>
            </a:r>
            <a:r>
              <a:rPr sz="1600" b="1" dirty="0">
                <a:solidFill>
                  <a:srgbClr val="FFFFFF"/>
                </a:solidFill>
              </a:rPr>
              <a:t>
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247396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ZA" sz="1600" b="1" dirty="0">
              <a:solidFill>
                <a:srgbClr val="FFFFFF"/>
              </a:solidFill>
            </a:endParaRPr>
          </a:p>
          <a:p>
            <a:pPr algn="ctr"/>
            <a:endParaRPr lang="en-ZA" sz="1600" b="1" dirty="0">
              <a:solidFill>
                <a:srgbClr val="FFFFFF"/>
              </a:solidFill>
            </a:endParaRPr>
          </a:p>
          <a:p>
            <a:pPr algn="ctr"/>
            <a:r>
              <a:rPr lang="en-ZA" sz="1600" b="1" dirty="0">
                <a:solidFill>
                  <a:srgbClr val="FFFFFF"/>
                </a:solidFill>
              </a:rPr>
              <a:t>Five dimension of emotional intelligence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Self-awareness – recognising own emotions.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Self-regulation – managing emotional reactions.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Motivation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Empathy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Social skills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Organizational Communication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Formal Flows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Downward – instructions</a:t>
            </a:r>
            <a:r>
              <a:rPr lang="en-ZA" dirty="0"/>
              <a:t>,policy performance expectation</a:t>
            </a:r>
            <a:r>
              <a:rPr dirty="0"/>
              <a:t>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Upward – feedback</a:t>
            </a:r>
            <a:r>
              <a:rPr lang="en-ZA" dirty="0"/>
              <a:t>, suggestions and concerns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Informal Flow
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Grapevine spreads rapidly.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Shapes morale.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Communication Climate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Open </a:t>
            </a:r>
            <a:r>
              <a:rPr lang="en-ZA" sz="1600" b="1" dirty="0">
                <a:solidFill>
                  <a:srgbClr val="FFFFFF"/>
                </a:solidFill>
              </a:rPr>
              <a:t>Communication </a:t>
            </a:r>
            <a:r>
              <a:rPr sz="1600" b="1" dirty="0">
                <a:solidFill>
                  <a:srgbClr val="FFFFFF"/>
                </a:solidFill>
              </a:rPr>
              <a:t>Climate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Encourages participation.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Builds trust.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Constructive disagreement accepted.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High trust and transparency.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Defensive</a:t>
            </a:r>
            <a:r>
              <a:rPr lang="en-ZA" sz="1600" b="1" dirty="0">
                <a:solidFill>
                  <a:srgbClr val="FFFFFF"/>
                </a:solidFill>
              </a:rPr>
              <a:t> Communication</a:t>
            </a:r>
            <a:r>
              <a:rPr sz="1600" b="1" dirty="0">
                <a:solidFill>
                  <a:srgbClr val="FFFFFF"/>
                </a:solidFill>
              </a:rPr>
              <a:t> Climate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Suppresses dissent.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Reduces innovation.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Blame culture.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Low trust and reduced innovation.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Digital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Advantages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Speed and accessibility.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Broader reach.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Asynchronous flexibility.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Easy documentation and traceability.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Supports remote and hybrid work.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Challenges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Reduced richness.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Virtual fatigue.</a:t>
            </a:r>
            <a:r>
              <a:rPr lang="en-ZA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Delayed or absent feedback.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Information overload.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Communication and 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Information Control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Gatekeeping influence.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Agenda setting.</a:t>
            </a:r>
            <a:endParaRPr lang="en-ZA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Selective disclosure of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Filtering upward communication.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Language &amp; Identity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 Language reinforces hierarchy.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Labels shape organisational identity.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Narratives construct organisational reality.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Framing legitimises authority.</a:t>
            </a:r>
            <a:endParaRPr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7603152-5768-A0EB-927B-F3E336798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reinforces hierarchy.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 shape organisational identity.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Narratives construct organisational reality.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UK Case Insight – NHS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39"/>
            <a:ext cx="3657600" cy="2203027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ZA" sz="1600" b="1" dirty="0">
              <a:solidFill>
                <a:srgbClr val="FFFFFF"/>
              </a:solidFill>
            </a:endParaRPr>
          </a:p>
          <a:p>
            <a:pPr algn="ctr"/>
            <a:r>
              <a:rPr sz="1600" b="1" dirty="0">
                <a:solidFill>
                  <a:srgbClr val="FFFFFF"/>
                </a:solidFill>
              </a:rPr>
              <a:t>Breakdowns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Upward silence.</a:t>
            </a:r>
            <a:r>
              <a:rPr lang="en-ZA" dirty="0"/>
              <a:t>(employees didn’t speak up, problems known at lower lever but senior level unaware etc.).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Departmental silos.</a:t>
            </a:r>
            <a:r>
              <a:rPr lang="en-ZA" dirty="0"/>
              <a:t> Department worked separately, no information across etc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2203026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Lessons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Transparency.</a:t>
            </a:r>
            <a:r>
              <a:rPr lang="en-ZA" dirty="0"/>
              <a:t> Open sharing info, honest communication.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dirty="0"/>
              <a:t>Psychological safety.</a:t>
            </a:r>
            <a:r>
              <a:rPr lang="en-ZA" dirty="0"/>
              <a:t>feel safe to speak up, no punishment for raising concerns.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9016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Core Insight
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Communication constructs reality.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Meaning depends on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3657600" cy="18288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Leadership Implication
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Strategic communication drives effectiveness.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Emotion and culture shape outcomes.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9DCB-EE3B-62F4-BE7E-8CF45823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A0799C-9E69-09FA-015C-10AE2356140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4A0AC-D03A-8A17-460C-22DD0D9898BF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9E623-FAA2-C1B9-394D-7382D21B26A3}"/>
              </a:ext>
            </a:extLst>
          </p:cNvPr>
          <p:cNvSpPr txBox="1"/>
          <p:nvPr/>
        </p:nvSpPr>
        <p:spPr>
          <a:xfrm>
            <a:off x="640080" y="457200"/>
            <a:ext cx="34156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ZA" sz="3200" b="1" dirty="0">
                <a:solidFill>
                  <a:srgbClr val="FFFFFF"/>
                </a:solidFill>
              </a:rPr>
              <a:t>TEAM ACTIVITIES 2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951022E-A655-68D7-B46A-BD43D6D24167}"/>
              </a:ext>
            </a:extLst>
          </p:cNvPr>
          <p:cNvSpPr/>
          <p:nvPr/>
        </p:nvSpPr>
        <p:spPr>
          <a:xfrm>
            <a:off x="914400" y="1645920"/>
            <a:ext cx="7315200" cy="27432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lang="en-ZA" sz="1600" dirty="0"/>
              <a:t>Imagine your team is about to work together for the entire semester. Many group assignments fail not because of intelligence, but because of poor communication. Your task is to create 5 communication rules your team agrees to follow. Example</a:t>
            </a:r>
            <a:r>
              <a:rPr sz="1600" b="1" dirty="0">
                <a:solidFill>
                  <a:srgbClr val="FFFFFF"/>
                </a:solidFill>
              </a:rPr>
              <a:t>
</a:t>
            </a:r>
            <a:r>
              <a:rPr lang="en-ZA" sz="1600" b="1" dirty="0">
                <a:solidFill>
                  <a:srgbClr val="FFFFFF"/>
                </a:solidFill>
              </a:rPr>
              <a:t>"</a:t>
            </a:r>
            <a:r>
              <a:rPr lang="en-ZA" sz="1600" dirty="0"/>
              <a:t>Don’t text something rude you wouldn’t say in person”.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9387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6871-D1E9-71EF-7A6C-15E0D1C4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B47A1D-AC2C-327B-1AFB-97764EE98A2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0EBE4D-2DC3-878A-EEFB-26E46D7A922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231D1-2A02-F466-CB7F-0CA2CE58FE58}"/>
              </a:ext>
            </a:extLst>
          </p:cNvPr>
          <p:cNvSpPr txBox="1"/>
          <p:nvPr/>
        </p:nvSpPr>
        <p:spPr>
          <a:xfrm>
            <a:off x="640080" y="457200"/>
            <a:ext cx="20521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ZA" sz="3200" b="1" dirty="0">
                <a:solidFill>
                  <a:srgbClr val="FFFFFF"/>
                </a:solidFill>
              </a:rPr>
              <a:t>References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A58C8A-A4DE-5ACE-DA67-0380EF5B55B6}"/>
              </a:ext>
            </a:extLst>
          </p:cNvPr>
          <p:cNvSpPr/>
          <p:nvPr/>
        </p:nvSpPr>
        <p:spPr>
          <a:xfrm>
            <a:off x="914400" y="1645920"/>
            <a:ext cx="7315200" cy="2743200"/>
          </a:xfrm>
          <a:prstGeom prst="roundRect">
            <a:avLst/>
          </a:prstGeom>
          <a:solidFill>
            <a:srgbClr val="1E376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600" b="1" dirty="0">
                <a:solidFill>
                  <a:srgbClr val="FFFFFF"/>
                </a:solidFill>
              </a:rPr>
              <a:t>
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Buchanan, D. and Huczynski, A. </a:t>
            </a:r>
            <a:r>
              <a:rPr lang="en-ZA"/>
              <a:t>(2023) </a:t>
            </a:r>
            <a:r>
              <a:rPr lang="en-ZA" dirty="0"/>
              <a:t>Organizational Behaviour, 11th edition, Harlow: Pearson Education Limited.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en-ZA" dirty="0"/>
              <a:t>•	Mullins, L. J. and Rees, G. (2023) Management and organisational behaviour, 13th edition, Harlow: Pearson.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2180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1406</Words>
  <Application>Microsoft Office PowerPoint</Application>
  <PresentationFormat>On-screen Show (4:3)</PresentationFormat>
  <Paragraphs>227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Anakpo, Godfred (Dr) (Summerstrand Campus South)</dc:creator>
  <cp:keywords/>
  <dc:description>generated using python-pptx</dc:description>
  <cp:lastModifiedBy>Anakpo, Godfred (Dr) (Summerstrand Campus South)</cp:lastModifiedBy>
  <cp:revision>23</cp:revision>
  <dcterms:created xsi:type="dcterms:W3CDTF">2013-01-27T09:14:16Z</dcterms:created>
  <dcterms:modified xsi:type="dcterms:W3CDTF">2026-02-26T14:52:14Z</dcterms:modified>
  <cp:category/>
</cp:coreProperties>
</file>