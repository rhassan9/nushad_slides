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9" r:id="rId2"/>
    <p:sldId id="278" r:id="rId3"/>
    <p:sldId id="257" r:id="rId4"/>
    <p:sldId id="283" r:id="rId5"/>
    <p:sldId id="258" r:id="rId6"/>
    <p:sldId id="272" r:id="rId7"/>
    <p:sldId id="259" r:id="rId8"/>
    <p:sldId id="260" r:id="rId9"/>
    <p:sldId id="261" r:id="rId10"/>
    <p:sldId id="262" r:id="rId11"/>
    <p:sldId id="263" r:id="rId12"/>
    <p:sldId id="264" r:id="rId13"/>
    <p:sldId id="281" r:id="rId14"/>
    <p:sldId id="265" r:id="rId15"/>
    <p:sldId id="266" r:id="rId16"/>
    <p:sldId id="282" r:id="rId17"/>
    <p:sldId id="267" r:id="rId18"/>
    <p:sldId id="268" r:id="rId19"/>
    <p:sldId id="269" r:id="rId20"/>
    <p:sldId id="270" r:id="rId21"/>
    <p:sldId id="280" r:id="rId22"/>
    <p:sldId id="275" r:id="rId23"/>
    <p:sldId id="27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1A6E32-3166-44D0-9E58-B67CF2E267A7}" v="9" dt="2026-03-25T12:32:45.7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9" autoAdjust="0"/>
    <p:restoredTop sz="94610"/>
  </p:normalViewPr>
  <p:slideViewPr>
    <p:cSldViewPr snapToGrid="0" snapToObjects="1">
      <p:cViewPr varScale="1">
        <p:scale>
          <a:sx n="92" d="100"/>
          <a:sy n="92" d="100"/>
        </p:scale>
        <p:origin x="101"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kpo, Godfred (Dr) (Summerstrand Campus South)" userId="f3293df5-0acc-49c2-9284-1acca1178b2a" providerId="ADAL" clId="{311A6E32-3166-44D0-9E58-B67CF2E267A7}"/>
    <pc:docChg chg="undo custSel addSld delSld modSld">
      <pc:chgData name="Anakpo, Godfred (Dr) (Summerstrand Campus South)" userId="f3293df5-0acc-49c2-9284-1acca1178b2a" providerId="ADAL" clId="{311A6E32-3166-44D0-9E58-B67CF2E267A7}" dt="2026-03-25T12:32:56.461" v="198" actId="20577"/>
      <pc:docMkLst>
        <pc:docMk/>
      </pc:docMkLst>
      <pc:sldChg chg="modSp mod">
        <pc:chgData name="Anakpo, Godfred (Dr) (Summerstrand Campus South)" userId="f3293df5-0acc-49c2-9284-1acca1178b2a" providerId="ADAL" clId="{311A6E32-3166-44D0-9E58-B67CF2E267A7}" dt="2026-03-18T16:56:34.469" v="50" actId="20577"/>
        <pc:sldMkLst>
          <pc:docMk/>
          <pc:sldMk cId="0" sldId="262"/>
        </pc:sldMkLst>
        <pc:spChg chg="mod">
          <ac:chgData name="Anakpo, Godfred (Dr) (Summerstrand Campus South)" userId="f3293df5-0acc-49c2-9284-1acca1178b2a" providerId="ADAL" clId="{311A6E32-3166-44D0-9E58-B67CF2E267A7}" dt="2026-03-18T16:56:34.469" v="50" actId="20577"/>
          <ac:spMkLst>
            <pc:docMk/>
            <pc:sldMk cId="0" sldId="262"/>
            <ac:spMk id="16" creationId="{00000000-0000-0000-0000-000000000000}"/>
          </ac:spMkLst>
        </pc:spChg>
      </pc:sldChg>
      <pc:sldChg chg="modSp mod">
        <pc:chgData name="Anakpo, Godfred (Dr) (Summerstrand Campus South)" userId="f3293df5-0acc-49c2-9284-1acca1178b2a" providerId="ADAL" clId="{311A6E32-3166-44D0-9E58-B67CF2E267A7}" dt="2026-03-25T12:02:05.554" v="141" actId="6549"/>
        <pc:sldMkLst>
          <pc:docMk/>
          <pc:sldMk cId="0" sldId="263"/>
        </pc:sldMkLst>
        <pc:spChg chg="mod">
          <ac:chgData name="Anakpo, Godfred (Dr) (Summerstrand Campus South)" userId="f3293df5-0acc-49c2-9284-1acca1178b2a" providerId="ADAL" clId="{311A6E32-3166-44D0-9E58-B67CF2E267A7}" dt="2026-03-25T12:02:05.554" v="141" actId="6549"/>
          <ac:spMkLst>
            <pc:docMk/>
            <pc:sldMk cId="0" sldId="263"/>
            <ac:spMk id="11" creationId="{00000000-0000-0000-0000-000000000000}"/>
          </ac:spMkLst>
        </pc:spChg>
      </pc:sldChg>
      <pc:sldChg chg="modSp mod">
        <pc:chgData name="Anakpo, Godfred (Dr) (Summerstrand Campus South)" userId="f3293df5-0acc-49c2-9284-1acca1178b2a" providerId="ADAL" clId="{311A6E32-3166-44D0-9E58-B67CF2E267A7}" dt="2026-03-18T16:56:49.264" v="51" actId="20577"/>
        <pc:sldMkLst>
          <pc:docMk/>
          <pc:sldMk cId="0" sldId="264"/>
        </pc:sldMkLst>
        <pc:spChg chg="mod">
          <ac:chgData name="Anakpo, Godfred (Dr) (Summerstrand Campus South)" userId="f3293df5-0acc-49c2-9284-1acca1178b2a" providerId="ADAL" clId="{311A6E32-3166-44D0-9E58-B67CF2E267A7}" dt="2026-03-18T16:56:49.264" v="51" actId="20577"/>
          <ac:spMkLst>
            <pc:docMk/>
            <pc:sldMk cId="0" sldId="264"/>
            <ac:spMk id="32" creationId="{00000000-0000-0000-0000-000000000000}"/>
          </ac:spMkLst>
        </pc:spChg>
      </pc:sldChg>
      <pc:sldChg chg="modSp mod">
        <pc:chgData name="Anakpo, Godfred (Dr) (Summerstrand Campus South)" userId="f3293df5-0acc-49c2-9284-1acca1178b2a" providerId="ADAL" clId="{311A6E32-3166-44D0-9E58-B67CF2E267A7}" dt="2026-03-18T16:57:00.033" v="53" actId="27636"/>
        <pc:sldMkLst>
          <pc:docMk/>
          <pc:sldMk cId="0" sldId="265"/>
        </pc:sldMkLst>
        <pc:spChg chg="mod">
          <ac:chgData name="Anakpo, Godfred (Dr) (Summerstrand Campus South)" userId="f3293df5-0acc-49c2-9284-1acca1178b2a" providerId="ADAL" clId="{311A6E32-3166-44D0-9E58-B67CF2E267A7}" dt="2026-03-18T16:57:00.033" v="53" actId="27636"/>
          <ac:spMkLst>
            <pc:docMk/>
            <pc:sldMk cId="0" sldId="265"/>
            <ac:spMk id="13" creationId="{00000000-0000-0000-0000-000000000000}"/>
          </ac:spMkLst>
        </pc:spChg>
      </pc:sldChg>
      <pc:sldChg chg="modSp mod">
        <pc:chgData name="Anakpo, Godfred (Dr) (Summerstrand Campus South)" userId="f3293df5-0acc-49c2-9284-1acca1178b2a" providerId="ADAL" clId="{311A6E32-3166-44D0-9E58-B67CF2E267A7}" dt="2026-03-18T16:57:25.323" v="56" actId="20577"/>
        <pc:sldMkLst>
          <pc:docMk/>
          <pc:sldMk cId="0" sldId="266"/>
        </pc:sldMkLst>
        <pc:spChg chg="mod">
          <ac:chgData name="Anakpo, Godfred (Dr) (Summerstrand Campus South)" userId="f3293df5-0acc-49c2-9284-1acca1178b2a" providerId="ADAL" clId="{311A6E32-3166-44D0-9E58-B67CF2E267A7}" dt="2026-03-18T16:57:25.323" v="56" actId="20577"/>
          <ac:spMkLst>
            <pc:docMk/>
            <pc:sldMk cId="0" sldId="266"/>
            <ac:spMk id="12" creationId="{00000000-0000-0000-0000-000000000000}"/>
          </ac:spMkLst>
        </pc:spChg>
        <pc:spChg chg="mod">
          <ac:chgData name="Anakpo, Godfred (Dr) (Summerstrand Campus South)" userId="f3293df5-0acc-49c2-9284-1acca1178b2a" providerId="ADAL" clId="{311A6E32-3166-44D0-9E58-B67CF2E267A7}" dt="2026-03-18T16:57:11.185" v="54" actId="20577"/>
          <ac:spMkLst>
            <pc:docMk/>
            <pc:sldMk cId="0" sldId="266"/>
            <ac:spMk id="31" creationId="{00000000-0000-0000-0000-000000000000}"/>
          </ac:spMkLst>
        </pc:spChg>
        <pc:spChg chg="mod">
          <ac:chgData name="Anakpo, Godfred (Dr) (Summerstrand Campus South)" userId="f3293df5-0acc-49c2-9284-1acca1178b2a" providerId="ADAL" clId="{311A6E32-3166-44D0-9E58-B67CF2E267A7}" dt="2026-03-18T16:57:19.214" v="55" actId="20577"/>
          <ac:spMkLst>
            <pc:docMk/>
            <pc:sldMk cId="0" sldId="266"/>
            <ac:spMk id="33" creationId="{00000000-0000-0000-0000-000000000000}"/>
          </ac:spMkLst>
        </pc:spChg>
      </pc:sldChg>
      <pc:sldChg chg="modSp mod">
        <pc:chgData name="Anakpo, Godfred (Dr) (Summerstrand Campus South)" userId="f3293df5-0acc-49c2-9284-1acca1178b2a" providerId="ADAL" clId="{311A6E32-3166-44D0-9E58-B67CF2E267A7}" dt="2026-03-25T12:10:24.968" v="142" actId="20577"/>
        <pc:sldMkLst>
          <pc:docMk/>
          <pc:sldMk cId="0" sldId="267"/>
        </pc:sldMkLst>
        <pc:spChg chg="mod">
          <ac:chgData name="Anakpo, Godfred (Dr) (Summerstrand Campus South)" userId="f3293df5-0acc-49c2-9284-1acca1178b2a" providerId="ADAL" clId="{311A6E32-3166-44D0-9E58-B67CF2E267A7}" dt="2026-03-25T12:10:24.968" v="142" actId="20577"/>
          <ac:spMkLst>
            <pc:docMk/>
            <pc:sldMk cId="0" sldId="267"/>
            <ac:spMk id="9" creationId="{00000000-0000-0000-0000-000000000000}"/>
          </ac:spMkLst>
        </pc:spChg>
      </pc:sldChg>
      <pc:sldChg chg="modSp mod">
        <pc:chgData name="Anakpo, Godfred (Dr) (Summerstrand Campus South)" userId="f3293df5-0acc-49c2-9284-1acca1178b2a" providerId="ADAL" clId="{311A6E32-3166-44D0-9E58-B67CF2E267A7}" dt="2026-03-25T12:15:01.706" v="144" actId="20577"/>
        <pc:sldMkLst>
          <pc:docMk/>
          <pc:sldMk cId="0" sldId="268"/>
        </pc:sldMkLst>
        <pc:spChg chg="mod">
          <ac:chgData name="Anakpo, Godfred (Dr) (Summerstrand Campus South)" userId="f3293df5-0acc-49c2-9284-1acca1178b2a" providerId="ADAL" clId="{311A6E32-3166-44D0-9E58-B67CF2E267A7}" dt="2026-03-18T16:57:45.358" v="58" actId="27636"/>
          <ac:spMkLst>
            <pc:docMk/>
            <pc:sldMk cId="0" sldId="268"/>
            <ac:spMk id="14" creationId="{00000000-0000-0000-0000-000000000000}"/>
          </ac:spMkLst>
        </pc:spChg>
        <pc:spChg chg="mod">
          <ac:chgData name="Anakpo, Godfred (Dr) (Summerstrand Campus South)" userId="f3293df5-0acc-49c2-9284-1acca1178b2a" providerId="ADAL" clId="{311A6E32-3166-44D0-9E58-B67CF2E267A7}" dt="2026-03-25T12:15:01.706" v="144" actId="20577"/>
          <ac:spMkLst>
            <pc:docMk/>
            <pc:sldMk cId="0" sldId="268"/>
            <ac:spMk id="16" creationId="{00000000-0000-0000-0000-000000000000}"/>
          </ac:spMkLst>
        </pc:spChg>
      </pc:sldChg>
      <pc:sldChg chg="modSp mod">
        <pc:chgData name="Anakpo, Godfred (Dr) (Summerstrand Campus South)" userId="f3293df5-0acc-49c2-9284-1acca1178b2a" providerId="ADAL" clId="{311A6E32-3166-44D0-9E58-B67CF2E267A7}" dt="2026-03-18T16:57:57.540" v="59" actId="20577"/>
        <pc:sldMkLst>
          <pc:docMk/>
          <pc:sldMk cId="0" sldId="270"/>
        </pc:sldMkLst>
        <pc:spChg chg="mod">
          <ac:chgData name="Anakpo, Godfred (Dr) (Summerstrand Campus South)" userId="f3293df5-0acc-49c2-9284-1acca1178b2a" providerId="ADAL" clId="{311A6E32-3166-44D0-9E58-B67CF2E267A7}" dt="2026-03-18T16:57:57.540" v="59" actId="20577"/>
          <ac:spMkLst>
            <pc:docMk/>
            <pc:sldMk cId="0" sldId="270"/>
            <ac:spMk id="19" creationId="{00000000-0000-0000-0000-000000000000}"/>
          </ac:spMkLst>
        </pc:spChg>
      </pc:sldChg>
      <pc:sldChg chg="modSp add del mod">
        <pc:chgData name="Anakpo, Godfred (Dr) (Summerstrand Campus South)" userId="f3293df5-0acc-49c2-9284-1acca1178b2a" providerId="ADAL" clId="{311A6E32-3166-44D0-9E58-B67CF2E267A7}" dt="2026-03-18T17:17:51.719" v="114" actId="47"/>
        <pc:sldMkLst>
          <pc:docMk/>
          <pc:sldMk cId="1958819204" sldId="275"/>
        </pc:sldMkLst>
      </pc:sldChg>
      <pc:sldChg chg="addSp modSp add del mod">
        <pc:chgData name="Anakpo, Godfred (Dr) (Summerstrand Campus South)" userId="f3293df5-0acc-49c2-9284-1acca1178b2a" providerId="ADAL" clId="{311A6E32-3166-44D0-9E58-B67CF2E267A7}" dt="2026-03-25T12:31:37.599" v="185" actId="47"/>
        <pc:sldMkLst>
          <pc:docMk/>
          <pc:sldMk cId="3575141599" sldId="276"/>
        </pc:sldMkLst>
        <pc:spChg chg="mod">
          <ac:chgData name="Anakpo, Godfred (Dr) (Summerstrand Campus South)" userId="f3293df5-0acc-49c2-9284-1acca1178b2a" providerId="ADAL" clId="{311A6E32-3166-44D0-9E58-B67CF2E267A7}" dt="2026-03-18T17:06:10.691" v="113" actId="20577"/>
          <ac:spMkLst>
            <pc:docMk/>
            <pc:sldMk cId="3575141599" sldId="276"/>
            <ac:spMk id="9" creationId="{4D3EB742-12C9-701C-3CA4-041CDC968AF1}"/>
          </ac:spMkLst>
        </pc:spChg>
      </pc:sldChg>
      <pc:sldChg chg="modSp add mod">
        <pc:chgData name="Anakpo, Godfred (Dr) (Summerstrand Campus South)" userId="f3293df5-0acc-49c2-9284-1acca1178b2a" providerId="ADAL" clId="{311A6E32-3166-44D0-9E58-B67CF2E267A7}" dt="2026-03-25T12:32:56.461" v="198" actId="20577"/>
        <pc:sldMkLst>
          <pc:docMk/>
          <pc:sldMk cId="1063189477" sldId="277"/>
        </pc:sldMkLst>
        <pc:spChg chg="mod">
          <ac:chgData name="Anakpo, Godfred (Dr) (Summerstrand Campus South)" userId="f3293df5-0acc-49c2-9284-1acca1178b2a" providerId="ADAL" clId="{311A6E32-3166-44D0-9E58-B67CF2E267A7}" dt="2026-03-25T12:32:56.461" v="198" actId="20577"/>
          <ac:spMkLst>
            <pc:docMk/>
            <pc:sldMk cId="1063189477" sldId="277"/>
            <ac:spMk id="9" creationId="{7CA8ACB7-C594-D7DE-7829-7BF0ACB1520C}"/>
          </ac:spMkLst>
        </pc:spChg>
      </pc:sldChg>
      <pc:sldChg chg="add del">
        <pc:chgData name="Anakpo, Godfred (Dr) (Summerstrand Campus South)" userId="f3293df5-0acc-49c2-9284-1acca1178b2a" providerId="ADAL" clId="{311A6E32-3166-44D0-9E58-B67CF2E267A7}" dt="2026-03-25T12:28:18.210" v="147" actId="47"/>
        <pc:sldMkLst>
          <pc:docMk/>
          <pc:sldMk cId="1630531738"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438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7496F-6183-F43F-6685-C38CA10C6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E61F1-12F2-F9E4-3634-93597B013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54B54-0472-8B51-7AD6-643EDCEFF835}"/>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(https://images.unsplash.com/photo-1568992688065-536aad8a12f6...)
[/Sources]</a:t>
            </a:r>
          </a:p>
        </p:txBody>
      </p:sp>
      <p:sp>
        <p:nvSpPr>
          <p:cNvPr id="4" name="Slide Number Placeholder 3">
            <a:extLst>
              <a:ext uri="{FF2B5EF4-FFF2-40B4-BE49-F238E27FC236}">
                <a16:creationId xmlns:a16="http://schemas.microsoft.com/office/drawing/2014/main" id="{C4C8BBE7-0E9D-950D-668C-E81E9B1FB5C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250323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EB456-71C6-0123-C8C7-B7F5B4A5F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DF279-C0E9-86CD-70A3-C992BE7B7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7E0D3-CB18-BDA5-A3C4-CC50C8CF68BA}"/>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a:extLst>
              <a:ext uri="{FF2B5EF4-FFF2-40B4-BE49-F238E27FC236}">
                <a16:creationId xmlns:a16="http://schemas.microsoft.com/office/drawing/2014/main" id="{4965EF84-B330-55B0-82CC-E25CA7061D5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46231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(https://images.unsplash.com/photo-1568992688065-536aad8a12f6...)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AE280-74D1-4B7C-F51D-044567A81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799B8-7F4A-D857-DBBC-58A514FD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5C2AC-E038-2FB4-A7D6-667E2D8AEC24}"/>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(https://images.unsplash.com/photo-1568992688065-536aad8a12f6...)
[/Sources]</a:t>
            </a:r>
          </a:p>
        </p:txBody>
      </p:sp>
      <p:sp>
        <p:nvSpPr>
          <p:cNvPr id="4" name="Slide Number Placeholder 3">
            <a:extLst>
              <a:ext uri="{FF2B5EF4-FFF2-40B4-BE49-F238E27FC236}">
                <a16:creationId xmlns:a16="http://schemas.microsoft.com/office/drawing/2014/main" id="{CA81D07C-F176-2D88-4CE6-2EBF3EB850E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39396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(https://images.unsplash.com/photo-1568992688065-536aad8a12f6...)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Company Away Days outdoor adventure image (https://www.companyawaydays.com/images/activities/category/outdoor-adventure.jpg)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Company Away Days outdoor adventure image (https://www.companyawaydays.com/images/activities/category/outdoor-adventure.jpg)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B402-05C9-1C8A-E24A-B981A2A90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C78BC-79AA-900A-C792-D48958E00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D768A-F780-4774-F7E6-BDC5D23ED023}"/>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a:extLst>
              <a:ext uri="{FF2B5EF4-FFF2-40B4-BE49-F238E27FC236}">
                <a16:creationId xmlns:a16="http://schemas.microsoft.com/office/drawing/2014/main" id="{24308B08-0D0C-8C42-C3A2-98489807BAF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75608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whiteboard presentation (https://images.unsplash.com/photo-1758873269108-7c03a92f7586...)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whiteboard presentation (https://images.unsplash.com/photo-1758873269108-7c03a92f7586...)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7B433-8AAA-17FF-AAF3-9B5A65974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974D3-A8D2-7344-C7C7-8BF3F5E92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0B3B7-5F56-6895-F55D-0D7A543DC645}"/>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a:extLst>
              <a:ext uri="{FF2B5EF4-FFF2-40B4-BE49-F238E27FC236}">
                <a16:creationId xmlns:a16="http://schemas.microsoft.com/office/drawing/2014/main" id="{175D9267-03A6-2473-65F4-4B493B55942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77161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Company Away Days outdoor adventure image (https://www.companyawaydays.com/images/activities/category/outdoor-adventure.jpg)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Company Away Days outdoor adventure image (https://www.companyawaydays.com/images/activities/category/outdoor-adventure.jpg)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Company Away Days outdoor adventure image (https://www.companyawaydays.com/images/activities/category/outdoor-adventure.jpg)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Clipper Race fleet image (https://images.squarespace-cdn.com/.../Clipper2019-20RaceFleet.jpg)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05066-B88B-E60C-2432-ABBC17312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2B5A0-9925-0AFB-8EA9-4A0F24EEC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339DE-3F3F-328D-C9AA-D9765CC03AD2}"/>
              </a:ext>
            </a:extLst>
          </p:cNvPr>
          <p:cNvSpPr>
            <a:spLocks noGrp="1"/>
          </p:cNvSpPr>
          <p:nvPr>
            <p:ph type="body" idx="1"/>
          </p:nvPr>
        </p:nvSpPr>
        <p:spPr/>
        <p:txBody>
          <a:bodyPr/>
          <a:lstStyle/>
          <a:p>
            <a:r>
              <a:rPr lang="en-US" dirty="0"/>
              <a:t>
[Sources]
- Text/content adapted exclusively from the uploaded chapter: Burke, R. &amp; Barron, S. (2014). Project Management Leadership: Building Creative Teams, 2nd ed., Chapter 16 “Team-Building Techniques”. Source file: CHAPTER 16- Team-Building Techniques.docx
- Background image: Unsplash direct image result for team meeting (https://images.unsplash.com/photo-1624555130581-1d9cca783bc0...)
[/Sources]</a:t>
            </a:r>
          </a:p>
        </p:txBody>
      </p:sp>
      <p:sp>
        <p:nvSpPr>
          <p:cNvPr id="4" name="Slide Number Placeholder 3">
            <a:extLst>
              <a:ext uri="{FF2B5EF4-FFF2-40B4-BE49-F238E27FC236}">
                <a16:creationId xmlns:a16="http://schemas.microsoft.com/office/drawing/2014/main" id="{556C58F3-CC15-A2A8-3600-D0D876C4357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035890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E7F63-DEC8-EE1E-F7C2-9DA0034D1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2FF89-D235-316D-8CFD-30E67D05F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FC3C0-C459-2160-470F-F72EBD372547}"/>
              </a:ext>
            </a:extLst>
          </p:cNvPr>
          <p:cNvSpPr>
            <a:spLocks noGrp="1"/>
          </p:cNvSpPr>
          <p:nvPr>
            <p:ph type="body" idx="1"/>
          </p:nvPr>
        </p:nvSpPr>
        <p:spPr/>
        <p:txBody>
          <a:bodyPr/>
          <a:lstStyle/>
          <a:p>
            <a:r>
              <a:rPr lang="en-US" dirty="0"/>
              <a:t>[Sources]
- Based exclusively on the attached source: Burke, R. and Barron, S. (2014) “Chapter 17: Coaching and Mentoring” in Project Management Leadership: Building Creative Teams, 2nd ed., Farnham: Gower Publishing. File: CHAPTER17 - Coaching and Mentoring.docx.
[/Sources]</a:t>
            </a:r>
          </a:p>
        </p:txBody>
      </p:sp>
      <p:sp>
        <p:nvSpPr>
          <p:cNvPr id="4" name="Slide Number Placeholder 3">
            <a:extLst>
              <a:ext uri="{FF2B5EF4-FFF2-40B4-BE49-F238E27FC236}">
                <a16:creationId xmlns:a16="http://schemas.microsoft.com/office/drawing/2014/main" id="{89A3CA3A-52ED-0E2D-DFA6-CDFB7F35BE8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68238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275E1-60EA-CCA1-A9DB-1D62B0256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EA500-566F-7D08-6C0F-E488E346E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A65B4-5207-8290-8309-46ED4E36A060}"/>
              </a:ext>
            </a:extLst>
          </p:cNvPr>
          <p:cNvSpPr>
            <a:spLocks noGrp="1"/>
          </p:cNvSpPr>
          <p:nvPr>
            <p:ph type="body" idx="1"/>
          </p:nvPr>
        </p:nvSpPr>
        <p:spPr/>
        <p:txBody>
          <a:bodyPr/>
          <a:lstStyle/>
          <a:p>
            <a:r>
              <a:rPr lang="en-US" dirty="0"/>
              <a:t>
[Sources]
- Burke, R. and Barron, S. (2014). Project Management Leadership: Building Creative Teams, 2nd ed. Farnham: Gower Publishing. Chapter 14: Team Roles. User-supplied chapter.
[/Sources]
  </a:t>
            </a:r>
          </a:p>
        </p:txBody>
      </p:sp>
      <p:sp>
        <p:nvSpPr>
          <p:cNvPr id="4" name="Slide Number Placeholder 3">
            <a:extLst>
              <a:ext uri="{FF2B5EF4-FFF2-40B4-BE49-F238E27FC236}">
                <a16:creationId xmlns:a16="http://schemas.microsoft.com/office/drawing/2014/main" id="{E9BD7554-C50A-B842-3111-94637F375CB8}"/>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04528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Holding Slide">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285605F-D07D-C040-859B-77CD8E038E7B}"/>
              </a:ext>
            </a:extLst>
          </p:cNvPr>
          <p:cNvPicPr>
            <a:picLocks noChangeAspect="1"/>
          </p:cNvPicPr>
          <p:nvPr userDrawn="1"/>
        </p:nvPicPr>
        <p:blipFill>
          <a:blip r:embed="rId2"/>
          <a:srcRect/>
          <a:stretch/>
        </p:blipFill>
        <p:spPr>
          <a:xfrm>
            <a:off x="4711200" y="2560895"/>
            <a:ext cx="2769600" cy="1736212"/>
          </a:xfrm>
          <a:prstGeom prst="rect">
            <a:avLst/>
          </a:prstGeom>
        </p:spPr>
      </p:pic>
      <p:sp>
        <p:nvSpPr>
          <p:cNvPr id="14" name="Rectangle 13">
            <a:extLst>
              <a:ext uri="{FF2B5EF4-FFF2-40B4-BE49-F238E27FC236}">
                <a16:creationId xmlns:a16="http://schemas.microsoft.com/office/drawing/2014/main" id="{B1EDAA04-B5C8-B946-A933-3407EAB3BFC7}"/>
              </a:ext>
            </a:extLst>
          </p:cNvPr>
          <p:cNvSpPr/>
          <p:nvPr userDrawn="1"/>
        </p:nvSpPr>
        <p:spPr>
          <a:xfrm>
            <a:off x="288944" y="209904"/>
            <a:ext cx="11614113" cy="6438192"/>
          </a:xfrm>
          <a:prstGeom prst="rect">
            <a:avLst/>
          </a:prstGeom>
          <a:blipFill>
            <a:blip r:embed="rId3"/>
            <a:srcRect/>
            <a:stretch>
              <a:fillRect l="-20906" t="-3260" r="-19917" b="-401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Picture 14">
            <a:extLst>
              <a:ext uri="{FF2B5EF4-FFF2-40B4-BE49-F238E27FC236}">
                <a16:creationId xmlns:a16="http://schemas.microsoft.com/office/drawing/2014/main" id="{B2D70B35-1C29-1048-88E8-A6C08C249BC5}"/>
              </a:ext>
            </a:extLst>
          </p:cNvPr>
          <p:cNvPicPr>
            <a:picLocks noChangeAspect="1"/>
          </p:cNvPicPr>
          <p:nvPr userDrawn="1"/>
        </p:nvPicPr>
        <p:blipFill>
          <a:blip r:embed="rId2"/>
          <a:srcRect/>
          <a:stretch/>
        </p:blipFill>
        <p:spPr>
          <a:xfrm>
            <a:off x="4711199" y="2777721"/>
            <a:ext cx="2769600" cy="1302561"/>
          </a:xfrm>
          <a:prstGeom prst="rect">
            <a:avLst/>
          </a:prstGeom>
        </p:spPr>
      </p:pic>
      <p:pic>
        <p:nvPicPr>
          <p:cNvPr id="16" name="Picture 15">
            <a:extLst>
              <a:ext uri="{FF2B5EF4-FFF2-40B4-BE49-F238E27FC236}">
                <a16:creationId xmlns:a16="http://schemas.microsoft.com/office/drawing/2014/main" id="{8760E858-4350-B946-B3F8-FBCA4837201F}"/>
              </a:ext>
            </a:extLst>
          </p:cNvPr>
          <p:cNvPicPr>
            <a:picLocks noChangeAspect="1"/>
          </p:cNvPicPr>
          <p:nvPr userDrawn="1"/>
        </p:nvPicPr>
        <p:blipFill>
          <a:blip r:embed="rId4"/>
          <a:srcRect/>
          <a:stretch/>
        </p:blipFill>
        <p:spPr>
          <a:xfrm>
            <a:off x="11789123" y="5454728"/>
            <a:ext cx="402877" cy="943404"/>
          </a:xfrm>
          <a:prstGeom prst="rect">
            <a:avLst/>
          </a:prstGeom>
        </p:spPr>
      </p:pic>
    </p:spTree>
    <p:extLst>
      <p:ext uri="{BB962C8B-B14F-4D97-AF65-F5344CB8AC3E}">
        <p14:creationId xmlns:p14="http://schemas.microsoft.com/office/powerpoint/2010/main" val="13436030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849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EC76-3B54-E001-87A1-DA7E88614A6E}"/>
            </a:ext>
          </a:extLst>
        </p:cNvPr>
        <p:cNvGrpSpPr/>
        <p:nvPr/>
      </p:nvGrpSpPr>
      <p:grpSpPr>
        <a:xfrm>
          <a:off x="0" y="0"/>
          <a:ext cx="0" cy="0"/>
          <a:chOff x="0" y="0"/>
          <a:chExt cx="0" cy="0"/>
        </a:xfrm>
      </p:grpSpPr>
      <p:pic>
        <p:nvPicPr>
          <p:cNvPr id="2" name="Image 0" descr="/mnt/data/team_meeting_1.jpg">
            <a:extLst>
              <a:ext uri="{FF2B5EF4-FFF2-40B4-BE49-F238E27FC236}">
                <a16:creationId xmlns:a16="http://schemas.microsoft.com/office/drawing/2014/main" id="{EB59949A-7EBC-CA15-156C-B082CE531FA3}"/>
              </a:ext>
            </a:extLst>
          </p:cNvPr>
          <p:cNvPicPr>
            <a:picLocks noChangeAspect="1"/>
          </p:cNvPicPr>
          <p:nvPr/>
        </p:nvPicPr>
        <p:blipFill>
          <a:blip r:embed="rId3"/>
          <a:srcRect t="14" b="14"/>
          <a:stretch/>
        </p:blipFill>
        <p:spPr>
          <a:xfrm>
            <a:off x="0" y="0"/>
            <a:ext cx="12191695" cy="6858000"/>
          </a:xfrm>
          <a:prstGeom prst="rect">
            <a:avLst/>
          </a:prstGeom>
        </p:spPr>
      </p:pic>
      <p:sp>
        <p:nvSpPr>
          <p:cNvPr id="3" name="Shape 0">
            <a:extLst>
              <a:ext uri="{FF2B5EF4-FFF2-40B4-BE49-F238E27FC236}">
                <a16:creationId xmlns:a16="http://schemas.microsoft.com/office/drawing/2014/main" id="{9E404981-AB4E-0A71-2C10-90FDFB90567B}"/>
              </a:ext>
            </a:extLst>
          </p:cNvPr>
          <p:cNvSpPr/>
          <p:nvPr/>
        </p:nvSpPr>
        <p:spPr>
          <a:xfrm>
            <a:off x="0" y="0"/>
            <a:ext cx="12191695" cy="6858000"/>
          </a:xfrm>
          <a:prstGeom prst="rect">
            <a:avLst/>
          </a:prstGeom>
          <a:solidFill>
            <a:srgbClr val="08172F">
              <a:alpha val="54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0034004F-ABBD-DD98-0678-F05D84DB28A3}"/>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Shape 2">
            <a:extLst>
              <a:ext uri="{FF2B5EF4-FFF2-40B4-BE49-F238E27FC236}">
                <a16:creationId xmlns:a16="http://schemas.microsoft.com/office/drawing/2014/main" id="{7F33ACA7-A756-84C6-8502-0D263BF3B19B}"/>
              </a:ext>
            </a:extLst>
          </p:cNvPr>
          <p:cNvSpPr/>
          <p:nvPr/>
        </p:nvSpPr>
        <p:spPr>
          <a:xfrm>
            <a:off x="502920" y="640080"/>
            <a:ext cx="8067502" cy="5257800"/>
          </a:xfrm>
          <a:prstGeom prst="rect">
            <a:avLst/>
          </a:prstGeom>
          <a:solidFill>
            <a:srgbClr val="0B1E3A">
              <a:alpha val="82000"/>
            </a:srgbClr>
          </a:solidFill>
          <a:ln w="13970">
            <a:solidFill>
              <a:srgbClr val="F8FAFC">
                <a:alpha val="14000"/>
              </a:srgbClr>
            </a:solidFill>
            <a:prstDash val="solid"/>
          </a:ln>
        </p:spPr>
        <p:txBody>
          <a:bodyPr/>
          <a:lstStyle/>
          <a:p>
            <a:endParaRPr lang="en-ZA"/>
          </a:p>
        </p:txBody>
      </p:sp>
      <p:sp>
        <p:nvSpPr>
          <p:cNvPr id="6" name="Text 3">
            <a:extLst>
              <a:ext uri="{FF2B5EF4-FFF2-40B4-BE49-F238E27FC236}">
                <a16:creationId xmlns:a16="http://schemas.microsoft.com/office/drawing/2014/main" id="{59EBC069-C049-B28D-6444-328D0F70C602}"/>
              </a:ext>
            </a:extLst>
          </p:cNvPr>
          <p:cNvSpPr/>
          <p:nvPr/>
        </p:nvSpPr>
        <p:spPr>
          <a:xfrm>
            <a:off x="841248" y="932688"/>
            <a:ext cx="1920240" cy="237744"/>
          </a:xfrm>
          <a:prstGeom prst="rect">
            <a:avLst/>
          </a:prstGeom>
          <a:noFill/>
          <a:ln/>
        </p:spPr>
        <p:txBody>
          <a:bodyPr wrap="square" lIns="0" tIns="0" rIns="0" bIns="0" rtlCol="0" anchor="ctr"/>
          <a:lstStyle/>
          <a:p>
            <a:pPr marL="0" indent="0">
              <a:buNone/>
            </a:pPr>
            <a:endParaRPr lang="en-US" sz="1300" dirty="0"/>
          </a:p>
        </p:txBody>
      </p:sp>
      <p:sp>
        <p:nvSpPr>
          <p:cNvPr id="7" name="Text 4">
            <a:extLst>
              <a:ext uri="{FF2B5EF4-FFF2-40B4-BE49-F238E27FC236}">
                <a16:creationId xmlns:a16="http://schemas.microsoft.com/office/drawing/2014/main" id="{4EDA0400-1203-9BE8-A6F7-483E907E03FD}"/>
              </a:ext>
            </a:extLst>
          </p:cNvPr>
          <p:cNvSpPr/>
          <p:nvPr/>
        </p:nvSpPr>
        <p:spPr>
          <a:xfrm>
            <a:off x="804672" y="1234440"/>
            <a:ext cx="7150608" cy="1417320"/>
          </a:xfrm>
          <a:prstGeom prst="rect">
            <a:avLst/>
          </a:prstGeom>
          <a:noFill/>
          <a:ln/>
        </p:spPr>
        <p:txBody>
          <a:bodyPr wrap="square" lIns="0" tIns="0" rIns="0" bIns="0" rtlCol="0" anchor="ctr"/>
          <a:lstStyle/>
          <a:p>
            <a:pPr marL="0" indent="0">
              <a:buNone/>
            </a:pPr>
            <a:r>
              <a:rPr lang="en-US" sz="3600" b="1" dirty="0">
                <a:solidFill>
                  <a:srgbClr val="F8FAFC"/>
                </a:solidFill>
                <a:latin typeface="Aptos Display" pitchFamily="34" charset="0"/>
                <a:ea typeface="Aptos Display" pitchFamily="34" charset="-122"/>
                <a:cs typeface="Aptos Display" pitchFamily="34" charset="-120"/>
              </a:rPr>
              <a:t>Week 9: Team Building</a:t>
            </a:r>
            <a:r>
              <a:rPr lang="en-US" sz="3600" dirty="0"/>
              <a:t> </a:t>
            </a:r>
            <a:r>
              <a:rPr lang="en-US" sz="3600" b="1" dirty="0">
                <a:solidFill>
                  <a:srgbClr val="F8FAFC"/>
                </a:solidFill>
                <a:latin typeface="Aptos Display" pitchFamily="34" charset="0"/>
                <a:ea typeface="Aptos Display" pitchFamily="34" charset="-122"/>
                <a:cs typeface="Aptos Display" pitchFamily="34" charset="-120"/>
              </a:rPr>
              <a:t>Techniques</a:t>
            </a:r>
            <a:endParaRPr lang="en-US" sz="3600" dirty="0"/>
          </a:p>
        </p:txBody>
      </p:sp>
      <p:sp>
        <p:nvSpPr>
          <p:cNvPr id="8" name="Text 5">
            <a:extLst>
              <a:ext uri="{FF2B5EF4-FFF2-40B4-BE49-F238E27FC236}">
                <a16:creationId xmlns:a16="http://schemas.microsoft.com/office/drawing/2014/main" id="{FF9CEA06-B5F1-7E56-A3EE-13A314030311}"/>
              </a:ext>
            </a:extLst>
          </p:cNvPr>
          <p:cNvSpPr/>
          <p:nvPr/>
        </p:nvSpPr>
        <p:spPr>
          <a:xfrm>
            <a:off x="841248" y="2852928"/>
            <a:ext cx="5212080" cy="786384"/>
          </a:xfrm>
          <a:prstGeom prst="rect">
            <a:avLst/>
          </a:prstGeom>
          <a:noFill/>
          <a:ln/>
        </p:spPr>
        <p:txBody>
          <a:bodyPr wrap="square" lIns="127" tIns="127" rIns="127" bIns="127" rtlCol="0" anchor="ctr">
            <a:normAutofit/>
          </a:bodyPr>
          <a:lstStyle/>
          <a:p>
            <a:pPr marL="0" indent="0">
              <a:buNone/>
            </a:pPr>
            <a:endParaRPr lang="en-US" sz="1550" dirty="0"/>
          </a:p>
        </p:txBody>
      </p:sp>
      <p:sp>
        <p:nvSpPr>
          <p:cNvPr id="11" name="Text 8">
            <a:extLst>
              <a:ext uri="{FF2B5EF4-FFF2-40B4-BE49-F238E27FC236}">
                <a16:creationId xmlns:a16="http://schemas.microsoft.com/office/drawing/2014/main" id="{0234E59F-B5A6-1718-8529-E4838193DAAE}"/>
              </a:ext>
            </a:extLst>
          </p:cNvPr>
          <p:cNvSpPr/>
          <p:nvPr/>
        </p:nvSpPr>
        <p:spPr>
          <a:xfrm>
            <a:off x="7223760" y="5440680"/>
            <a:ext cx="4434840" cy="621792"/>
          </a:xfrm>
          <a:prstGeom prst="rect">
            <a:avLst/>
          </a:prstGeom>
          <a:noFill/>
          <a:ln/>
        </p:spPr>
        <p:txBody>
          <a:bodyPr wrap="square" lIns="127" tIns="127" rIns="127" bIns="127" rtlCol="0" anchor="ctr">
            <a:normAutofit/>
          </a:bodyPr>
          <a:lstStyle/>
          <a:p>
            <a:pPr marL="0" indent="0" algn="r">
              <a:buNone/>
            </a:pPr>
            <a:endParaRPr lang="en-US" sz="1600" dirty="0"/>
          </a:p>
        </p:txBody>
      </p:sp>
      <p:sp>
        <p:nvSpPr>
          <p:cNvPr id="12" name="Text 9">
            <a:extLst>
              <a:ext uri="{FF2B5EF4-FFF2-40B4-BE49-F238E27FC236}">
                <a16:creationId xmlns:a16="http://schemas.microsoft.com/office/drawing/2014/main" id="{C7D3DAB9-A5D2-4B48-C4CF-A8E35695E829}"/>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13" name="Text 10">
            <a:extLst>
              <a:ext uri="{FF2B5EF4-FFF2-40B4-BE49-F238E27FC236}">
                <a16:creationId xmlns:a16="http://schemas.microsoft.com/office/drawing/2014/main" id="{8AE7E6AD-C2BF-B42F-3BEE-16B3A4AB97FB}"/>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a:t>
            </a:r>
            <a:endParaRPr lang="en-US" sz="1000" dirty="0"/>
          </a:p>
        </p:txBody>
      </p:sp>
    </p:spTree>
    <p:extLst>
      <p:ext uri="{BB962C8B-B14F-4D97-AF65-F5344CB8AC3E}">
        <p14:creationId xmlns:p14="http://schemas.microsoft.com/office/powerpoint/2010/main" val="924140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eam_meeting_2.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0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Learning outcomes</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8" name="Shape 5"/>
          <p:cNvSpPr/>
          <p:nvPr/>
        </p:nvSpPr>
        <p:spPr>
          <a:xfrm>
            <a:off x="713232" y="1097280"/>
            <a:ext cx="7100732" cy="429768"/>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097280"/>
            <a:ext cx="5559552" cy="530352"/>
          </a:xfrm>
          <a:prstGeom prst="rect">
            <a:avLst/>
          </a:prstGeom>
          <a:noFill/>
          <a:ln/>
        </p:spPr>
        <p:txBody>
          <a:bodyPr wrap="square" lIns="0" tIns="0" rIns="0" bIns="0" rtlCol="0" anchor="ctr"/>
          <a:lstStyle/>
          <a:p>
            <a:pPr marL="0" indent="0" algn="ctr">
              <a:buNone/>
            </a:pPr>
            <a:r>
              <a:rPr lang="en-US" b="1" dirty="0">
                <a:solidFill>
                  <a:srgbClr val="F8FAFC"/>
                </a:solidFill>
              </a:rPr>
              <a:t>By then end of this session, you will be able to</a:t>
            </a:r>
            <a:endParaRPr lang="en-US" dirty="0"/>
          </a:p>
        </p:txBody>
      </p:sp>
      <p:sp>
        <p:nvSpPr>
          <p:cNvPr id="10" name="Shape 7"/>
          <p:cNvSpPr/>
          <p:nvPr/>
        </p:nvSpPr>
        <p:spPr>
          <a:xfrm>
            <a:off x="640080" y="1627632"/>
            <a:ext cx="9368444" cy="4315968"/>
          </a:xfrm>
          <a:prstGeom prst="roundRect">
            <a:avLst>
              <a:gd name="adj" fmla="val 2966"/>
            </a:avLst>
          </a:prstGeom>
          <a:solidFill>
            <a:srgbClr val="0A1A33">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68679" y="1938528"/>
            <a:ext cx="7927849" cy="3447288"/>
          </a:xfrm>
          <a:prstGeom prst="rect">
            <a:avLst/>
          </a:prstGeom>
          <a:noFill/>
          <a:ln/>
        </p:spPr>
        <p:txBody>
          <a:bodyPr wrap="square" lIns="1016" tIns="1016" rIns="1016" bIns="1016" rtlCol="0" anchor="t">
            <a:normAutofit/>
          </a:bodyPr>
          <a:lstStyle/>
          <a:p>
            <a:pPr marL="152400" indent="-152400">
              <a:buSzPct val="100000"/>
              <a:buChar char="•"/>
            </a:pPr>
            <a:r>
              <a:rPr lang="en-US" sz="1820" dirty="0">
                <a:solidFill>
                  <a:srgbClr val="F8FAFC"/>
                </a:solidFill>
                <a:latin typeface="Aptos" pitchFamily="34" charset="0"/>
                <a:ea typeface="Aptos" pitchFamily="34" charset="-122"/>
                <a:cs typeface="Aptos" pitchFamily="34" charset="-120"/>
              </a:rPr>
              <a:t>Understand how team-building techniques can be used to accelerate the team-building process.</a:t>
            </a:r>
          </a:p>
          <a:p>
            <a:pPr marL="152400" indent="-152400">
              <a:buSzPct val="100000"/>
              <a:buChar char="•"/>
            </a:pPr>
            <a:endParaRPr lang="en-US" sz="1820" dirty="0"/>
          </a:p>
          <a:p>
            <a:pPr marL="152400" indent="-152400">
              <a:buSzPct val="100000"/>
              <a:buChar char="•"/>
            </a:pPr>
            <a:r>
              <a:rPr lang="en-US" sz="1820" dirty="0">
                <a:solidFill>
                  <a:srgbClr val="F8FAFC"/>
                </a:solidFill>
                <a:latin typeface="Aptos" pitchFamily="34" charset="0"/>
                <a:ea typeface="Aptos" pitchFamily="34" charset="-122"/>
                <a:cs typeface="Aptos" pitchFamily="34" charset="-120"/>
              </a:rPr>
              <a:t>Understand the four levels of team building.</a:t>
            </a:r>
          </a:p>
          <a:p>
            <a:pPr marL="152400" indent="-152400">
              <a:buSzPct val="100000"/>
              <a:buChar char="•"/>
            </a:pPr>
            <a:endParaRPr lang="en-US" sz="1820" dirty="0"/>
          </a:p>
          <a:p>
            <a:pPr marL="152400" indent="-152400">
              <a:buSzPct val="100000"/>
              <a:buChar char="•"/>
            </a:pPr>
            <a:r>
              <a:rPr lang="en-US" sz="1820" dirty="0">
                <a:solidFill>
                  <a:srgbClr val="F8FAFC"/>
                </a:solidFill>
                <a:latin typeface="Aptos" pitchFamily="34" charset="0"/>
                <a:ea typeface="Aptos" pitchFamily="34" charset="-122"/>
                <a:cs typeface="Aptos" pitchFamily="34" charset="-120"/>
              </a:rPr>
              <a:t>Understand that outdoor team-building activities can be used to develop interpersonal relationships and team roles.</a:t>
            </a:r>
          </a:p>
          <a:p>
            <a:pPr marL="152400" indent="-152400">
              <a:buSzPct val="100000"/>
              <a:buChar char="•"/>
            </a:pPr>
            <a:endParaRPr lang="en-US" sz="1820" dirty="0">
              <a:solidFill>
                <a:srgbClr val="F8FAFC"/>
              </a:solidFill>
              <a:latin typeface="Aptos" pitchFamily="34" charset="0"/>
            </a:endParaRPr>
          </a:p>
          <a:p>
            <a:pPr marL="152400" indent="-152400">
              <a:buSzPct val="100000"/>
              <a:buChar char="•"/>
            </a:pPr>
            <a:endParaRPr lang="en-US" sz="1820" dirty="0">
              <a:solidFill>
                <a:srgbClr val="F8FAFC"/>
              </a:solidFill>
              <a:latin typeface="Aptos" pitchFamily="34" charset="0"/>
            </a:endParaRPr>
          </a:p>
          <a:p>
            <a:pPr marL="152400" indent="-152400">
              <a:buSzPct val="100000"/>
              <a:buChar char="•"/>
            </a:pPr>
            <a:endParaRPr lang="en-US" sz="1820" dirty="0">
              <a:solidFill>
                <a:srgbClr val="F8FAFC"/>
              </a:solidFill>
              <a:latin typeface="Aptos" pitchFamily="34" charset="0"/>
            </a:endParaRPr>
          </a:p>
          <a:p>
            <a:pPr marL="152400" indent="-152400">
              <a:buSzPct val="100000"/>
              <a:buChar char="•"/>
            </a:pPr>
            <a:r>
              <a:rPr lang="en-US" sz="1820" b="1" i="1" dirty="0">
                <a:solidFill>
                  <a:srgbClr val="F8FAFC"/>
                </a:solidFill>
                <a:latin typeface="Aptos" pitchFamily="34" charset="0"/>
              </a:rPr>
              <a:t>Note: This session will begin with the task from last week—students presenting on AI.</a:t>
            </a:r>
            <a:endParaRPr lang="en-US" sz="1820" b="1" i="1" dirty="0"/>
          </a:p>
        </p:txBody>
      </p:sp>
      <p:sp>
        <p:nvSpPr>
          <p:cNvPr id="13" name="Text 10"/>
          <p:cNvSpPr/>
          <p:nvPr/>
        </p:nvSpPr>
        <p:spPr>
          <a:xfrm>
            <a:off x="960120" y="3977640"/>
            <a:ext cx="219456" cy="237744"/>
          </a:xfrm>
          <a:prstGeom prst="rect">
            <a:avLst/>
          </a:prstGeom>
          <a:noFill/>
          <a:ln/>
        </p:spPr>
        <p:txBody>
          <a:bodyPr wrap="square" lIns="0" tIns="0" rIns="0" bIns="0" rtlCol="0" anchor="ctr"/>
          <a:lstStyle/>
          <a:p>
            <a:pPr marL="0" indent="0">
              <a:buNone/>
            </a:pPr>
            <a:endParaRPr lang="en-US" sz="2000" dirty="0"/>
          </a:p>
        </p:txBody>
      </p:sp>
      <p:sp>
        <p:nvSpPr>
          <p:cNvPr id="16" name="Text 13"/>
          <p:cNvSpPr/>
          <p:nvPr/>
        </p:nvSpPr>
        <p:spPr>
          <a:xfrm>
            <a:off x="6419088" y="1938528"/>
            <a:ext cx="2377440" cy="256032"/>
          </a:xfrm>
          <a:prstGeom prst="rect">
            <a:avLst/>
          </a:prstGeom>
          <a:noFill/>
          <a:ln/>
        </p:spPr>
        <p:txBody>
          <a:bodyPr wrap="square" lIns="0" tIns="0" rIns="0" bIns="0" rtlCol="0" anchor="ctr"/>
          <a:lstStyle/>
          <a:p>
            <a:pPr marL="0" indent="0">
              <a:buNone/>
            </a:pPr>
            <a:endParaRPr lang="en-US" sz="1600" dirty="0"/>
          </a:p>
        </p:txBody>
      </p:sp>
      <p:sp>
        <p:nvSpPr>
          <p:cNvPr id="17" name="Text 14"/>
          <p:cNvSpPr/>
          <p:nvPr/>
        </p:nvSpPr>
        <p:spPr>
          <a:xfrm>
            <a:off x="6382512" y="2267712"/>
            <a:ext cx="4736592" cy="1828800"/>
          </a:xfrm>
          <a:prstGeom prst="rect">
            <a:avLst/>
          </a:prstGeom>
          <a:noFill/>
          <a:ln/>
        </p:spPr>
        <p:txBody>
          <a:bodyPr wrap="square" lIns="1016" tIns="1016" rIns="1016" bIns="1016" rtlCol="0" anchor="t">
            <a:normAutofit/>
          </a:bodyPr>
          <a:lstStyle/>
          <a:p>
            <a:pPr marL="152400" indent="-152400">
              <a:buSzPct val="100000"/>
              <a:buChar char="•"/>
            </a:pPr>
            <a:endParaRPr lang="en-US" sz="1800" dirty="0"/>
          </a:p>
        </p:txBody>
      </p:sp>
      <p:sp>
        <p:nvSpPr>
          <p:cNvPr id="18" name="Text 15"/>
          <p:cNvSpPr/>
          <p:nvPr/>
        </p:nvSpPr>
        <p:spPr>
          <a:xfrm>
            <a:off x="6419088" y="4535424"/>
            <a:ext cx="1920240" cy="219456"/>
          </a:xfrm>
          <a:prstGeom prst="rect">
            <a:avLst/>
          </a:prstGeom>
          <a:noFill/>
          <a:ln/>
        </p:spPr>
        <p:txBody>
          <a:bodyPr wrap="square" lIns="0" tIns="0" rIns="0" bIns="0" rtlCol="0" anchor="ctr"/>
          <a:lstStyle/>
          <a:p>
            <a:pPr marL="0" indent="0">
              <a:buNone/>
            </a:pPr>
            <a:endParaRPr lang="en-US" sz="1550" dirty="0"/>
          </a:p>
        </p:txBody>
      </p:sp>
      <p:sp>
        <p:nvSpPr>
          <p:cNvPr id="19" name="Text 16"/>
          <p:cNvSpPr/>
          <p:nvPr/>
        </p:nvSpPr>
        <p:spPr>
          <a:xfrm>
            <a:off x="6419088" y="4800600"/>
            <a:ext cx="4389120" cy="585216"/>
          </a:xfrm>
          <a:prstGeom prst="rect">
            <a:avLst/>
          </a:prstGeom>
          <a:noFill/>
          <a:ln/>
        </p:spPr>
        <p:txBody>
          <a:bodyPr wrap="square" lIns="254" tIns="254" rIns="254" bIns="254" rtlCol="0" anchor="ctr">
            <a:normAutofit/>
          </a:bodyPr>
          <a:lstStyle/>
          <a:p>
            <a:pPr marL="0" indent="0">
              <a:buNone/>
            </a:pPr>
            <a:endParaRPr lang="en-US" sz="2200" dirty="0"/>
          </a:p>
        </p:txBody>
      </p:sp>
      <p:sp>
        <p:nvSpPr>
          <p:cNvPr id="20" name="Text 17"/>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1" name="Text 18"/>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8E8A7-D79D-B63A-8379-501E6C89320B}"/>
            </a:ext>
          </a:extLst>
        </p:cNvPr>
        <p:cNvGrpSpPr/>
        <p:nvPr/>
      </p:nvGrpSpPr>
      <p:grpSpPr>
        <a:xfrm>
          <a:off x="0" y="0"/>
          <a:ext cx="0" cy="0"/>
          <a:chOff x="0" y="0"/>
          <a:chExt cx="0" cy="0"/>
        </a:xfrm>
      </p:grpSpPr>
      <p:pic>
        <p:nvPicPr>
          <p:cNvPr id="2" name="Image 0" descr="/mnt/data/team_meeting_2.jpg">
            <a:extLst>
              <a:ext uri="{FF2B5EF4-FFF2-40B4-BE49-F238E27FC236}">
                <a16:creationId xmlns:a16="http://schemas.microsoft.com/office/drawing/2014/main" id="{0F865C97-E424-812F-3EFC-002EE04ADCD6}"/>
              </a:ext>
            </a:extLst>
          </p:cNvPr>
          <p:cNvPicPr>
            <a:picLocks noChangeAspect="1"/>
          </p:cNvPicPr>
          <p:nvPr/>
        </p:nvPicPr>
        <p:blipFill>
          <a:blip r:embed="rId3"/>
          <a:srcRect t="7811" b="7811"/>
          <a:stretch/>
        </p:blipFill>
        <p:spPr>
          <a:xfrm>
            <a:off x="0" y="0"/>
            <a:ext cx="12191695" cy="6858000"/>
          </a:xfrm>
          <a:prstGeom prst="rect">
            <a:avLst/>
          </a:prstGeom>
        </p:spPr>
      </p:pic>
      <p:sp>
        <p:nvSpPr>
          <p:cNvPr id="3" name="Shape 0">
            <a:extLst>
              <a:ext uri="{FF2B5EF4-FFF2-40B4-BE49-F238E27FC236}">
                <a16:creationId xmlns:a16="http://schemas.microsoft.com/office/drawing/2014/main" id="{1C2355A1-B940-F595-C2B5-165BC3D1FA53}"/>
              </a:ext>
            </a:extLst>
          </p:cNvPr>
          <p:cNvSpPr/>
          <p:nvPr/>
        </p:nvSpPr>
        <p:spPr>
          <a:xfrm>
            <a:off x="0" y="0"/>
            <a:ext cx="12191695" cy="6858000"/>
          </a:xfrm>
          <a:prstGeom prst="rect">
            <a:avLst/>
          </a:prstGeom>
          <a:solidFill>
            <a:srgbClr val="08172F">
              <a:alpha val="50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A625FDCF-FD72-6768-33AC-63EB2A08D600}"/>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a:extLst>
              <a:ext uri="{FF2B5EF4-FFF2-40B4-BE49-F238E27FC236}">
                <a16:creationId xmlns:a16="http://schemas.microsoft.com/office/drawing/2014/main" id="{B8E2ECA0-5073-4B94-40D9-F1174DE33924}"/>
              </a:ext>
            </a:extLst>
          </p:cNvPr>
          <p:cNvSpPr/>
          <p:nvPr/>
        </p:nvSpPr>
        <p:spPr>
          <a:xfrm>
            <a:off x="658368" y="438912"/>
            <a:ext cx="8961120" cy="475488"/>
          </a:xfrm>
          <a:prstGeom prst="rect">
            <a:avLst/>
          </a:prstGeom>
          <a:noFill/>
          <a:ln/>
        </p:spPr>
        <p:txBody>
          <a:bodyPr wrap="square" lIns="0" tIns="0" rIns="0" bIns="0" rtlCol="0" anchor="ctr"/>
          <a:lstStyle/>
          <a:p>
            <a:r>
              <a:rPr lang="en-US" sz="2800" b="1" dirty="0">
                <a:solidFill>
                  <a:srgbClr val="F7FAFC"/>
                </a:solidFill>
                <a:latin typeface="Aptos Display" pitchFamily="34" charset="0"/>
              </a:rPr>
              <a:t>Team Activity on AI</a:t>
            </a:r>
            <a:endParaRPr lang="en-US" sz="2800" dirty="0"/>
          </a:p>
        </p:txBody>
      </p:sp>
      <p:sp>
        <p:nvSpPr>
          <p:cNvPr id="6" name="Shape 3">
            <a:extLst>
              <a:ext uri="{FF2B5EF4-FFF2-40B4-BE49-F238E27FC236}">
                <a16:creationId xmlns:a16="http://schemas.microsoft.com/office/drawing/2014/main" id="{0C4B9079-9D21-D9F0-E0E3-BCB51287A739}"/>
              </a:ext>
            </a:extLst>
          </p:cNvPr>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a:extLst>
              <a:ext uri="{FF2B5EF4-FFF2-40B4-BE49-F238E27FC236}">
                <a16:creationId xmlns:a16="http://schemas.microsoft.com/office/drawing/2014/main" id="{3CBDC69C-3856-13C3-0B6E-83D21E2DB5E0}"/>
              </a:ext>
            </a:extLst>
          </p:cNvPr>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a:extLst>
              <a:ext uri="{FF2B5EF4-FFF2-40B4-BE49-F238E27FC236}">
                <a16:creationId xmlns:a16="http://schemas.microsoft.com/office/drawing/2014/main" id="{CC125F0B-0E50-B047-A602-B1A9115C9767}"/>
              </a:ext>
            </a:extLst>
          </p:cNvPr>
          <p:cNvSpPr/>
          <p:nvPr/>
        </p:nvSpPr>
        <p:spPr>
          <a:xfrm>
            <a:off x="859536" y="1097280"/>
            <a:ext cx="5559552" cy="530352"/>
          </a:xfrm>
          <a:prstGeom prst="rect">
            <a:avLst/>
          </a:prstGeom>
          <a:noFill/>
          <a:ln/>
        </p:spPr>
        <p:txBody>
          <a:bodyPr wrap="square" lIns="0" tIns="0" rIns="0" bIns="0" rtlCol="0" anchor="ctr"/>
          <a:lstStyle/>
          <a:p>
            <a:pPr marL="0" indent="0" algn="ctr">
              <a:buNone/>
            </a:pPr>
            <a:endParaRPr lang="en-US" dirty="0"/>
          </a:p>
        </p:txBody>
      </p:sp>
      <p:sp>
        <p:nvSpPr>
          <p:cNvPr id="10" name="Shape 7">
            <a:extLst>
              <a:ext uri="{FF2B5EF4-FFF2-40B4-BE49-F238E27FC236}">
                <a16:creationId xmlns:a16="http://schemas.microsoft.com/office/drawing/2014/main" id="{AB5AD816-177D-F764-F260-C5B7437362A9}"/>
              </a:ext>
            </a:extLst>
          </p:cNvPr>
          <p:cNvSpPr/>
          <p:nvPr/>
        </p:nvSpPr>
        <p:spPr>
          <a:xfrm>
            <a:off x="640080" y="1627632"/>
            <a:ext cx="9368444" cy="4315968"/>
          </a:xfrm>
          <a:prstGeom prst="roundRect">
            <a:avLst>
              <a:gd name="adj" fmla="val 2966"/>
            </a:avLst>
          </a:prstGeom>
          <a:solidFill>
            <a:srgbClr val="0A1A33">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a:extLst>
              <a:ext uri="{FF2B5EF4-FFF2-40B4-BE49-F238E27FC236}">
                <a16:creationId xmlns:a16="http://schemas.microsoft.com/office/drawing/2014/main" id="{E05A4C28-487C-4DFB-35BC-C707F3A8F7E1}"/>
              </a:ext>
            </a:extLst>
          </p:cNvPr>
          <p:cNvSpPr/>
          <p:nvPr/>
        </p:nvSpPr>
        <p:spPr>
          <a:xfrm>
            <a:off x="868679" y="1627632"/>
            <a:ext cx="7927849" cy="3758184"/>
          </a:xfrm>
          <a:prstGeom prst="rect">
            <a:avLst/>
          </a:prstGeom>
          <a:noFill/>
          <a:ln/>
        </p:spPr>
        <p:txBody>
          <a:bodyPr wrap="square" lIns="1016" tIns="1016" rIns="1016" bIns="1016" rtlCol="0" anchor="t">
            <a:normAutofit/>
          </a:bodyPr>
          <a:lstStyle/>
          <a:p>
            <a:pPr>
              <a:lnSpc>
                <a:spcPct val="115000"/>
              </a:lnSpc>
              <a:buSzPct val="100000"/>
            </a:pPr>
            <a:r>
              <a:rPr lang="en-ZA" sz="2000" b="1" dirty="0">
                <a:solidFill>
                  <a:schemeClr val="bg2"/>
                </a:solidFill>
                <a:latin typeface="Aptos" pitchFamily="34" charset="0"/>
                <a:ea typeface="Aptos" pitchFamily="34" charset="-122"/>
                <a:cs typeface="Aptos" pitchFamily="34" charset="-120"/>
              </a:rPr>
              <a:t>In your team, assess how AI is changing the world of work. What does this mean for your career aspirations and plans?</a:t>
            </a:r>
          </a:p>
          <a:p>
            <a:pPr>
              <a:lnSpc>
                <a:spcPct val="115000"/>
              </a:lnSpc>
              <a:buSzPct val="100000"/>
            </a:pPr>
            <a:r>
              <a:rPr lang="en-ZA" sz="2000" b="1" dirty="0">
                <a:solidFill>
                  <a:schemeClr val="bg2"/>
                </a:solidFill>
                <a:latin typeface="Aptos" pitchFamily="34" charset="0"/>
                <a:ea typeface="Aptos" pitchFamily="34" charset="-122"/>
                <a:cs typeface="Aptos" pitchFamily="34" charset="-120"/>
              </a:rPr>
              <a:t>You will be required to present your findings at the start of next week’s session. Each person from the team is required to present to the class. If you are unable to attend the class, you will need to upload your work to Blackboard (one-page Word document, </a:t>
            </a:r>
            <a:r>
              <a:rPr lang="en-ZA" sz="2000" b="1" dirty="0" err="1">
                <a:solidFill>
                  <a:schemeClr val="bg2"/>
                </a:solidFill>
                <a:latin typeface="Aptos" pitchFamily="34" charset="0"/>
                <a:ea typeface="Aptos" pitchFamily="34" charset="-122"/>
                <a:cs typeface="Aptos" pitchFamily="34" charset="-120"/>
              </a:rPr>
              <a:t>PdF</a:t>
            </a:r>
            <a:r>
              <a:rPr lang="en-ZA" sz="2000" b="1" dirty="0">
                <a:solidFill>
                  <a:schemeClr val="bg2"/>
                </a:solidFill>
                <a:latin typeface="Aptos" pitchFamily="34" charset="0"/>
                <a:ea typeface="Aptos" pitchFamily="34" charset="-122"/>
                <a:cs typeface="Aptos" pitchFamily="34" charset="-120"/>
              </a:rPr>
              <a:t> or PowerPoint slide).</a:t>
            </a:r>
          </a:p>
        </p:txBody>
      </p:sp>
      <p:sp>
        <p:nvSpPr>
          <p:cNvPr id="13" name="Text 10">
            <a:extLst>
              <a:ext uri="{FF2B5EF4-FFF2-40B4-BE49-F238E27FC236}">
                <a16:creationId xmlns:a16="http://schemas.microsoft.com/office/drawing/2014/main" id="{E2F9447E-4D81-6A87-6FD9-D17E4FEE31D9}"/>
              </a:ext>
            </a:extLst>
          </p:cNvPr>
          <p:cNvSpPr/>
          <p:nvPr/>
        </p:nvSpPr>
        <p:spPr>
          <a:xfrm>
            <a:off x="960120" y="3977640"/>
            <a:ext cx="219456" cy="237744"/>
          </a:xfrm>
          <a:prstGeom prst="rect">
            <a:avLst/>
          </a:prstGeom>
          <a:noFill/>
          <a:ln/>
        </p:spPr>
        <p:txBody>
          <a:bodyPr wrap="square" lIns="0" tIns="0" rIns="0" bIns="0" rtlCol="0" anchor="ctr"/>
          <a:lstStyle/>
          <a:p>
            <a:pPr marL="0" indent="0">
              <a:buNone/>
            </a:pPr>
            <a:endParaRPr lang="en-US" sz="2000" dirty="0"/>
          </a:p>
        </p:txBody>
      </p:sp>
      <p:sp>
        <p:nvSpPr>
          <p:cNvPr id="16" name="Text 13">
            <a:extLst>
              <a:ext uri="{FF2B5EF4-FFF2-40B4-BE49-F238E27FC236}">
                <a16:creationId xmlns:a16="http://schemas.microsoft.com/office/drawing/2014/main" id="{8A4F4718-19A0-2577-D534-C42ECD61D701}"/>
              </a:ext>
            </a:extLst>
          </p:cNvPr>
          <p:cNvSpPr/>
          <p:nvPr/>
        </p:nvSpPr>
        <p:spPr>
          <a:xfrm>
            <a:off x="6419088" y="1938528"/>
            <a:ext cx="2377440" cy="256032"/>
          </a:xfrm>
          <a:prstGeom prst="rect">
            <a:avLst/>
          </a:prstGeom>
          <a:noFill/>
          <a:ln/>
        </p:spPr>
        <p:txBody>
          <a:bodyPr wrap="square" lIns="0" tIns="0" rIns="0" bIns="0" rtlCol="0" anchor="ctr"/>
          <a:lstStyle/>
          <a:p>
            <a:pPr marL="0" indent="0">
              <a:buNone/>
            </a:pPr>
            <a:endParaRPr lang="en-US" sz="1600" dirty="0"/>
          </a:p>
        </p:txBody>
      </p:sp>
      <p:sp>
        <p:nvSpPr>
          <p:cNvPr id="17" name="Text 14">
            <a:extLst>
              <a:ext uri="{FF2B5EF4-FFF2-40B4-BE49-F238E27FC236}">
                <a16:creationId xmlns:a16="http://schemas.microsoft.com/office/drawing/2014/main" id="{5D5CC28F-DD3B-C414-A638-3ECE65F28469}"/>
              </a:ext>
            </a:extLst>
          </p:cNvPr>
          <p:cNvSpPr/>
          <p:nvPr/>
        </p:nvSpPr>
        <p:spPr>
          <a:xfrm>
            <a:off x="6382512" y="2267712"/>
            <a:ext cx="4736592" cy="1828800"/>
          </a:xfrm>
          <a:prstGeom prst="rect">
            <a:avLst/>
          </a:prstGeom>
          <a:noFill/>
          <a:ln/>
        </p:spPr>
        <p:txBody>
          <a:bodyPr wrap="square" lIns="1016" tIns="1016" rIns="1016" bIns="1016" rtlCol="0" anchor="t">
            <a:normAutofit/>
          </a:bodyPr>
          <a:lstStyle/>
          <a:p>
            <a:pPr marL="152400" indent="-152400">
              <a:buSzPct val="100000"/>
              <a:buChar char="•"/>
            </a:pPr>
            <a:endParaRPr lang="en-US" sz="1800" dirty="0"/>
          </a:p>
        </p:txBody>
      </p:sp>
      <p:sp>
        <p:nvSpPr>
          <p:cNvPr id="18" name="Text 15">
            <a:extLst>
              <a:ext uri="{FF2B5EF4-FFF2-40B4-BE49-F238E27FC236}">
                <a16:creationId xmlns:a16="http://schemas.microsoft.com/office/drawing/2014/main" id="{46EE17F7-D098-BFC0-801C-10778556F390}"/>
              </a:ext>
            </a:extLst>
          </p:cNvPr>
          <p:cNvSpPr/>
          <p:nvPr/>
        </p:nvSpPr>
        <p:spPr>
          <a:xfrm>
            <a:off x="6419088" y="4535424"/>
            <a:ext cx="1920240" cy="219456"/>
          </a:xfrm>
          <a:prstGeom prst="rect">
            <a:avLst/>
          </a:prstGeom>
          <a:noFill/>
          <a:ln/>
        </p:spPr>
        <p:txBody>
          <a:bodyPr wrap="square" lIns="0" tIns="0" rIns="0" bIns="0" rtlCol="0" anchor="ctr"/>
          <a:lstStyle/>
          <a:p>
            <a:pPr marL="0" indent="0">
              <a:buNone/>
            </a:pPr>
            <a:endParaRPr lang="en-US" sz="1550" dirty="0"/>
          </a:p>
        </p:txBody>
      </p:sp>
      <p:sp>
        <p:nvSpPr>
          <p:cNvPr id="19" name="Text 16">
            <a:extLst>
              <a:ext uri="{FF2B5EF4-FFF2-40B4-BE49-F238E27FC236}">
                <a16:creationId xmlns:a16="http://schemas.microsoft.com/office/drawing/2014/main" id="{7F4B73A1-9195-CB07-D472-2B8D3988B2FB}"/>
              </a:ext>
            </a:extLst>
          </p:cNvPr>
          <p:cNvSpPr/>
          <p:nvPr/>
        </p:nvSpPr>
        <p:spPr>
          <a:xfrm>
            <a:off x="6419088" y="4800600"/>
            <a:ext cx="4389120" cy="585216"/>
          </a:xfrm>
          <a:prstGeom prst="rect">
            <a:avLst/>
          </a:prstGeom>
          <a:noFill/>
          <a:ln/>
        </p:spPr>
        <p:txBody>
          <a:bodyPr wrap="square" lIns="254" tIns="254" rIns="254" bIns="254" rtlCol="0" anchor="ctr">
            <a:normAutofit/>
          </a:bodyPr>
          <a:lstStyle/>
          <a:p>
            <a:pPr marL="0" indent="0">
              <a:buNone/>
            </a:pPr>
            <a:endParaRPr lang="en-US" sz="2200" dirty="0"/>
          </a:p>
        </p:txBody>
      </p:sp>
      <p:sp>
        <p:nvSpPr>
          <p:cNvPr id="20" name="Text 17">
            <a:extLst>
              <a:ext uri="{FF2B5EF4-FFF2-40B4-BE49-F238E27FC236}">
                <a16:creationId xmlns:a16="http://schemas.microsoft.com/office/drawing/2014/main" id="{724AAF07-9BFD-6779-96BC-FD982DA1A5BB}"/>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1" name="Text 18">
            <a:extLst>
              <a:ext uri="{FF2B5EF4-FFF2-40B4-BE49-F238E27FC236}">
                <a16:creationId xmlns:a16="http://schemas.microsoft.com/office/drawing/2014/main" id="{2BE10873-B247-4C68-3AB5-E3A00A1DA25F}"/>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2</a:t>
            </a:r>
            <a:endParaRPr lang="en-US" sz="1000" dirty="0"/>
          </a:p>
        </p:txBody>
      </p:sp>
    </p:spTree>
    <p:extLst>
      <p:ext uri="{BB962C8B-B14F-4D97-AF65-F5344CB8AC3E}">
        <p14:creationId xmlns:p14="http://schemas.microsoft.com/office/powerpoint/2010/main" val="2091720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eam_meeting_1.jpg"/>
          <p:cNvPicPr>
            <a:picLocks noChangeAspect="1"/>
          </p:cNvPicPr>
          <p:nvPr/>
        </p:nvPicPr>
        <p:blipFill>
          <a:blip r:embed="rId3"/>
          <a:srcRect t="14" b="1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46000"/>
            </a:srgbClr>
          </a:solidFill>
          <a:ln w="12700">
            <a:solidFill>
              <a:srgbClr val="08172F">
                <a:alpha val="0"/>
              </a:srgbClr>
            </a:solidFill>
            <a:prstDash val="solid"/>
          </a:ln>
        </p:spPr>
        <p:txBody>
          <a:bodyPr/>
          <a:lstStyle/>
          <a:p>
            <a:endParaRPr lang="en-US" i="1" dirty="0">
              <a:solidFill>
                <a:srgbClr val="E2E8F0"/>
              </a:solidFill>
            </a:endParaRPr>
          </a:p>
          <a:p>
            <a:endParaRPr lang="en-US" i="1" dirty="0">
              <a:solidFill>
                <a:srgbClr val="E2E8F0"/>
              </a:solidFill>
            </a:endParaRPr>
          </a:p>
          <a:p>
            <a:endParaRPr lang="en-US" i="1" dirty="0">
              <a:solidFill>
                <a:srgbClr val="E2E8F0"/>
              </a:solidFill>
            </a:endParaRPr>
          </a:p>
          <a:p>
            <a:r>
              <a:rPr lang="en-US" i="1" dirty="0">
                <a:solidFill>
                  <a:schemeClr val="bg1"/>
                </a:solidFill>
              </a:rPr>
              <a:t>“Bringing a number of people together to perform a task does not necessarily mean they will work together effectively as a team—even when complementary skills, balanced personalities and a common goal are present”.</a:t>
            </a:r>
            <a:endParaRPr lang="en-US" dirty="0">
              <a:solidFill>
                <a:schemeClr val="bg1"/>
              </a:solidFill>
            </a:endParaRPr>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1. What is team building?</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endParaRPr lang="en-US" sz="1100" dirty="0"/>
          </a:p>
        </p:txBody>
      </p:sp>
      <p:sp>
        <p:nvSpPr>
          <p:cNvPr id="10" name="Shape 7"/>
          <p:cNvSpPr/>
          <p:nvPr/>
        </p:nvSpPr>
        <p:spPr>
          <a:xfrm>
            <a:off x="640080" y="1815084"/>
            <a:ext cx="3657600" cy="4526280"/>
          </a:xfrm>
          <a:prstGeom prst="roundRect">
            <a:avLst>
              <a:gd name="adj" fmla="val 3500"/>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68680" y="1938528"/>
            <a:ext cx="2651760" cy="274320"/>
          </a:xfrm>
          <a:prstGeom prst="rect">
            <a:avLst/>
          </a:prstGeom>
          <a:noFill/>
          <a:ln/>
        </p:spPr>
        <p:txBody>
          <a:bodyPr wrap="square" lIns="0" tIns="0" rIns="0" bIns="0" rtlCol="0" anchor="ctr"/>
          <a:lstStyle/>
          <a:p>
            <a:pPr marL="0" indent="0">
              <a:buNone/>
            </a:pPr>
            <a:endParaRPr lang="en-US" sz="1550" dirty="0"/>
          </a:p>
        </p:txBody>
      </p:sp>
      <p:sp>
        <p:nvSpPr>
          <p:cNvPr id="12" name="Text 9"/>
          <p:cNvSpPr/>
          <p:nvPr/>
        </p:nvSpPr>
        <p:spPr>
          <a:xfrm>
            <a:off x="868679" y="2267712"/>
            <a:ext cx="3320935" cy="1874520"/>
          </a:xfrm>
          <a:prstGeom prst="rect">
            <a:avLst/>
          </a:prstGeom>
          <a:noFill/>
          <a:ln/>
        </p:spPr>
        <p:txBody>
          <a:bodyPr wrap="square" lIns="508" tIns="508" rIns="508" bIns="508" rtlCol="0" anchor="ctr">
            <a:normAutofit fontScale="85000" lnSpcReduction="20000"/>
          </a:bodyPr>
          <a:lstStyle/>
          <a:p>
            <a:pPr marL="0" indent="0">
              <a:buNone/>
            </a:pPr>
            <a:r>
              <a:rPr lang="en-US" sz="1900" i="1" dirty="0">
                <a:solidFill>
                  <a:srgbClr val="F8FAFC"/>
                </a:solidFill>
              </a:rPr>
              <a:t>Team Building: “Activities designed to improve interpersonal relationships and increase team cohesiveness”. </a:t>
            </a:r>
          </a:p>
          <a:p>
            <a:pPr marL="0" indent="0">
              <a:buNone/>
            </a:pPr>
            <a:endParaRPr lang="en-US" sz="1900" i="1" dirty="0">
              <a:solidFill>
                <a:srgbClr val="F8FAFC"/>
              </a:solidFill>
            </a:endParaRPr>
          </a:p>
          <a:p>
            <a:pPr marL="0" indent="0">
              <a:buNone/>
            </a:pPr>
            <a:r>
              <a:rPr lang="en-US" sz="1900" i="1" dirty="0">
                <a:solidFill>
                  <a:srgbClr val="F8FAFC"/>
                </a:solidFill>
              </a:rPr>
              <a:t>It is also important to encourage information communication and activities because of their role in building trust and establishing good working relationships.</a:t>
            </a:r>
            <a:endParaRPr lang="en-US" sz="1900" dirty="0"/>
          </a:p>
        </p:txBody>
      </p:sp>
      <p:sp>
        <p:nvSpPr>
          <p:cNvPr id="13" name="Shape 10"/>
          <p:cNvSpPr/>
          <p:nvPr/>
        </p:nvSpPr>
        <p:spPr>
          <a:xfrm>
            <a:off x="4526280" y="1923565"/>
            <a:ext cx="6903720" cy="4526280"/>
          </a:xfrm>
          <a:prstGeom prst="roundRect">
            <a:avLst>
              <a:gd name="adj" fmla="val 2828"/>
            </a:avLst>
          </a:prstGeom>
          <a:solidFill>
            <a:srgbClr val="102544">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4" name="Text 11"/>
          <p:cNvSpPr/>
          <p:nvPr/>
        </p:nvSpPr>
        <p:spPr>
          <a:xfrm>
            <a:off x="4800600" y="1938528"/>
            <a:ext cx="2834640" cy="256032"/>
          </a:xfrm>
          <a:prstGeom prst="rect">
            <a:avLst/>
          </a:prstGeom>
          <a:noFill/>
          <a:ln/>
        </p:spPr>
        <p:txBody>
          <a:bodyPr wrap="square" lIns="0" tIns="0" rIns="0" bIns="0" rtlCol="0" anchor="ctr"/>
          <a:lstStyle/>
          <a:p>
            <a:pPr marL="0" indent="0">
              <a:buNone/>
            </a:pPr>
            <a:endParaRPr lang="en-US" sz="1600" dirty="0"/>
          </a:p>
        </p:txBody>
      </p:sp>
      <p:sp>
        <p:nvSpPr>
          <p:cNvPr id="15" name="Text 12"/>
          <p:cNvSpPr/>
          <p:nvPr/>
        </p:nvSpPr>
        <p:spPr>
          <a:xfrm>
            <a:off x="4736592" y="2267712"/>
            <a:ext cx="6263640" cy="2697480"/>
          </a:xfrm>
          <a:prstGeom prst="rect">
            <a:avLst/>
          </a:prstGeom>
          <a:noFill/>
          <a:ln/>
        </p:spPr>
        <p:txBody>
          <a:bodyPr wrap="square" lIns="1016" tIns="1016" rIns="1016" bIns="1016" rtlCol="0" anchor="t">
            <a:normAutofit/>
          </a:bodyPr>
          <a:lstStyle/>
          <a:p>
            <a:pPr marL="152400" indent="-152400">
              <a:buSzPct val="100000"/>
              <a:buChar char="•"/>
            </a:pPr>
            <a:r>
              <a:rPr lang="en-US" sz="1800" dirty="0">
                <a:solidFill>
                  <a:srgbClr val="F8FAFC"/>
                </a:solidFill>
                <a:latin typeface="Aptos" pitchFamily="34" charset="0"/>
                <a:ea typeface="Aptos" pitchFamily="34" charset="-122"/>
                <a:cs typeface="Aptos" pitchFamily="34" charset="-120"/>
              </a:rPr>
              <a:t>Team building enables a diverse group to work together effectively as a unit to achieve the project’s goals.</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People often view the project through the lens of their own discipline and background.</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The project manager must help individuals see the big picture and focus on overall project goals together.</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Obtaining team spirit and commitment is what team building is all about.</a:t>
            </a:r>
            <a:endParaRPr lang="en-US" sz="1800" dirty="0"/>
          </a:p>
        </p:txBody>
      </p:sp>
      <p:sp>
        <p:nvSpPr>
          <p:cNvPr id="16" name="Text 13"/>
          <p:cNvSpPr/>
          <p:nvPr/>
        </p:nvSpPr>
        <p:spPr>
          <a:xfrm>
            <a:off x="4800600" y="5148072"/>
            <a:ext cx="2286000" cy="210312"/>
          </a:xfrm>
          <a:prstGeom prst="rect">
            <a:avLst/>
          </a:prstGeom>
          <a:noFill/>
          <a:ln/>
        </p:spPr>
        <p:txBody>
          <a:bodyPr wrap="square" lIns="0" tIns="0" rIns="0" bIns="0" rtlCol="0" anchor="ctr"/>
          <a:lstStyle/>
          <a:p>
            <a:pPr marL="0" indent="0">
              <a:buNone/>
            </a:pPr>
            <a:r>
              <a:rPr lang="en-US" sz="1450" b="1" dirty="0">
                <a:solidFill>
                  <a:srgbClr val="2DD4BF"/>
                </a:solidFill>
              </a:rPr>
              <a:t>Historical note</a:t>
            </a:r>
            <a:endParaRPr lang="en-US" sz="1450" dirty="0"/>
          </a:p>
        </p:txBody>
      </p:sp>
      <p:sp>
        <p:nvSpPr>
          <p:cNvPr id="17" name="Text 14"/>
          <p:cNvSpPr/>
          <p:nvPr/>
        </p:nvSpPr>
        <p:spPr>
          <a:xfrm>
            <a:off x="4800600" y="5413248"/>
            <a:ext cx="5669280" cy="502920"/>
          </a:xfrm>
          <a:prstGeom prst="rect">
            <a:avLst/>
          </a:prstGeom>
          <a:noFill/>
          <a:ln/>
        </p:spPr>
        <p:txBody>
          <a:bodyPr wrap="square" lIns="254" tIns="254" rIns="254" bIns="254" rtlCol="0" anchor="ctr">
            <a:normAutofit fontScale="85000" lnSpcReduction="20000"/>
          </a:bodyPr>
          <a:lstStyle/>
          <a:p>
            <a:pPr marL="0" indent="0">
              <a:buNone/>
            </a:pPr>
            <a:r>
              <a:rPr lang="en-US" sz="1550" dirty="0">
                <a:solidFill>
                  <a:srgbClr val="E2E8F0"/>
                </a:solidFill>
              </a:rPr>
              <a:t>In the late 1980s and 1990s, many companies recognized team building as important for service quality and competitive advantage—yet the term often still felt nebulous in practice.</a:t>
            </a:r>
            <a:endParaRPr lang="en-US" sz="1550" dirty="0"/>
          </a:p>
        </p:txBody>
      </p:sp>
      <p:sp>
        <p:nvSpPr>
          <p:cNvPr id="19" name="Text 16"/>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BF6C-268B-2A1D-29FE-A7D560467D14}"/>
            </a:ext>
          </a:extLst>
        </p:cNvPr>
        <p:cNvGrpSpPr/>
        <p:nvPr/>
      </p:nvGrpSpPr>
      <p:grpSpPr>
        <a:xfrm>
          <a:off x="0" y="0"/>
          <a:ext cx="0" cy="0"/>
          <a:chOff x="0" y="0"/>
          <a:chExt cx="0" cy="0"/>
        </a:xfrm>
      </p:grpSpPr>
      <p:pic>
        <p:nvPicPr>
          <p:cNvPr id="2" name="Image 0" descr="/mnt/data/team_meeting_1.jpg">
            <a:extLst>
              <a:ext uri="{FF2B5EF4-FFF2-40B4-BE49-F238E27FC236}">
                <a16:creationId xmlns:a16="http://schemas.microsoft.com/office/drawing/2014/main" id="{74C61BBE-7D87-A655-35E6-AB49FC176E22}"/>
              </a:ext>
            </a:extLst>
          </p:cNvPr>
          <p:cNvPicPr>
            <a:picLocks noChangeAspect="1"/>
          </p:cNvPicPr>
          <p:nvPr/>
        </p:nvPicPr>
        <p:blipFill>
          <a:blip r:embed="rId3"/>
          <a:srcRect t="14" b="14"/>
          <a:stretch/>
        </p:blipFill>
        <p:spPr>
          <a:xfrm>
            <a:off x="0" y="0"/>
            <a:ext cx="12191695" cy="6858000"/>
          </a:xfrm>
          <a:prstGeom prst="rect">
            <a:avLst/>
          </a:prstGeom>
        </p:spPr>
      </p:pic>
      <p:sp>
        <p:nvSpPr>
          <p:cNvPr id="3" name="Shape 0">
            <a:extLst>
              <a:ext uri="{FF2B5EF4-FFF2-40B4-BE49-F238E27FC236}">
                <a16:creationId xmlns:a16="http://schemas.microsoft.com/office/drawing/2014/main" id="{12C8D9F5-5382-D89C-6EFF-8028A491AB54}"/>
              </a:ext>
            </a:extLst>
          </p:cNvPr>
          <p:cNvSpPr/>
          <p:nvPr/>
        </p:nvSpPr>
        <p:spPr>
          <a:xfrm>
            <a:off x="0" y="0"/>
            <a:ext cx="12191695" cy="6858000"/>
          </a:xfrm>
          <a:prstGeom prst="rect">
            <a:avLst/>
          </a:prstGeom>
          <a:solidFill>
            <a:srgbClr val="08172F">
              <a:alpha val="54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60BB133B-FE56-E43D-E1E8-BC08DE88EDD1}"/>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6" name="Text 3">
            <a:extLst>
              <a:ext uri="{FF2B5EF4-FFF2-40B4-BE49-F238E27FC236}">
                <a16:creationId xmlns:a16="http://schemas.microsoft.com/office/drawing/2014/main" id="{0471BB5E-2768-7F5B-810E-29AF97506A5C}"/>
              </a:ext>
            </a:extLst>
          </p:cNvPr>
          <p:cNvSpPr/>
          <p:nvPr/>
        </p:nvSpPr>
        <p:spPr>
          <a:xfrm>
            <a:off x="841248" y="932688"/>
            <a:ext cx="1920240" cy="237744"/>
          </a:xfrm>
          <a:prstGeom prst="rect">
            <a:avLst/>
          </a:prstGeom>
          <a:noFill/>
          <a:ln/>
        </p:spPr>
        <p:txBody>
          <a:bodyPr wrap="square" lIns="0" tIns="0" rIns="0" bIns="0" rtlCol="0" anchor="ctr"/>
          <a:lstStyle/>
          <a:p>
            <a:pPr marL="0" indent="0">
              <a:buNone/>
            </a:pPr>
            <a:endParaRPr lang="en-US" sz="1300" dirty="0"/>
          </a:p>
        </p:txBody>
      </p:sp>
      <p:sp>
        <p:nvSpPr>
          <p:cNvPr id="7" name="Text 4">
            <a:extLst>
              <a:ext uri="{FF2B5EF4-FFF2-40B4-BE49-F238E27FC236}">
                <a16:creationId xmlns:a16="http://schemas.microsoft.com/office/drawing/2014/main" id="{2AFFC77F-D120-8CCB-4400-766640CCF447}"/>
              </a:ext>
            </a:extLst>
          </p:cNvPr>
          <p:cNvSpPr/>
          <p:nvPr/>
        </p:nvSpPr>
        <p:spPr>
          <a:xfrm>
            <a:off x="804672" y="1234440"/>
            <a:ext cx="5537939" cy="1417320"/>
          </a:xfrm>
          <a:prstGeom prst="rect">
            <a:avLst/>
          </a:prstGeom>
          <a:noFill/>
          <a:ln/>
        </p:spPr>
        <p:txBody>
          <a:bodyPr wrap="square" lIns="0" tIns="0" rIns="0" bIns="0" rtlCol="0" anchor="ctr"/>
          <a:lstStyle/>
          <a:p>
            <a:pPr marL="0" indent="0">
              <a:buNone/>
            </a:pPr>
            <a:endParaRPr lang="en-US" sz="3600" dirty="0"/>
          </a:p>
        </p:txBody>
      </p:sp>
      <p:sp>
        <p:nvSpPr>
          <p:cNvPr id="8" name="Text 5">
            <a:extLst>
              <a:ext uri="{FF2B5EF4-FFF2-40B4-BE49-F238E27FC236}">
                <a16:creationId xmlns:a16="http://schemas.microsoft.com/office/drawing/2014/main" id="{F4AC87C1-609A-8142-70C0-2C9EDA76190D}"/>
              </a:ext>
            </a:extLst>
          </p:cNvPr>
          <p:cNvSpPr/>
          <p:nvPr/>
        </p:nvSpPr>
        <p:spPr>
          <a:xfrm>
            <a:off x="841248" y="2852928"/>
            <a:ext cx="5212080" cy="786384"/>
          </a:xfrm>
          <a:prstGeom prst="rect">
            <a:avLst/>
          </a:prstGeom>
          <a:noFill/>
          <a:ln/>
        </p:spPr>
        <p:txBody>
          <a:bodyPr wrap="square" lIns="127" tIns="127" rIns="127" bIns="127" rtlCol="0" anchor="ctr">
            <a:normAutofit/>
          </a:bodyPr>
          <a:lstStyle/>
          <a:p>
            <a:pPr marL="0" indent="0">
              <a:buNone/>
            </a:pPr>
            <a:endParaRPr lang="en-US" sz="1550" dirty="0"/>
          </a:p>
        </p:txBody>
      </p:sp>
      <p:sp>
        <p:nvSpPr>
          <p:cNvPr id="11" name="Text 8">
            <a:extLst>
              <a:ext uri="{FF2B5EF4-FFF2-40B4-BE49-F238E27FC236}">
                <a16:creationId xmlns:a16="http://schemas.microsoft.com/office/drawing/2014/main" id="{E6677564-7A92-CECA-4879-930A9D060B3F}"/>
              </a:ext>
            </a:extLst>
          </p:cNvPr>
          <p:cNvSpPr/>
          <p:nvPr/>
        </p:nvSpPr>
        <p:spPr>
          <a:xfrm>
            <a:off x="7223760" y="5440680"/>
            <a:ext cx="4434840" cy="621792"/>
          </a:xfrm>
          <a:prstGeom prst="rect">
            <a:avLst/>
          </a:prstGeom>
          <a:noFill/>
          <a:ln/>
        </p:spPr>
        <p:txBody>
          <a:bodyPr wrap="square" lIns="127" tIns="127" rIns="127" bIns="127" rtlCol="0" anchor="ctr">
            <a:normAutofit/>
          </a:bodyPr>
          <a:lstStyle/>
          <a:p>
            <a:pPr marL="0" indent="0" algn="r">
              <a:buNone/>
            </a:pPr>
            <a:endParaRPr lang="en-US" sz="1600" dirty="0"/>
          </a:p>
        </p:txBody>
      </p:sp>
      <p:sp>
        <p:nvSpPr>
          <p:cNvPr id="12" name="Text 9">
            <a:extLst>
              <a:ext uri="{FF2B5EF4-FFF2-40B4-BE49-F238E27FC236}">
                <a16:creationId xmlns:a16="http://schemas.microsoft.com/office/drawing/2014/main" id="{1AE5A1D7-7F9D-AC26-0580-8A84E9FFAA15}"/>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13" name="Text 10">
            <a:extLst>
              <a:ext uri="{FF2B5EF4-FFF2-40B4-BE49-F238E27FC236}">
                <a16:creationId xmlns:a16="http://schemas.microsoft.com/office/drawing/2014/main" id="{24519A63-6EBD-09BA-48D3-1C56777D4A92}"/>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a:t>
            </a:r>
            <a:endParaRPr lang="en-US" sz="1000" dirty="0"/>
          </a:p>
        </p:txBody>
      </p:sp>
      <p:pic>
        <p:nvPicPr>
          <p:cNvPr id="10" name="Picture 9" descr="A graph of a lifecycle&#10;&#10;AI-generated content may be incorrect.">
            <a:extLst>
              <a:ext uri="{FF2B5EF4-FFF2-40B4-BE49-F238E27FC236}">
                <a16:creationId xmlns:a16="http://schemas.microsoft.com/office/drawing/2014/main" id="{7B857CF6-34FD-BCDE-99D5-EFF9B1941588}"/>
              </a:ext>
            </a:extLst>
          </p:cNvPr>
          <p:cNvPicPr>
            <a:picLocks noChangeAspect="1"/>
          </p:cNvPicPr>
          <p:nvPr/>
        </p:nvPicPr>
        <p:blipFill>
          <a:blip r:embed="rId4"/>
          <a:stretch>
            <a:fillRect/>
          </a:stretch>
        </p:blipFill>
        <p:spPr>
          <a:xfrm>
            <a:off x="1016571" y="795528"/>
            <a:ext cx="10244205" cy="5330952"/>
          </a:xfrm>
          <a:prstGeom prst="rect">
            <a:avLst/>
          </a:prstGeom>
        </p:spPr>
      </p:pic>
    </p:spTree>
    <p:extLst>
      <p:ext uri="{BB962C8B-B14F-4D97-AF65-F5344CB8AC3E}">
        <p14:creationId xmlns:p14="http://schemas.microsoft.com/office/powerpoint/2010/main" val="566961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eam_meeting_2.jpg"/>
          <p:cNvPicPr>
            <a:picLocks noChangeAspect="1"/>
          </p:cNvPicPr>
          <p:nvPr/>
        </p:nvPicPr>
        <p:blipFill>
          <a:blip r:embed="rId3"/>
          <a:srcRect t="7811" b="7811"/>
          <a:stretch/>
        </p:blipFill>
        <p:spPr>
          <a:xfrm>
            <a:off x="0" y="0"/>
            <a:ext cx="12191695" cy="6858000"/>
          </a:xfrm>
          <a:prstGeom prst="rect">
            <a:avLst/>
          </a:prstGeom>
        </p:spPr>
      </p:pic>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Why team building must be accelerated</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endParaRPr lang="en-US" sz="1100" dirty="0"/>
          </a:p>
        </p:txBody>
      </p:sp>
      <p:sp>
        <p:nvSpPr>
          <p:cNvPr id="12" name="Shape 9"/>
          <p:cNvSpPr/>
          <p:nvPr/>
        </p:nvSpPr>
        <p:spPr>
          <a:xfrm>
            <a:off x="1051560" y="2148840"/>
            <a:ext cx="0" cy="3246120"/>
          </a:xfrm>
          <a:prstGeom prst="line">
            <a:avLst/>
          </a:prstGeom>
          <a:noFill/>
          <a:ln w="19050">
            <a:solidFill>
              <a:srgbClr val="E2E8F0"/>
            </a:solidFill>
            <a:prstDash val="solid"/>
          </a:ln>
        </p:spPr>
        <p:txBody>
          <a:bodyPr/>
          <a:lstStyle/>
          <a:p>
            <a:endParaRPr lang="en-ZA"/>
          </a:p>
        </p:txBody>
      </p:sp>
      <p:sp>
        <p:nvSpPr>
          <p:cNvPr id="13" name="Shape 10"/>
          <p:cNvSpPr/>
          <p:nvPr/>
        </p:nvSpPr>
        <p:spPr>
          <a:xfrm>
            <a:off x="1051560" y="5394960"/>
            <a:ext cx="0" cy="91440"/>
          </a:xfrm>
          <a:prstGeom prst="line">
            <a:avLst/>
          </a:prstGeom>
          <a:noFill/>
          <a:ln w="15240">
            <a:solidFill>
              <a:srgbClr val="E2E8F0"/>
            </a:solidFill>
            <a:prstDash val="solid"/>
          </a:ln>
        </p:spPr>
        <p:txBody>
          <a:bodyPr/>
          <a:lstStyle/>
          <a:p>
            <a:endParaRPr lang="en-ZA"/>
          </a:p>
        </p:txBody>
      </p:sp>
      <p:sp>
        <p:nvSpPr>
          <p:cNvPr id="14" name="Text 11"/>
          <p:cNvSpPr/>
          <p:nvPr/>
        </p:nvSpPr>
        <p:spPr>
          <a:xfrm>
            <a:off x="731520" y="5504688"/>
            <a:ext cx="822960" cy="365760"/>
          </a:xfrm>
          <a:prstGeom prst="rect">
            <a:avLst/>
          </a:prstGeom>
          <a:noFill/>
          <a:ln/>
        </p:spPr>
        <p:txBody>
          <a:bodyPr wrap="square" lIns="0" tIns="0" rIns="0" bIns="0" rtlCol="0" anchor="ctr"/>
          <a:lstStyle/>
          <a:p>
            <a:pPr marL="0" indent="0" algn="ctr">
              <a:buNone/>
            </a:pPr>
            <a:endParaRPr lang="en-US" sz="1150" dirty="0"/>
          </a:p>
        </p:txBody>
      </p:sp>
      <p:sp>
        <p:nvSpPr>
          <p:cNvPr id="15" name="Shape 12"/>
          <p:cNvSpPr/>
          <p:nvPr/>
        </p:nvSpPr>
        <p:spPr>
          <a:xfrm>
            <a:off x="2400300" y="5394960"/>
            <a:ext cx="0" cy="91440"/>
          </a:xfrm>
          <a:prstGeom prst="line">
            <a:avLst/>
          </a:prstGeom>
          <a:noFill/>
          <a:ln w="15240">
            <a:solidFill>
              <a:srgbClr val="E2E8F0"/>
            </a:solidFill>
            <a:prstDash val="solid"/>
          </a:ln>
        </p:spPr>
        <p:txBody>
          <a:bodyPr/>
          <a:lstStyle/>
          <a:p>
            <a:endParaRPr lang="en-ZA"/>
          </a:p>
        </p:txBody>
      </p:sp>
      <p:sp>
        <p:nvSpPr>
          <p:cNvPr id="17" name="Shape 14"/>
          <p:cNvSpPr/>
          <p:nvPr/>
        </p:nvSpPr>
        <p:spPr>
          <a:xfrm>
            <a:off x="3749040" y="5394960"/>
            <a:ext cx="0" cy="91440"/>
          </a:xfrm>
          <a:prstGeom prst="line">
            <a:avLst/>
          </a:prstGeom>
          <a:noFill/>
          <a:ln w="15240">
            <a:solidFill>
              <a:srgbClr val="E2E8F0"/>
            </a:solidFill>
            <a:prstDash val="solid"/>
          </a:ln>
        </p:spPr>
        <p:txBody>
          <a:bodyPr/>
          <a:lstStyle/>
          <a:p>
            <a:endParaRPr lang="en-ZA"/>
          </a:p>
        </p:txBody>
      </p:sp>
      <p:sp>
        <p:nvSpPr>
          <p:cNvPr id="19" name="Shape 16"/>
          <p:cNvSpPr/>
          <p:nvPr/>
        </p:nvSpPr>
        <p:spPr>
          <a:xfrm>
            <a:off x="5097780" y="5394960"/>
            <a:ext cx="0" cy="91440"/>
          </a:xfrm>
          <a:prstGeom prst="line">
            <a:avLst/>
          </a:prstGeom>
          <a:noFill/>
          <a:ln w="15240">
            <a:solidFill>
              <a:srgbClr val="E2E8F0"/>
            </a:solidFill>
            <a:prstDash val="solid"/>
          </a:ln>
        </p:spPr>
        <p:txBody>
          <a:bodyPr/>
          <a:lstStyle/>
          <a:p>
            <a:endParaRPr lang="en-ZA"/>
          </a:p>
        </p:txBody>
      </p:sp>
      <p:sp>
        <p:nvSpPr>
          <p:cNvPr id="21" name="Shape 18"/>
          <p:cNvSpPr/>
          <p:nvPr/>
        </p:nvSpPr>
        <p:spPr>
          <a:xfrm>
            <a:off x="6446520" y="5394960"/>
            <a:ext cx="0" cy="91440"/>
          </a:xfrm>
          <a:prstGeom prst="line">
            <a:avLst/>
          </a:prstGeom>
          <a:noFill/>
          <a:ln w="15240">
            <a:solidFill>
              <a:srgbClr val="E2E8F0"/>
            </a:solidFill>
            <a:prstDash val="solid"/>
          </a:ln>
        </p:spPr>
        <p:txBody>
          <a:bodyPr/>
          <a:lstStyle/>
          <a:p>
            <a:endParaRPr lang="en-ZA"/>
          </a:p>
        </p:txBody>
      </p:sp>
      <p:sp>
        <p:nvSpPr>
          <p:cNvPr id="22" name="Text 19"/>
          <p:cNvSpPr/>
          <p:nvPr/>
        </p:nvSpPr>
        <p:spPr>
          <a:xfrm>
            <a:off x="6126480" y="5504688"/>
            <a:ext cx="822960" cy="365760"/>
          </a:xfrm>
          <a:prstGeom prst="rect">
            <a:avLst/>
          </a:prstGeom>
          <a:noFill/>
          <a:ln/>
        </p:spPr>
        <p:txBody>
          <a:bodyPr wrap="square" lIns="0" tIns="0" rIns="0" bIns="0" rtlCol="0" anchor="ctr"/>
          <a:lstStyle/>
          <a:p>
            <a:pPr marL="0" indent="0" algn="ctr">
              <a:buNone/>
            </a:pPr>
            <a:endParaRPr lang="en-US" sz="1150" dirty="0"/>
          </a:p>
        </p:txBody>
      </p:sp>
      <p:sp>
        <p:nvSpPr>
          <p:cNvPr id="23" name="Shape 20"/>
          <p:cNvSpPr/>
          <p:nvPr/>
        </p:nvSpPr>
        <p:spPr>
          <a:xfrm>
            <a:off x="1124712" y="5166360"/>
            <a:ext cx="1280160" cy="0"/>
          </a:xfrm>
          <a:prstGeom prst="line">
            <a:avLst/>
          </a:prstGeom>
          <a:noFill/>
          <a:ln w="44450">
            <a:solidFill>
              <a:srgbClr val="F6C453"/>
            </a:solidFill>
            <a:prstDash val="solid"/>
            <a:headEnd type="none"/>
            <a:tailEnd type="triangle"/>
          </a:ln>
        </p:spPr>
        <p:txBody>
          <a:bodyPr/>
          <a:lstStyle/>
          <a:p>
            <a:endParaRPr lang="en-ZA"/>
          </a:p>
        </p:txBody>
      </p:sp>
      <p:sp>
        <p:nvSpPr>
          <p:cNvPr id="24" name="Shape 21"/>
          <p:cNvSpPr/>
          <p:nvPr/>
        </p:nvSpPr>
        <p:spPr>
          <a:xfrm>
            <a:off x="2404872" y="3429000"/>
            <a:ext cx="4297680" cy="137160"/>
          </a:xfrm>
          <a:prstGeom prst="line">
            <a:avLst/>
          </a:prstGeom>
          <a:noFill/>
          <a:ln w="44450">
            <a:solidFill>
              <a:srgbClr val="F6C453"/>
            </a:solidFill>
            <a:prstDash val="solid"/>
            <a:headEnd type="none"/>
            <a:tailEnd type="triangle"/>
          </a:ln>
        </p:spPr>
        <p:txBody>
          <a:bodyPr/>
          <a:lstStyle/>
          <a:p>
            <a:endParaRPr lang="en-ZA"/>
          </a:p>
        </p:txBody>
      </p:sp>
      <p:sp>
        <p:nvSpPr>
          <p:cNvPr id="25" name="Shape 22"/>
          <p:cNvSpPr/>
          <p:nvPr/>
        </p:nvSpPr>
        <p:spPr>
          <a:xfrm>
            <a:off x="1161288" y="5230368"/>
            <a:ext cx="987552" cy="0"/>
          </a:xfrm>
          <a:prstGeom prst="line">
            <a:avLst/>
          </a:prstGeom>
          <a:noFill/>
          <a:ln w="38100">
            <a:solidFill>
              <a:srgbClr val="2DD4BF"/>
            </a:solidFill>
            <a:prstDash val="solid"/>
          </a:ln>
        </p:spPr>
        <p:txBody>
          <a:bodyPr/>
          <a:lstStyle/>
          <a:p>
            <a:endParaRPr lang="en-ZA"/>
          </a:p>
        </p:txBody>
      </p:sp>
      <p:sp>
        <p:nvSpPr>
          <p:cNvPr id="26" name="Shape 23"/>
          <p:cNvSpPr/>
          <p:nvPr/>
        </p:nvSpPr>
        <p:spPr>
          <a:xfrm>
            <a:off x="2148840" y="4956048"/>
            <a:ext cx="1051560" cy="0"/>
          </a:xfrm>
          <a:prstGeom prst="line">
            <a:avLst/>
          </a:prstGeom>
          <a:noFill/>
          <a:ln w="38100">
            <a:solidFill>
              <a:srgbClr val="2DD4BF"/>
            </a:solidFill>
            <a:prstDash val="solid"/>
          </a:ln>
        </p:spPr>
        <p:txBody>
          <a:bodyPr/>
          <a:lstStyle/>
          <a:p>
            <a:endParaRPr lang="en-ZA"/>
          </a:p>
        </p:txBody>
      </p:sp>
      <p:sp>
        <p:nvSpPr>
          <p:cNvPr id="27" name="Shape 24"/>
          <p:cNvSpPr/>
          <p:nvPr/>
        </p:nvSpPr>
        <p:spPr>
          <a:xfrm>
            <a:off x="3200400" y="4480560"/>
            <a:ext cx="1188720" cy="0"/>
          </a:xfrm>
          <a:prstGeom prst="line">
            <a:avLst/>
          </a:prstGeom>
          <a:noFill/>
          <a:ln w="38100">
            <a:solidFill>
              <a:srgbClr val="2DD4BF"/>
            </a:solidFill>
            <a:prstDash val="solid"/>
          </a:ln>
        </p:spPr>
        <p:txBody>
          <a:bodyPr/>
          <a:lstStyle/>
          <a:p>
            <a:endParaRPr lang="en-ZA"/>
          </a:p>
        </p:txBody>
      </p:sp>
      <p:sp>
        <p:nvSpPr>
          <p:cNvPr id="28" name="Shape 25"/>
          <p:cNvSpPr/>
          <p:nvPr/>
        </p:nvSpPr>
        <p:spPr>
          <a:xfrm>
            <a:off x="4389120" y="3840480"/>
            <a:ext cx="1463040" cy="0"/>
          </a:xfrm>
          <a:prstGeom prst="line">
            <a:avLst/>
          </a:prstGeom>
          <a:noFill/>
          <a:ln w="38100">
            <a:solidFill>
              <a:srgbClr val="2DD4BF"/>
            </a:solidFill>
            <a:prstDash val="solid"/>
          </a:ln>
        </p:spPr>
        <p:txBody>
          <a:bodyPr/>
          <a:lstStyle/>
          <a:p>
            <a:endParaRPr lang="en-ZA"/>
          </a:p>
        </p:txBody>
      </p:sp>
      <p:sp>
        <p:nvSpPr>
          <p:cNvPr id="29" name="Text 26"/>
          <p:cNvSpPr/>
          <p:nvPr/>
        </p:nvSpPr>
        <p:spPr>
          <a:xfrm rot="16200000">
            <a:off x="621792" y="2395728"/>
            <a:ext cx="384048" cy="1005840"/>
          </a:xfrm>
          <a:prstGeom prst="rect">
            <a:avLst/>
          </a:prstGeom>
          <a:noFill/>
          <a:ln/>
        </p:spPr>
        <p:txBody>
          <a:bodyPr wrap="square" lIns="0" tIns="0" rIns="0" bIns="0" rtlCol="0" anchor="ctr"/>
          <a:lstStyle/>
          <a:p>
            <a:pPr marL="0" indent="0" algn="ctr">
              <a:buNone/>
            </a:pPr>
            <a:endParaRPr lang="en-US" sz="1200" dirty="0"/>
          </a:p>
        </p:txBody>
      </p:sp>
      <p:sp>
        <p:nvSpPr>
          <p:cNvPr id="30" name="Text 27"/>
          <p:cNvSpPr/>
          <p:nvPr/>
        </p:nvSpPr>
        <p:spPr>
          <a:xfrm>
            <a:off x="2907792" y="1901952"/>
            <a:ext cx="1600200" cy="228600"/>
          </a:xfrm>
          <a:prstGeom prst="rect">
            <a:avLst/>
          </a:prstGeom>
          <a:noFill/>
          <a:ln/>
        </p:spPr>
        <p:txBody>
          <a:bodyPr wrap="square" lIns="0" tIns="0" rIns="0" bIns="0" rtlCol="0" anchor="ctr"/>
          <a:lstStyle/>
          <a:p>
            <a:pPr marL="0" indent="0">
              <a:buNone/>
            </a:pPr>
            <a:endParaRPr lang="en-US" sz="1250" dirty="0"/>
          </a:p>
        </p:txBody>
      </p:sp>
      <p:sp>
        <p:nvSpPr>
          <p:cNvPr id="31" name="Text 28"/>
          <p:cNvSpPr/>
          <p:nvPr/>
        </p:nvSpPr>
        <p:spPr>
          <a:xfrm>
            <a:off x="3108960" y="4114800"/>
            <a:ext cx="1600200" cy="228600"/>
          </a:xfrm>
          <a:prstGeom prst="rect">
            <a:avLst/>
          </a:prstGeom>
          <a:noFill/>
          <a:ln/>
        </p:spPr>
        <p:txBody>
          <a:bodyPr wrap="square" lIns="0" tIns="0" rIns="0" bIns="0" rtlCol="0" anchor="ctr"/>
          <a:lstStyle/>
          <a:p>
            <a:pPr marL="0" indent="0">
              <a:buNone/>
            </a:pPr>
            <a:r>
              <a:rPr lang="en-US" sz="1250" b="1" dirty="0">
                <a:solidFill>
                  <a:srgbClr val="2DD4BF"/>
                </a:solidFill>
              </a:rPr>
              <a:t>Team building unaided</a:t>
            </a:r>
            <a:endParaRPr lang="en-US" sz="1250" dirty="0"/>
          </a:p>
        </p:txBody>
      </p:sp>
      <p:sp>
        <p:nvSpPr>
          <p:cNvPr id="32" name="Shape 29"/>
          <p:cNvSpPr/>
          <p:nvPr/>
        </p:nvSpPr>
        <p:spPr>
          <a:xfrm>
            <a:off x="859536" y="1143000"/>
            <a:ext cx="8927592" cy="4663440"/>
          </a:xfrm>
          <a:prstGeom prst="roundRect">
            <a:avLst>
              <a:gd name="adj" fmla="val 2979"/>
            </a:avLst>
          </a:prstGeom>
          <a:solidFill>
            <a:srgbClr val="11284C">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33" name="Text 30"/>
          <p:cNvSpPr/>
          <p:nvPr/>
        </p:nvSpPr>
        <p:spPr>
          <a:xfrm>
            <a:off x="2948940" y="1439141"/>
            <a:ext cx="2560320" cy="256032"/>
          </a:xfrm>
          <a:prstGeom prst="rect">
            <a:avLst/>
          </a:prstGeom>
          <a:noFill/>
          <a:ln/>
        </p:spPr>
        <p:txBody>
          <a:bodyPr wrap="square" lIns="0" tIns="0" rIns="0" bIns="0" rtlCol="0" anchor="ctr"/>
          <a:lstStyle/>
          <a:p>
            <a:pPr marL="0" indent="0">
              <a:buNone/>
            </a:pPr>
            <a:r>
              <a:rPr lang="en-US" sz="1600" b="1" dirty="0">
                <a:solidFill>
                  <a:srgbClr val="F6C453"/>
                </a:solidFill>
              </a:rPr>
              <a:t>Interpretation of previous chart </a:t>
            </a:r>
            <a:endParaRPr lang="en-US" sz="1600" dirty="0"/>
          </a:p>
        </p:txBody>
      </p:sp>
      <p:sp>
        <p:nvSpPr>
          <p:cNvPr id="34" name="Text 31"/>
          <p:cNvSpPr/>
          <p:nvPr/>
        </p:nvSpPr>
        <p:spPr>
          <a:xfrm>
            <a:off x="1517905" y="1943100"/>
            <a:ext cx="7476466" cy="2286000"/>
          </a:xfrm>
          <a:prstGeom prst="rect">
            <a:avLst/>
          </a:prstGeom>
          <a:noFill/>
          <a:ln/>
        </p:spPr>
        <p:txBody>
          <a:bodyPr wrap="square" lIns="1016" tIns="1016" rIns="1016" bIns="1016" rtlCol="0" anchor="t">
            <a:normAutofit/>
          </a:bodyPr>
          <a:lstStyle/>
          <a:p>
            <a:pPr marL="152400" indent="-152400">
              <a:buSzPct val="100000"/>
              <a:buChar char="•"/>
            </a:pPr>
            <a:r>
              <a:rPr lang="en-US" sz="1800" dirty="0">
                <a:solidFill>
                  <a:srgbClr val="F8FAFC"/>
                </a:solidFill>
                <a:latin typeface="Aptos" pitchFamily="34" charset="0"/>
                <a:ea typeface="Aptos" pitchFamily="34" charset="-122"/>
                <a:cs typeface="Aptos" pitchFamily="34" charset="-120"/>
              </a:rPr>
              <a:t>Natural team building does occur as people work toward a common goal.</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For short-duration projects, natural development is usually too slow and too ad hoc to be valuable.</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The project manager should use team-building techniques as soon as the team is formed.</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The chapter’s central point: the fully operational team must be made to happen.</a:t>
            </a:r>
            <a:endParaRPr lang="en-US" sz="1800" dirty="0"/>
          </a:p>
        </p:txBody>
      </p:sp>
      <p:sp>
        <p:nvSpPr>
          <p:cNvPr id="35" name="Text 32"/>
          <p:cNvSpPr/>
          <p:nvPr/>
        </p:nvSpPr>
        <p:spPr>
          <a:xfrm>
            <a:off x="7543800" y="4901184"/>
            <a:ext cx="1645920" cy="201168"/>
          </a:xfrm>
          <a:prstGeom prst="rect">
            <a:avLst/>
          </a:prstGeom>
          <a:noFill/>
          <a:ln/>
        </p:spPr>
        <p:txBody>
          <a:bodyPr wrap="square" lIns="0" tIns="0" rIns="0" bIns="0" rtlCol="0" anchor="ctr"/>
          <a:lstStyle/>
          <a:p>
            <a:pPr marL="0" indent="0">
              <a:buNone/>
            </a:pPr>
            <a:endParaRPr lang="en-US" sz="1450" dirty="0"/>
          </a:p>
        </p:txBody>
      </p:sp>
      <p:sp>
        <p:nvSpPr>
          <p:cNvPr id="36" name="Text 33"/>
          <p:cNvSpPr/>
          <p:nvPr/>
        </p:nvSpPr>
        <p:spPr>
          <a:xfrm>
            <a:off x="2994660" y="4590288"/>
            <a:ext cx="3200398" cy="1033272"/>
          </a:xfrm>
          <a:prstGeom prst="rect">
            <a:avLst/>
          </a:prstGeom>
          <a:noFill/>
          <a:ln/>
        </p:spPr>
        <p:txBody>
          <a:bodyPr wrap="square" lIns="254" tIns="254" rIns="254" bIns="254" rtlCol="0" anchor="ctr">
            <a:normAutofit/>
          </a:bodyPr>
          <a:lstStyle/>
          <a:p>
            <a:pPr marL="0" indent="0">
              <a:buNone/>
            </a:pPr>
            <a:r>
              <a:rPr lang="en-US" sz="1650" dirty="0">
                <a:solidFill>
                  <a:srgbClr val="E2E8F0"/>
                </a:solidFill>
              </a:rPr>
              <a:t>Accelerated team building raises the level of teamwork earlier in the project lifecycle.</a:t>
            </a:r>
            <a:endParaRPr lang="en-US" sz="1650" dirty="0"/>
          </a:p>
        </p:txBody>
      </p:sp>
      <p:sp>
        <p:nvSpPr>
          <p:cNvPr id="37" name="Text 34"/>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38" name="Text 35"/>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eam_meeting_1.jpg"/>
          <p:cNvPicPr>
            <a:picLocks noChangeAspect="1"/>
          </p:cNvPicPr>
          <p:nvPr/>
        </p:nvPicPr>
        <p:blipFill>
          <a:blip r:embed="rId3"/>
          <a:srcRect t="14" b="1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42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Four levels of team building</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Framework</a:t>
            </a:r>
            <a:endParaRPr lang="en-US" sz="1100" dirty="0"/>
          </a:p>
        </p:txBody>
      </p:sp>
      <p:sp>
        <p:nvSpPr>
          <p:cNvPr id="10" name="Shape 7"/>
          <p:cNvSpPr/>
          <p:nvPr/>
        </p:nvSpPr>
        <p:spPr>
          <a:xfrm>
            <a:off x="749808" y="1627632"/>
            <a:ext cx="10716768" cy="4553712"/>
          </a:xfrm>
          <a:prstGeom prst="roundRect">
            <a:avLst>
              <a:gd name="adj" fmla="val 2811"/>
            </a:avLst>
          </a:prstGeom>
          <a:solidFill>
            <a:srgbClr val="0B1E3A">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Shape 8"/>
          <p:cNvSpPr/>
          <p:nvPr/>
        </p:nvSpPr>
        <p:spPr>
          <a:xfrm>
            <a:off x="960120" y="1847088"/>
            <a:ext cx="2148840" cy="3931920"/>
          </a:xfrm>
          <a:prstGeom prst="roundRect">
            <a:avLst>
              <a:gd name="adj" fmla="val 5957"/>
            </a:avLst>
          </a:prstGeom>
          <a:solidFill>
            <a:srgbClr val="102544">
              <a:alpha val="86000"/>
            </a:srgbClr>
          </a:solidFill>
          <a:ln w="22860">
            <a:solidFill>
              <a:srgbClr val="2DD4BF">
                <a:alpha val="90000"/>
              </a:srgbClr>
            </a:solidFill>
            <a:prstDash val="solid"/>
          </a:ln>
        </p:spPr>
        <p:txBody>
          <a:bodyPr/>
          <a:lstStyle/>
          <a:p>
            <a:endParaRPr lang="en-ZA"/>
          </a:p>
        </p:txBody>
      </p:sp>
      <p:sp>
        <p:nvSpPr>
          <p:cNvPr id="12" name="Shape 9"/>
          <p:cNvSpPr/>
          <p:nvPr/>
        </p:nvSpPr>
        <p:spPr>
          <a:xfrm>
            <a:off x="960120" y="1847088"/>
            <a:ext cx="2148840" cy="310896"/>
          </a:xfrm>
          <a:prstGeom prst="rect">
            <a:avLst/>
          </a:prstGeom>
          <a:solidFill>
            <a:srgbClr val="2DD4BF">
              <a:alpha val="88000"/>
            </a:srgbClr>
          </a:solidFill>
          <a:ln w="12700">
            <a:solidFill>
              <a:srgbClr val="2DD4BF">
                <a:alpha val="0"/>
              </a:srgbClr>
            </a:solidFill>
            <a:prstDash val="solid"/>
          </a:ln>
        </p:spPr>
        <p:txBody>
          <a:bodyPr/>
          <a:lstStyle/>
          <a:p>
            <a:endParaRPr lang="en-ZA"/>
          </a:p>
        </p:txBody>
      </p:sp>
      <p:sp>
        <p:nvSpPr>
          <p:cNvPr id="13" name="Text 10"/>
          <p:cNvSpPr/>
          <p:nvPr/>
        </p:nvSpPr>
        <p:spPr>
          <a:xfrm>
            <a:off x="1124712" y="1938528"/>
            <a:ext cx="1097280" cy="164592"/>
          </a:xfrm>
          <a:prstGeom prst="rect">
            <a:avLst/>
          </a:prstGeom>
          <a:noFill/>
          <a:ln/>
        </p:spPr>
        <p:txBody>
          <a:bodyPr wrap="square" lIns="0" tIns="0" rIns="0" bIns="0" rtlCol="0" anchor="ctr"/>
          <a:lstStyle/>
          <a:p>
            <a:pPr marL="0" indent="0">
              <a:buNone/>
            </a:pPr>
            <a:r>
              <a:rPr lang="en-US" sz="1150" b="1" dirty="0">
                <a:solidFill>
                  <a:srgbClr val="F8FAFC"/>
                </a:solidFill>
              </a:rPr>
              <a:t>Level One</a:t>
            </a:r>
            <a:endParaRPr lang="en-US" sz="1150" dirty="0"/>
          </a:p>
        </p:txBody>
      </p:sp>
      <p:sp>
        <p:nvSpPr>
          <p:cNvPr id="14" name="Text 11"/>
          <p:cNvSpPr/>
          <p:nvPr/>
        </p:nvSpPr>
        <p:spPr>
          <a:xfrm>
            <a:off x="1124712" y="2331720"/>
            <a:ext cx="1783080" cy="658368"/>
          </a:xfrm>
          <a:prstGeom prst="rect">
            <a:avLst/>
          </a:prstGeom>
          <a:noFill/>
          <a:ln/>
        </p:spPr>
        <p:txBody>
          <a:bodyPr wrap="square" lIns="0" tIns="0" rIns="0" bIns="0" rtlCol="0" anchor="ctr">
            <a:normAutofit/>
          </a:bodyPr>
          <a:lstStyle/>
          <a:p>
            <a:pPr marL="0" indent="0" algn="l">
              <a:buNone/>
            </a:pPr>
            <a:r>
              <a:rPr lang="en-US" sz="1900" b="1" dirty="0">
                <a:solidFill>
                  <a:srgbClr val="F8FAFC"/>
                </a:solidFill>
              </a:rPr>
              <a:t>Interpersonal</a:t>
            </a:r>
            <a:endParaRPr lang="en-US" sz="1900" dirty="0"/>
          </a:p>
          <a:p>
            <a:pPr marL="0" indent="0" algn="l">
              <a:buNone/>
            </a:pPr>
            <a:r>
              <a:rPr lang="en-US" sz="1900" b="1" dirty="0">
                <a:solidFill>
                  <a:srgbClr val="F8FAFC"/>
                </a:solidFill>
              </a:rPr>
              <a:t>team building</a:t>
            </a:r>
            <a:endParaRPr lang="en-US" sz="1900" dirty="0"/>
          </a:p>
        </p:txBody>
      </p:sp>
      <p:sp>
        <p:nvSpPr>
          <p:cNvPr id="15" name="Text 12"/>
          <p:cNvSpPr/>
          <p:nvPr/>
        </p:nvSpPr>
        <p:spPr>
          <a:xfrm>
            <a:off x="1124712" y="3246120"/>
            <a:ext cx="1783080" cy="2194560"/>
          </a:xfrm>
          <a:prstGeom prst="rect">
            <a:avLst/>
          </a:prstGeom>
          <a:noFill/>
          <a:ln/>
        </p:spPr>
        <p:txBody>
          <a:bodyPr wrap="square" lIns="254" tIns="254" rIns="254" bIns="254" rtlCol="0" anchor="ctr">
            <a:normAutofit/>
          </a:bodyPr>
          <a:lstStyle/>
          <a:p>
            <a:pPr marL="0" indent="0">
              <a:buNone/>
            </a:pPr>
            <a:r>
              <a:rPr lang="en-US" sz="1550" dirty="0">
                <a:solidFill>
                  <a:srgbClr val="E2E8F0"/>
                </a:solidFill>
              </a:rPr>
              <a:t>Members get to know each other, build trust and begin team cohesion.</a:t>
            </a:r>
            <a:endParaRPr lang="en-US" sz="1550" dirty="0"/>
          </a:p>
        </p:txBody>
      </p:sp>
      <p:sp>
        <p:nvSpPr>
          <p:cNvPr id="16" name="Shape 13"/>
          <p:cNvSpPr/>
          <p:nvPr/>
        </p:nvSpPr>
        <p:spPr>
          <a:xfrm>
            <a:off x="3794760" y="1847088"/>
            <a:ext cx="2148840" cy="3931920"/>
          </a:xfrm>
          <a:prstGeom prst="roundRect">
            <a:avLst>
              <a:gd name="adj" fmla="val 5957"/>
            </a:avLst>
          </a:prstGeom>
          <a:solidFill>
            <a:srgbClr val="102544">
              <a:alpha val="86000"/>
            </a:srgbClr>
          </a:solidFill>
          <a:ln w="22860">
            <a:solidFill>
              <a:srgbClr val="F6C453">
                <a:alpha val="90000"/>
              </a:srgbClr>
            </a:solidFill>
            <a:prstDash val="solid"/>
          </a:ln>
        </p:spPr>
        <p:txBody>
          <a:bodyPr/>
          <a:lstStyle/>
          <a:p>
            <a:endParaRPr lang="en-ZA"/>
          </a:p>
        </p:txBody>
      </p:sp>
      <p:sp>
        <p:nvSpPr>
          <p:cNvPr id="17" name="Shape 14"/>
          <p:cNvSpPr/>
          <p:nvPr/>
        </p:nvSpPr>
        <p:spPr>
          <a:xfrm>
            <a:off x="3794760" y="1847088"/>
            <a:ext cx="2148840" cy="310896"/>
          </a:xfrm>
          <a:prstGeom prst="rect">
            <a:avLst/>
          </a:prstGeom>
          <a:solidFill>
            <a:srgbClr val="F6C453">
              <a:alpha val="88000"/>
            </a:srgbClr>
          </a:solidFill>
          <a:ln w="12700">
            <a:solidFill>
              <a:srgbClr val="F6C453">
                <a:alpha val="0"/>
              </a:srgbClr>
            </a:solidFill>
            <a:prstDash val="solid"/>
          </a:ln>
        </p:spPr>
        <p:txBody>
          <a:bodyPr/>
          <a:lstStyle/>
          <a:p>
            <a:endParaRPr lang="en-ZA"/>
          </a:p>
        </p:txBody>
      </p:sp>
      <p:sp>
        <p:nvSpPr>
          <p:cNvPr id="18" name="Text 15"/>
          <p:cNvSpPr/>
          <p:nvPr/>
        </p:nvSpPr>
        <p:spPr>
          <a:xfrm>
            <a:off x="3959352" y="1938528"/>
            <a:ext cx="1097280" cy="164592"/>
          </a:xfrm>
          <a:prstGeom prst="rect">
            <a:avLst/>
          </a:prstGeom>
          <a:noFill/>
          <a:ln/>
        </p:spPr>
        <p:txBody>
          <a:bodyPr wrap="square" lIns="0" tIns="0" rIns="0" bIns="0" rtlCol="0" anchor="ctr"/>
          <a:lstStyle/>
          <a:p>
            <a:pPr marL="0" indent="0">
              <a:buNone/>
            </a:pPr>
            <a:r>
              <a:rPr lang="en-US" sz="1150" b="1" dirty="0">
                <a:solidFill>
                  <a:srgbClr val="F8FAFC"/>
                </a:solidFill>
              </a:rPr>
              <a:t>Level Two</a:t>
            </a:r>
            <a:endParaRPr lang="en-US" sz="1150" dirty="0"/>
          </a:p>
        </p:txBody>
      </p:sp>
      <p:sp>
        <p:nvSpPr>
          <p:cNvPr id="19" name="Text 16"/>
          <p:cNvSpPr/>
          <p:nvPr/>
        </p:nvSpPr>
        <p:spPr>
          <a:xfrm>
            <a:off x="3959352" y="2331720"/>
            <a:ext cx="1783080" cy="658368"/>
          </a:xfrm>
          <a:prstGeom prst="rect">
            <a:avLst/>
          </a:prstGeom>
          <a:noFill/>
          <a:ln/>
        </p:spPr>
        <p:txBody>
          <a:bodyPr wrap="square" lIns="0" tIns="0" rIns="0" bIns="0" rtlCol="0" anchor="ctr">
            <a:normAutofit/>
          </a:bodyPr>
          <a:lstStyle/>
          <a:p>
            <a:pPr marL="0" indent="0" algn="l">
              <a:buNone/>
            </a:pPr>
            <a:r>
              <a:rPr lang="en-US" sz="1900" b="1" dirty="0">
                <a:solidFill>
                  <a:srgbClr val="F8FAFC"/>
                </a:solidFill>
              </a:rPr>
              <a:t>Team roles</a:t>
            </a:r>
            <a:endParaRPr lang="en-US" sz="1900" dirty="0"/>
          </a:p>
        </p:txBody>
      </p:sp>
      <p:sp>
        <p:nvSpPr>
          <p:cNvPr id="20" name="Text 17"/>
          <p:cNvSpPr/>
          <p:nvPr/>
        </p:nvSpPr>
        <p:spPr>
          <a:xfrm>
            <a:off x="3959352" y="3246120"/>
            <a:ext cx="1783080" cy="2194560"/>
          </a:xfrm>
          <a:prstGeom prst="rect">
            <a:avLst/>
          </a:prstGeom>
          <a:noFill/>
          <a:ln/>
        </p:spPr>
        <p:txBody>
          <a:bodyPr wrap="square" lIns="254" tIns="254" rIns="254" bIns="254" rtlCol="0" anchor="ctr">
            <a:normAutofit/>
          </a:bodyPr>
          <a:lstStyle/>
          <a:p>
            <a:pPr marL="0" indent="0">
              <a:buNone/>
            </a:pPr>
            <a:r>
              <a:rPr lang="en-US" sz="1550" dirty="0">
                <a:solidFill>
                  <a:srgbClr val="E2E8F0"/>
                </a:solidFill>
              </a:rPr>
              <a:t>Members identify preferred roles, understand expectations and see how they fit the team.</a:t>
            </a:r>
            <a:endParaRPr lang="en-US" sz="1550" dirty="0"/>
          </a:p>
        </p:txBody>
      </p:sp>
      <p:sp>
        <p:nvSpPr>
          <p:cNvPr id="21" name="Shape 18"/>
          <p:cNvSpPr/>
          <p:nvPr/>
        </p:nvSpPr>
        <p:spPr>
          <a:xfrm>
            <a:off x="6629400" y="1847088"/>
            <a:ext cx="2148840" cy="3931920"/>
          </a:xfrm>
          <a:prstGeom prst="roundRect">
            <a:avLst>
              <a:gd name="adj" fmla="val 5957"/>
            </a:avLst>
          </a:prstGeom>
          <a:solidFill>
            <a:srgbClr val="102544">
              <a:alpha val="86000"/>
            </a:srgbClr>
          </a:solidFill>
          <a:ln w="22860">
            <a:solidFill>
              <a:srgbClr val="A78BFA">
                <a:alpha val="90000"/>
              </a:srgbClr>
            </a:solidFill>
            <a:prstDash val="solid"/>
          </a:ln>
        </p:spPr>
        <p:txBody>
          <a:bodyPr/>
          <a:lstStyle/>
          <a:p>
            <a:endParaRPr lang="en-ZA"/>
          </a:p>
        </p:txBody>
      </p:sp>
      <p:sp>
        <p:nvSpPr>
          <p:cNvPr id="22" name="Shape 19"/>
          <p:cNvSpPr/>
          <p:nvPr/>
        </p:nvSpPr>
        <p:spPr>
          <a:xfrm>
            <a:off x="6629400" y="1847088"/>
            <a:ext cx="2148840" cy="310896"/>
          </a:xfrm>
          <a:prstGeom prst="rect">
            <a:avLst/>
          </a:prstGeom>
          <a:solidFill>
            <a:srgbClr val="A78BFA">
              <a:alpha val="88000"/>
            </a:srgbClr>
          </a:solidFill>
          <a:ln w="12700">
            <a:solidFill>
              <a:srgbClr val="A78BFA">
                <a:alpha val="0"/>
              </a:srgbClr>
            </a:solidFill>
            <a:prstDash val="solid"/>
          </a:ln>
        </p:spPr>
        <p:txBody>
          <a:bodyPr/>
          <a:lstStyle/>
          <a:p>
            <a:endParaRPr lang="en-ZA"/>
          </a:p>
        </p:txBody>
      </p:sp>
      <p:sp>
        <p:nvSpPr>
          <p:cNvPr id="23" name="Text 20"/>
          <p:cNvSpPr/>
          <p:nvPr/>
        </p:nvSpPr>
        <p:spPr>
          <a:xfrm>
            <a:off x="6793992" y="1938528"/>
            <a:ext cx="1097280" cy="164592"/>
          </a:xfrm>
          <a:prstGeom prst="rect">
            <a:avLst/>
          </a:prstGeom>
          <a:noFill/>
          <a:ln/>
        </p:spPr>
        <p:txBody>
          <a:bodyPr wrap="square" lIns="0" tIns="0" rIns="0" bIns="0" rtlCol="0" anchor="ctr"/>
          <a:lstStyle/>
          <a:p>
            <a:pPr marL="0" indent="0">
              <a:buNone/>
            </a:pPr>
            <a:r>
              <a:rPr lang="en-US" sz="1150" b="1" dirty="0">
                <a:solidFill>
                  <a:srgbClr val="F8FAFC"/>
                </a:solidFill>
              </a:rPr>
              <a:t>Level Three</a:t>
            </a:r>
            <a:endParaRPr lang="en-US" sz="1150" dirty="0"/>
          </a:p>
        </p:txBody>
      </p:sp>
      <p:sp>
        <p:nvSpPr>
          <p:cNvPr id="24" name="Text 21"/>
          <p:cNvSpPr/>
          <p:nvPr/>
        </p:nvSpPr>
        <p:spPr>
          <a:xfrm>
            <a:off x="6793992" y="2331720"/>
            <a:ext cx="1783080" cy="658368"/>
          </a:xfrm>
          <a:prstGeom prst="rect">
            <a:avLst/>
          </a:prstGeom>
          <a:noFill/>
          <a:ln/>
        </p:spPr>
        <p:txBody>
          <a:bodyPr wrap="square" lIns="0" tIns="0" rIns="0" bIns="0" rtlCol="0" anchor="ctr">
            <a:normAutofit/>
          </a:bodyPr>
          <a:lstStyle/>
          <a:p>
            <a:pPr marL="0" indent="0" algn="l">
              <a:buNone/>
            </a:pPr>
            <a:r>
              <a:rPr lang="en-US" sz="1900" b="1" dirty="0">
                <a:solidFill>
                  <a:srgbClr val="F8FAFC"/>
                </a:solidFill>
              </a:rPr>
              <a:t>Shared vision</a:t>
            </a:r>
            <a:endParaRPr lang="en-US" sz="1900" dirty="0"/>
          </a:p>
        </p:txBody>
      </p:sp>
      <p:sp>
        <p:nvSpPr>
          <p:cNvPr id="25" name="Text 22"/>
          <p:cNvSpPr/>
          <p:nvPr/>
        </p:nvSpPr>
        <p:spPr>
          <a:xfrm>
            <a:off x="6793992" y="3246120"/>
            <a:ext cx="1783080" cy="2194560"/>
          </a:xfrm>
          <a:prstGeom prst="rect">
            <a:avLst/>
          </a:prstGeom>
          <a:noFill/>
          <a:ln/>
        </p:spPr>
        <p:txBody>
          <a:bodyPr wrap="square" lIns="254" tIns="254" rIns="254" bIns="254" rtlCol="0" anchor="ctr">
            <a:normAutofit/>
          </a:bodyPr>
          <a:lstStyle/>
          <a:p>
            <a:pPr marL="0" indent="0">
              <a:buNone/>
            </a:pPr>
            <a:r>
              <a:rPr lang="en-US" sz="1550" dirty="0">
                <a:solidFill>
                  <a:srgbClr val="E2E8F0"/>
                </a:solidFill>
              </a:rPr>
              <a:t>The team converges on one direction, one plan, one build method and one execution strategy.</a:t>
            </a:r>
            <a:endParaRPr lang="en-US" sz="1550" dirty="0"/>
          </a:p>
        </p:txBody>
      </p:sp>
      <p:sp>
        <p:nvSpPr>
          <p:cNvPr id="26" name="Shape 23"/>
          <p:cNvSpPr/>
          <p:nvPr/>
        </p:nvSpPr>
        <p:spPr>
          <a:xfrm>
            <a:off x="9464040" y="1847088"/>
            <a:ext cx="2148840" cy="3931920"/>
          </a:xfrm>
          <a:prstGeom prst="roundRect">
            <a:avLst>
              <a:gd name="adj" fmla="val 5957"/>
            </a:avLst>
          </a:prstGeom>
          <a:solidFill>
            <a:srgbClr val="102544">
              <a:alpha val="86000"/>
            </a:srgbClr>
          </a:solidFill>
          <a:ln w="22860">
            <a:solidFill>
              <a:srgbClr val="FF8C42">
                <a:alpha val="90000"/>
              </a:srgbClr>
            </a:solidFill>
            <a:prstDash val="solid"/>
          </a:ln>
        </p:spPr>
        <p:txBody>
          <a:bodyPr/>
          <a:lstStyle/>
          <a:p>
            <a:endParaRPr lang="en-ZA"/>
          </a:p>
        </p:txBody>
      </p:sp>
      <p:sp>
        <p:nvSpPr>
          <p:cNvPr id="27" name="Shape 24"/>
          <p:cNvSpPr/>
          <p:nvPr/>
        </p:nvSpPr>
        <p:spPr>
          <a:xfrm>
            <a:off x="9464040" y="1847088"/>
            <a:ext cx="2148840" cy="310896"/>
          </a:xfrm>
          <a:prstGeom prst="rect">
            <a:avLst/>
          </a:prstGeom>
          <a:solidFill>
            <a:srgbClr val="FF8C42">
              <a:alpha val="88000"/>
            </a:srgbClr>
          </a:solidFill>
          <a:ln w="12700">
            <a:solidFill>
              <a:srgbClr val="FF8C42">
                <a:alpha val="0"/>
              </a:srgbClr>
            </a:solidFill>
            <a:prstDash val="solid"/>
          </a:ln>
        </p:spPr>
        <p:txBody>
          <a:bodyPr/>
          <a:lstStyle/>
          <a:p>
            <a:endParaRPr lang="en-ZA"/>
          </a:p>
        </p:txBody>
      </p:sp>
      <p:sp>
        <p:nvSpPr>
          <p:cNvPr id="28" name="Text 25"/>
          <p:cNvSpPr/>
          <p:nvPr/>
        </p:nvSpPr>
        <p:spPr>
          <a:xfrm>
            <a:off x="9628632" y="1938528"/>
            <a:ext cx="1097280" cy="164592"/>
          </a:xfrm>
          <a:prstGeom prst="rect">
            <a:avLst/>
          </a:prstGeom>
          <a:noFill/>
          <a:ln/>
        </p:spPr>
        <p:txBody>
          <a:bodyPr wrap="square" lIns="0" tIns="0" rIns="0" bIns="0" rtlCol="0" anchor="ctr"/>
          <a:lstStyle/>
          <a:p>
            <a:pPr marL="0" indent="0">
              <a:buNone/>
            </a:pPr>
            <a:r>
              <a:rPr lang="en-US" sz="1150" b="1" dirty="0">
                <a:solidFill>
                  <a:srgbClr val="F8FAFC"/>
                </a:solidFill>
              </a:rPr>
              <a:t>Level Four</a:t>
            </a:r>
            <a:endParaRPr lang="en-US" sz="1150" dirty="0"/>
          </a:p>
        </p:txBody>
      </p:sp>
      <p:sp>
        <p:nvSpPr>
          <p:cNvPr id="29" name="Text 26"/>
          <p:cNvSpPr/>
          <p:nvPr/>
        </p:nvSpPr>
        <p:spPr>
          <a:xfrm>
            <a:off x="9628632" y="2331720"/>
            <a:ext cx="1783080" cy="658368"/>
          </a:xfrm>
          <a:prstGeom prst="rect">
            <a:avLst/>
          </a:prstGeom>
          <a:noFill/>
          <a:ln/>
        </p:spPr>
        <p:txBody>
          <a:bodyPr wrap="square" lIns="0" tIns="0" rIns="0" bIns="0" rtlCol="0" anchor="ctr">
            <a:normAutofit/>
          </a:bodyPr>
          <a:lstStyle/>
          <a:p>
            <a:pPr marL="0" indent="0" algn="l">
              <a:buNone/>
            </a:pPr>
            <a:r>
              <a:rPr lang="en-US" sz="1900" b="1" dirty="0">
                <a:solidFill>
                  <a:srgbClr val="F8FAFC"/>
                </a:solidFill>
              </a:rPr>
              <a:t>Task focused</a:t>
            </a:r>
            <a:endParaRPr lang="en-US" sz="1900" dirty="0"/>
          </a:p>
        </p:txBody>
      </p:sp>
      <p:sp>
        <p:nvSpPr>
          <p:cNvPr id="30" name="Text 27"/>
          <p:cNvSpPr/>
          <p:nvPr/>
        </p:nvSpPr>
        <p:spPr>
          <a:xfrm>
            <a:off x="9628632" y="3246120"/>
            <a:ext cx="1783080" cy="2194560"/>
          </a:xfrm>
          <a:prstGeom prst="rect">
            <a:avLst/>
          </a:prstGeom>
          <a:noFill/>
          <a:ln/>
        </p:spPr>
        <p:txBody>
          <a:bodyPr wrap="square" lIns="254" tIns="254" rIns="254" bIns="254" rtlCol="0" anchor="ctr">
            <a:normAutofit/>
          </a:bodyPr>
          <a:lstStyle/>
          <a:p>
            <a:pPr marL="0" indent="0">
              <a:buNone/>
            </a:pPr>
            <a:r>
              <a:rPr lang="en-US" sz="1550" dirty="0">
                <a:solidFill>
                  <a:srgbClr val="E2E8F0"/>
                </a:solidFill>
              </a:rPr>
              <a:t>The team improves efficiency and productivity through project-focused practice and skills.</a:t>
            </a:r>
            <a:endParaRPr lang="en-US" sz="1550" dirty="0"/>
          </a:p>
        </p:txBody>
      </p:sp>
      <p:sp>
        <p:nvSpPr>
          <p:cNvPr id="31" name="Text 28"/>
          <p:cNvSpPr/>
          <p:nvPr/>
        </p:nvSpPr>
        <p:spPr>
          <a:xfrm>
            <a:off x="2057400" y="5870448"/>
            <a:ext cx="8046720" cy="256032"/>
          </a:xfrm>
          <a:prstGeom prst="rect">
            <a:avLst/>
          </a:prstGeom>
          <a:noFill/>
          <a:ln/>
        </p:spPr>
        <p:txBody>
          <a:bodyPr wrap="square" lIns="0" tIns="0" rIns="0" bIns="0" rtlCol="0" anchor="ctr"/>
          <a:lstStyle/>
          <a:p>
            <a:pPr marL="0" indent="0" algn="ctr">
              <a:buNone/>
            </a:pPr>
            <a:r>
              <a:rPr lang="en-US" sz="1520" b="1" dirty="0">
                <a:solidFill>
                  <a:srgbClr val="78E3FF"/>
                </a:solidFill>
              </a:rPr>
              <a:t>Relationships → role clarity → shared direction → project performance</a:t>
            </a:r>
            <a:endParaRPr lang="en-US" sz="1520" dirty="0"/>
          </a:p>
        </p:txBody>
      </p:sp>
      <p:sp>
        <p:nvSpPr>
          <p:cNvPr id="33" name="Text 30"/>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outdoor_adventure.jpg"/>
          <p:cNvPicPr>
            <a:picLocks noChangeAspect="1"/>
          </p:cNvPicPr>
          <p:nvPr/>
        </p:nvPicPr>
        <p:blipFill>
          <a:blip r:embed="rId3"/>
          <a:srcRect t="12499" b="12499"/>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66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Shape 2"/>
          <p:cNvSpPr/>
          <p:nvPr/>
        </p:nvSpPr>
        <p:spPr>
          <a:xfrm>
            <a:off x="0" y="0"/>
            <a:ext cx="12191695" cy="6858000"/>
          </a:xfrm>
          <a:prstGeom prst="rect">
            <a:avLst/>
          </a:prstGeom>
          <a:solidFill>
            <a:srgbClr val="08172F">
              <a:alpha val="70000"/>
            </a:srgbClr>
          </a:solidFill>
          <a:ln w="12700">
            <a:solidFill>
              <a:srgbClr val="08172F">
                <a:alpha val="0"/>
              </a:srgbClr>
            </a:solidFill>
            <a:prstDash val="solid"/>
          </a:ln>
        </p:spPr>
        <p:txBody>
          <a:bodyPr/>
          <a:lstStyle/>
          <a:p>
            <a:endParaRPr lang="en-ZA"/>
          </a:p>
        </p:txBody>
      </p:sp>
      <p:sp>
        <p:nvSpPr>
          <p:cNvPr id="6" name="Text 3"/>
          <p:cNvSpPr/>
          <p:nvPr/>
        </p:nvSpPr>
        <p:spPr>
          <a:xfrm>
            <a:off x="841248" y="1005840"/>
            <a:ext cx="1828800" cy="320040"/>
          </a:xfrm>
          <a:prstGeom prst="rect">
            <a:avLst/>
          </a:prstGeom>
          <a:noFill/>
          <a:ln/>
        </p:spPr>
        <p:txBody>
          <a:bodyPr wrap="square" lIns="0" tIns="0" rIns="0" bIns="0" rtlCol="0" anchor="ctr"/>
          <a:lstStyle/>
          <a:p>
            <a:pPr marL="0" indent="0">
              <a:buNone/>
            </a:pPr>
            <a:r>
              <a:rPr lang="en-US" sz="1800" b="1" dirty="0">
                <a:solidFill>
                  <a:srgbClr val="F6C453"/>
                </a:solidFill>
              </a:rPr>
              <a:t>Level One</a:t>
            </a:r>
            <a:endParaRPr lang="en-US" sz="1800" dirty="0"/>
          </a:p>
        </p:txBody>
      </p:sp>
      <p:sp>
        <p:nvSpPr>
          <p:cNvPr id="7" name="Text 4"/>
          <p:cNvSpPr/>
          <p:nvPr/>
        </p:nvSpPr>
        <p:spPr>
          <a:xfrm>
            <a:off x="804672" y="1417320"/>
            <a:ext cx="4663440" cy="109728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Interpersonal</a:t>
            </a:r>
            <a:endParaRPr lang="en-US" sz="3000" dirty="0"/>
          </a:p>
          <a:p>
            <a:pPr marL="0" indent="0">
              <a:buNone/>
            </a:pPr>
            <a:r>
              <a:rPr lang="en-US" sz="3000" b="1" dirty="0">
                <a:solidFill>
                  <a:srgbClr val="F8FAFC"/>
                </a:solidFill>
                <a:latin typeface="Aptos Display" pitchFamily="34" charset="0"/>
                <a:ea typeface="Aptos Display" pitchFamily="34" charset="-122"/>
                <a:cs typeface="Aptos Display" pitchFamily="34" charset="-120"/>
              </a:rPr>
              <a:t>Team Building</a:t>
            </a:r>
            <a:endParaRPr lang="en-US" sz="3000" dirty="0"/>
          </a:p>
        </p:txBody>
      </p:sp>
      <p:sp>
        <p:nvSpPr>
          <p:cNvPr id="8" name="Text 5"/>
          <p:cNvSpPr/>
          <p:nvPr/>
        </p:nvSpPr>
        <p:spPr>
          <a:xfrm>
            <a:off x="841248" y="2880360"/>
            <a:ext cx="4526280" cy="786384"/>
          </a:xfrm>
          <a:prstGeom prst="rect">
            <a:avLst/>
          </a:prstGeom>
          <a:noFill/>
          <a:ln/>
        </p:spPr>
        <p:txBody>
          <a:bodyPr wrap="square" lIns="254" tIns="254" rIns="254" bIns="254" rtlCol="0" anchor="ctr">
            <a:normAutofit fontScale="92500"/>
          </a:bodyPr>
          <a:lstStyle/>
          <a:p>
            <a:pPr marL="0" indent="0">
              <a:buNone/>
            </a:pPr>
            <a:r>
              <a:rPr lang="en-US" sz="1850" dirty="0">
                <a:solidFill>
                  <a:srgbClr val="E2E8F0"/>
                </a:solidFill>
              </a:rPr>
              <a:t>The first level focuses on team members simply getting to know each other—and, under work pressure, that does not always happen naturally.</a:t>
            </a:r>
            <a:endParaRPr lang="en-US" sz="1850" dirty="0"/>
          </a:p>
        </p:txBody>
      </p:sp>
      <p:sp>
        <p:nvSpPr>
          <p:cNvPr id="9" name="Shape 6"/>
          <p:cNvSpPr/>
          <p:nvPr/>
        </p:nvSpPr>
        <p:spPr>
          <a:xfrm>
            <a:off x="6629400" y="1143000"/>
            <a:ext cx="4663440" cy="4526280"/>
          </a:xfrm>
          <a:prstGeom prst="roundRect">
            <a:avLst>
              <a:gd name="adj" fmla="val 2828"/>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0" name="Text 7"/>
          <p:cNvSpPr/>
          <p:nvPr/>
        </p:nvSpPr>
        <p:spPr>
          <a:xfrm>
            <a:off x="6931152" y="1572768"/>
            <a:ext cx="2651760" cy="219456"/>
          </a:xfrm>
          <a:prstGeom prst="rect">
            <a:avLst/>
          </a:prstGeom>
          <a:noFill/>
          <a:ln/>
        </p:spPr>
        <p:txBody>
          <a:bodyPr wrap="square" lIns="0" tIns="0" rIns="0" bIns="0" rtlCol="0" anchor="ctr"/>
          <a:lstStyle/>
          <a:p>
            <a:pPr marL="0" indent="0">
              <a:buNone/>
            </a:pPr>
            <a:r>
              <a:rPr lang="en-US" sz="1600" b="1" dirty="0">
                <a:solidFill>
                  <a:srgbClr val="2DD4BF"/>
                </a:solidFill>
              </a:rPr>
              <a:t>Project manager’s role at this level</a:t>
            </a:r>
            <a:endParaRPr lang="en-US" sz="1600" dirty="0"/>
          </a:p>
        </p:txBody>
      </p:sp>
      <p:sp>
        <p:nvSpPr>
          <p:cNvPr id="11" name="Text 8"/>
          <p:cNvSpPr/>
          <p:nvPr/>
        </p:nvSpPr>
        <p:spPr>
          <a:xfrm>
            <a:off x="6839712" y="1920240"/>
            <a:ext cx="4069080" cy="2240280"/>
          </a:xfrm>
          <a:prstGeom prst="rect">
            <a:avLst/>
          </a:prstGeom>
          <a:noFill/>
          <a:ln/>
        </p:spPr>
        <p:txBody>
          <a:bodyPr wrap="square" lIns="1016" tIns="1016" rIns="1016" bIns="1016" rtlCol="0" anchor="t">
            <a:normAutofit/>
          </a:bodyPr>
          <a:lstStyle/>
          <a:p>
            <a:pPr marL="152400" indent="-152400">
              <a:buSzPct val="100000"/>
              <a:buChar char="•"/>
            </a:pPr>
            <a:r>
              <a:rPr lang="en-US" sz="1800" dirty="0">
                <a:solidFill>
                  <a:srgbClr val="F8FAFC"/>
                </a:solidFill>
                <a:latin typeface="Aptos" pitchFamily="34" charset="0"/>
                <a:ea typeface="Aptos" pitchFamily="34" charset="-122"/>
                <a:cs typeface="Aptos" pitchFamily="34" charset="-120"/>
              </a:rPr>
              <a:t>Encourage members to talk to each other.</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Help them learn one another’s backgrounds, work experiences, hobbies, interests, music and tastes.</a:t>
            </a:r>
            <a:endParaRPr lang="en-US" sz="1800" dirty="0"/>
          </a:p>
          <a:p>
            <a:pPr marL="152400" indent="-152400">
              <a:buSzPct val="100000"/>
              <a:buChar char="•"/>
            </a:pPr>
            <a:r>
              <a:rPr lang="en-US" sz="1800" dirty="0">
                <a:solidFill>
                  <a:srgbClr val="F8FAFC"/>
                </a:solidFill>
                <a:latin typeface="Aptos" pitchFamily="34" charset="0"/>
                <a:ea typeface="Aptos" pitchFamily="34" charset="-122"/>
                <a:cs typeface="Aptos" pitchFamily="34" charset="-120"/>
              </a:rPr>
              <a:t>Create situations where talking and listening can build interpersonal bonds and trust.</a:t>
            </a:r>
            <a:endParaRPr lang="en-US" sz="1800" dirty="0"/>
          </a:p>
        </p:txBody>
      </p:sp>
      <p:sp>
        <p:nvSpPr>
          <p:cNvPr id="12" name="Text 9"/>
          <p:cNvSpPr/>
          <p:nvPr/>
        </p:nvSpPr>
        <p:spPr>
          <a:xfrm>
            <a:off x="6931152" y="4480560"/>
            <a:ext cx="1554480" cy="201168"/>
          </a:xfrm>
          <a:prstGeom prst="rect">
            <a:avLst/>
          </a:prstGeom>
          <a:noFill/>
          <a:ln/>
        </p:spPr>
        <p:txBody>
          <a:bodyPr wrap="square" lIns="0" tIns="0" rIns="0" bIns="0" rtlCol="0" anchor="ctr"/>
          <a:lstStyle/>
          <a:p>
            <a:pPr marL="0" indent="0">
              <a:buNone/>
            </a:pPr>
            <a:r>
              <a:rPr lang="en-US" sz="1450" b="1" dirty="0">
                <a:solidFill>
                  <a:srgbClr val="F6C453"/>
                </a:solidFill>
              </a:rPr>
              <a:t>Why it matters</a:t>
            </a:r>
            <a:endParaRPr lang="en-US" sz="1450" dirty="0"/>
          </a:p>
        </p:txBody>
      </p:sp>
      <p:sp>
        <p:nvSpPr>
          <p:cNvPr id="13" name="Text 10"/>
          <p:cNvSpPr/>
          <p:nvPr/>
        </p:nvSpPr>
        <p:spPr>
          <a:xfrm>
            <a:off x="6931152" y="4736592"/>
            <a:ext cx="3767328" cy="603504"/>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E2E8F0"/>
                </a:solidFill>
              </a:rPr>
              <a:t>Better understanding of personalities and behaviour improves communication and becomes the first step toward team cohesion.</a:t>
            </a:r>
            <a:endParaRPr lang="en-US" sz="1650" dirty="0"/>
          </a:p>
        </p:txBody>
      </p:sp>
      <p:sp>
        <p:nvSpPr>
          <p:cNvPr id="14" name="Text 11"/>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15" name="Text 12"/>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outdoor_adventure.jpg"/>
          <p:cNvPicPr>
            <a:picLocks noChangeAspect="1"/>
          </p:cNvPicPr>
          <p:nvPr/>
        </p:nvPicPr>
        <p:blipFill>
          <a:blip r:embed="rId3"/>
          <a:srcRect t="12499" b="12499"/>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8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Level One in practice</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How interpersonal team building should be designed</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Interaction before work focus</a:t>
            </a:r>
            <a:endParaRPr lang="en-US" sz="1100" dirty="0"/>
          </a:p>
        </p:txBody>
      </p:sp>
      <p:sp>
        <p:nvSpPr>
          <p:cNvPr id="10" name="Shape 7"/>
          <p:cNvSpPr/>
          <p:nvPr/>
        </p:nvSpPr>
        <p:spPr>
          <a:xfrm>
            <a:off x="640080" y="1627632"/>
            <a:ext cx="5577840" cy="4572000"/>
          </a:xfrm>
          <a:prstGeom prst="roundRect">
            <a:avLst>
              <a:gd name="adj" fmla="val 2800"/>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96112" y="1920240"/>
            <a:ext cx="2560320" cy="228600"/>
          </a:xfrm>
          <a:prstGeom prst="rect">
            <a:avLst/>
          </a:prstGeom>
          <a:noFill/>
          <a:ln/>
        </p:spPr>
        <p:txBody>
          <a:bodyPr wrap="square" lIns="0" tIns="0" rIns="0" bIns="0" rtlCol="0" anchor="ctr"/>
          <a:lstStyle/>
          <a:p>
            <a:pPr marL="0" indent="0">
              <a:buNone/>
            </a:pPr>
            <a:r>
              <a:rPr lang="en-US" sz="1600" b="1" dirty="0">
                <a:solidFill>
                  <a:srgbClr val="F6C453"/>
                </a:solidFill>
              </a:rPr>
              <a:t>Design principles for activities</a:t>
            </a:r>
            <a:endParaRPr lang="en-US" sz="1600" dirty="0"/>
          </a:p>
        </p:txBody>
      </p:sp>
      <p:sp>
        <p:nvSpPr>
          <p:cNvPr id="12" name="Text 9"/>
          <p:cNvSpPr/>
          <p:nvPr/>
        </p:nvSpPr>
        <p:spPr>
          <a:xfrm>
            <a:off x="868680" y="2240280"/>
            <a:ext cx="4983480" cy="2697480"/>
          </a:xfrm>
          <a:prstGeom prst="rect">
            <a:avLst/>
          </a:prstGeom>
          <a:noFill/>
          <a:ln/>
        </p:spPr>
        <p:txBody>
          <a:bodyPr wrap="square" lIns="1016" tIns="1016" rIns="1016" bIns="1016" rtlCol="0" anchor="t">
            <a:normAutofit lnSpcReduction="100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Exercises do not need to be work orientated; it is better if they are not.</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Tasks should require a team effort and be interesting, challenging, mildly risky, enjoyable and memorable.</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 risks should be more imaginary than actual—taking people out of their comfort zone is usually enough.</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Outdoor activities provide an excellent environment; tasks should be competitive and may include trivial awards.</a:t>
            </a:r>
            <a:endParaRPr lang="en-US" sz="1780" dirty="0"/>
          </a:p>
        </p:txBody>
      </p:sp>
      <p:sp>
        <p:nvSpPr>
          <p:cNvPr id="13" name="Shape 10"/>
          <p:cNvSpPr/>
          <p:nvPr/>
        </p:nvSpPr>
        <p:spPr>
          <a:xfrm>
            <a:off x="6446520" y="1527048"/>
            <a:ext cx="5074920" cy="4572000"/>
          </a:xfrm>
          <a:prstGeom prst="roundRect">
            <a:avLst>
              <a:gd name="adj" fmla="val 2800"/>
            </a:avLst>
          </a:prstGeom>
          <a:solidFill>
            <a:srgbClr val="102544">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4" name="Text 11"/>
          <p:cNvSpPr/>
          <p:nvPr/>
        </p:nvSpPr>
        <p:spPr>
          <a:xfrm>
            <a:off x="6720840" y="1901952"/>
            <a:ext cx="2011680" cy="237744"/>
          </a:xfrm>
          <a:prstGeom prst="rect">
            <a:avLst/>
          </a:prstGeom>
          <a:noFill/>
          <a:ln/>
        </p:spPr>
        <p:txBody>
          <a:bodyPr wrap="square" lIns="0" tIns="0" rIns="0" bIns="0" rtlCol="0" anchor="ctr"/>
          <a:lstStyle/>
          <a:p>
            <a:pPr marL="0" indent="0">
              <a:buNone/>
            </a:pPr>
            <a:r>
              <a:rPr lang="en-US" sz="1600" b="1" dirty="0">
                <a:solidFill>
                  <a:srgbClr val="F6C453"/>
                </a:solidFill>
              </a:rPr>
              <a:t>Expected outcomes</a:t>
            </a:r>
            <a:endParaRPr lang="en-US" sz="1600" dirty="0"/>
          </a:p>
        </p:txBody>
      </p:sp>
      <p:sp>
        <p:nvSpPr>
          <p:cNvPr id="15" name="Text 12"/>
          <p:cNvSpPr/>
          <p:nvPr/>
        </p:nvSpPr>
        <p:spPr>
          <a:xfrm>
            <a:off x="6656832" y="2212848"/>
            <a:ext cx="4370832" cy="2606040"/>
          </a:xfrm>
          <a:prstGeom prst="rect">
            <a:avLst/>
          </a:prstGeom>
          <a:noFill/>
          <a:ln/>
        </p:spPr>
        <p:txBody>
          <a:bodyPr wrap="square" lIns="1016" tIns="1016" rIns="1016" bIns="1016" rtlCol="0" anchor="t">
            <a:normAutofit fontScale="925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Members become more aware of each other and build friendship and trust.</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They become more willing to accept constructive criticism because it is seen as work focused, not personal.</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They are more willing to ask each other for help in solving problems and achieving tasks.</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A shared experience creates a feeling of togetherness and can be referred to later in casual conversation.</a:t>
            </a:r>
            <a:endParaRPr lang="en-US" sz="1780" dirty="0"/>
          </a:p>
        </p:txBody>
      </p:sp>
      <p:sp>
        <p:nvSpPr>
          <p:cNvPr id="16" name="Text 13"/>
          <p:cNvSpPr/>
          <p:nvPr/>
        </p:nvSpPr>
        <p:spPr>
          <a:xfrm>
            <a:off x="6720840" y="5148072"/>
            <a:ext cx="2377440" cy="201168"/>
          </a:xfrm>
          <a:prstGeom prst="rect">
            <a:avLst/>
          </a:prstGeom>
          <a:noFill/>
          <a:ln/>
        </p:spPr>
        <p:txBody>
          <a:bodyPr wrap="square" lIns="0" tIns="0" rIns="0" bIns="0" rtlCol="0" anchor="ctr"/>
          <a:lstStyle/>
          <a:p>
            <a:pPr marL="0" indent="0">
              <a:buNone/>
            </a:pPr>
            <a:endParaRPr lang="en-US" sz="1450" dirty="0"/>
          </a:p>
        </p:txBody>
      </p:sp>
      <p:sp>
        <p:nvSpPr>
          <p:cNvPr id="17" name="Text 14"/>
          <p:cNvSpPr/>
          <p:nvPr/>
        </p:nvSpPr>
        <p:spPr>
          <a:xfrm>
            <a:off x="6720840" y="5138928"/>
            <a:ext cx="4251960" cy="749808"/>
          </a:xfrm>
          <a:prstGeom prst="rect">
            <a:avLst/>
          </a:prstGeom>
          <a:noFill/>
          <a:ln/>
        </p:spPr>
        <p:txBody>
          <a:bodyPr wrap="square" lIns="254" tIns="254" rIns="254" bIns="254" rtlCol="0" anchor="ctr">
            <a:normAutofit fontScale="92500" lnSpcReduction="20000"/>
          </a:bodyPr>
          <a:lstStyle/>
          <a:p>
            <a:pPr marL="0" indent="0">
              <a:buNone/>
            </a:pPr>
            <a:r>
              <a:rPr lang="en-US" sz="1580" dirty="0">
                <a:solidFill>
                  <a:srgbClr val="E2E8F0"/>
                </a:solidFill>
              </a:rPr>
              <a:t>Sessions are best held away from work to remove distractions: Outward Bound-type courses are ideal, and after-work social gatherings should also be encouraged.</a:t>
            </a:r>
            <a:endParaRPr lang="en-US" sz="1580" dirty="0"/>
          </a:p>
        </p:txBody>
      </p:sp>
      <p:sp>
        <p:nvSpPr>
          <p:cNvPr id="18" name="Text 15"/>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19" name="Text 16"/>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eam_meeting_2.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5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3. Level Two: Team roles</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Clarifying how each member fits into the project team</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Role clarity</a:t>
            </a:r>
            <a:endParaRPr lang="en-US" sz="1100" dirty="0"/>
          </a:p>
        </p:txBody>
      </p:sp>
      <p:sp>
        <p:nvSpPr>
          <p:cNvPr id="10" name="Shape 7"/>
          <p:cNvSpPr/>
          <p:nvPr/>
        </p:nvSpPr>
        <p:spPr>
          <a:xfrm>
            <a:off x="685800" y="1664208"/>
            <a:ext cx="5440680" cy="4535424"/>
          </a:xfrm>
          <a:prstGeom prst="roundRect">
            <a:avLst>
              <a:gd name="adj" fmla="val 2823"/>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932688" y="1938528"/>
            <a:ext cx="2560320" cy="228600"/>
          </a:xfrm>
          <a:prstGeom prst="rect">
            <a:avLst/>
          </a:prstGeom>
          <a:noFill/>
          <a:ln/>
        </p:spPr>
        <p:txBody>
          <a:bodyPr wrap="square" lIns="0" tIns="0" rIns="0" bIns="0" rtlCol="0" anchor="ctr"/>
          <a:lstStyle/>
          <a:p>
            <a:pPr marL="0" indent="0">
              <a:buNone/>
            </a:pPr>
            <a:r>
              <a:rPr lang="en-US" sz="1600" b="1" dirty="0">
                <a:solidFill>
                  <a:srgbClr val="F6C453"/>
                </a:solidFill>
              </a:rPr>
              <a:t>Emphasis</a:t>
            </a:r>
            <a:endParaRPr lang="en-US" sz="1600" dirty="0"/>
          </a:p>
        </p:txBody>
      </p:sp>
      <p:sp>
        <p:nvSpPr>
          <p:cNvPr id="12" name="Text 9"/>
          <p:cNvSpPr/>
          <p:nvPr/>
        </p:nvSpPr>
        <p:spPr>
          <a:xfrm>
            <a:off x="896112" y="2240280"/>
            <a:ext cx="4754880" cy="2423160"/>
          </a:xfrm>
          <a:prstGeom prst="rect">
            <a:avLst/>
          </a:prstGeom>
          <a:noFill/>
          <a:ln/>
        </p:spPr>
        <p:txBody>
          <a:bodyPr wrap="square" lIns="1016" tIns="1016" rIns="1016" bIns="1016" rtlCol="0" anchor="t">
            <a:normAutofit fontScale="925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 second level focuses on the team roles each member plays within the team.</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A team role is defined as the type of work a person is expected to perform on the project.</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Psychometric tests and interviews are used to determine each member’s personal team-role profile.</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 Belbin model outlines nine team roles, expressed as preferred and non-preferred roles.</a:t>
            </a:r>
            <a:endParaRPr lang="en-US" sz="1780" dirty="0"/>
          </a:p>
        </p:txBody>
      </p:sp>
      <p:sp>
        <p:nvSpPr>
          <p:cNvPr id="13" name="Shape 10"/>
          <p:cNvSpPr/>
          <p:nvPr/>
        </p:nvSpPr>
        <p:spPr>
          <a:xfrm>
            <a:off x="896112" y="4828032"/>
            <a:ext cx="4663440" cy="960120"/>
          </a:xfrm>
          <a:prstGeom prst="roundRect">
            <a:avLst>
              <a:gd name="adj" fmla="val 13333"/>
            </a:avLst>
          </a:prstGeom>
          <a:solidFill>
            <a:srgbClr val="102544">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4" name="Text 11"/>
          <p:cNvSpPr/>
          <p:nvPr/>
        </p:nvSpPr>
        <p:spPr>
          <a:xfrm>
            <a:off x="987552" y="4846320"/>
            <a:ext cx="219456" cy="237744"/>
          </a:xfrm>
          <a:prstGeom prst="rect">
            <a:avLst/>
          </a:prstGeom>
          <a:noFill/>
          <a:ln/>
        </p:spPr>
        <p:txBody>
          <a:bodyPr wrap="square" lIns="0" tIns="0" rIns="0" bIns="0" rtlCol="0" anchor="ctr"/>
          <a:lstStyle/>
          <a:p>
            <a:pPr marL="0" indent="0">
              <a:buNone/>
            </a:pPr>
            <a:r>
              <a:rPr lang="en-US" sz="2000" b="1" dirty="0">
                <a:solidFill>
                  <a:srgbClr val="F6C453"/>
                </a:solidFill>
                <a:latin typeface="Georgia" pitchFamily="34" charset="0"/>
                <a:ea typeface="Georgia" pitchFamily="34" charset="-122"/>
                <a:cs typeface="Georgia" pitchFamily="34" charset="-120"/>
              </a:rPr>
              <a:t>“</a:t>
            </a:r>
            <a:endParaRPr lang="en-US" sz="2000" dirty="0"/>
          </a:p>
        </p:txBody>
      </p:sp>
      <p:sp>
        <p:nvSpPr>
          <p:cNvPr id="15" name="Text 12"/>
          <p:cNvSpPr/>
          <p:nvPr/>
        </p:nvSpPr>
        <p:spPr>
          <a:xfrm>
            <a:off x="1408176" y="4992624"/>
            <a:ext cx="3913632" cy="704088"/>
          </a:xfrm>
          <a:prstGeom prst="rect">
            <a:avLst/>
          </a:prstGeom>
          <a:noFill/>
          <a:ln/>
        </p:spPr>
        <p:txBody>
          <a:bodyPr wrap="square" lIns="381" tIns="381" rIns="381" bIns="381" rtlCol="0" anchor="ctr">
            <a:normAutofit fontScale="85000" lnSpcReduction="10000"/>
          </a:bodyPr>
          <a:lstStyle/>
          <a:p>
            <a:pPr marL="0" indent="0">
              <a:buNone/>
            </a:pPr>
            <a:r>
              <a:rPr lang="en-US" sz="1700" i="1" dirty="0">
                <a:solidFill>
                  <a:srgbClr val="E2E8F0"/>
                </a:solidFill>
              </a:rPr>
              <a:t>The main value of team-role definitions lies in helping members see how they fit into the team—like cogs in a wheel, or pieces in a jigsaw puzzle.</a:t>
            </a:r>
            <a:endParaRPr lang="en-US" sz="1700" dirty="0"/>
          </a:p>
        </p:txBody>
      </p:sp>
      <p:sp>
        <p:nvSpPr>
          <p:cNvPr id="16" name="Shape 13"/>
          <p:cNvSpPr/>
          <p:nvPr/>
        </p:nvSpPr>
        <p:spPr>
          <a:xfrm>
            <a:off x="6419088" y="1664208"/>
            <a:ext cx="5074920" cy="4535424"/>
          </a:xfrm>
          <a:prstGeom prst="roundRect">
            <a:avLst>
              <a:gd name="adj" fmla="val 2823"/>
            </a:avLst>
          </a:prstGeom>
          <a:solidFill>
            <a:srgbClr val="102544">
              <a:alpha val="78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7" name="Text 14"/>
          <p:cNvSpPr/>
          <p:nvPr/>
        </p:nvSpPr>
        <p:spPr>
          <a:xfrm>
            <a:off x="6675120" y="1920240"/>
            <a:ext cx="2651760" cy="237744"/>
          </a:xfrm>
          <a:prstGeom prst="rect">
            <a:avLst/>
          </a:prstGeom>
          <a:noFill/>
          <a:ln/>
        </p:spPr>
        <p:txBody>
          <a:bodyPr wrap="square" lIns="0" tIns="0" rIns="0" bIns="0" rtlCol="0" anchor="ctr"/>
          <a:lstStyle/>
          <a:p>
            <a:pPr marL="0" indent="0">
              <a:buNone/>
            </a:pPr>
            <a:r>
              <a:rPr lang="en-US" sz="1600" b="1" dirty="0">
                <a:solidFill>
                  <a:srgbClr val="2DD4BF"/>
                </a:solidFill>
              </a:rPr>
              <a:t>Adventure exercises at Level Two</a:t>
            </a:r>
            <a:endParaRPr lang="en-US" sz="1600" dirty="0"/>
          </a:p>
        </p:txBody>
      </p:sp>
      <p:sp>
        <p:nvSpPr>
          <p:cNvPr id="18" name="Text 15"/>
          <p:cNvSpPr/>
          <p:nvPr/>
        </p:nvSpPr>
        <p:spPr>
          <a:xfrm>
            <a:off x="6620256" y="2240280"/>
            <a:ext cx="4434840" cy="2697480"/>
          </a:xfrm>
          <a:prstGeom prst="rect">
            <a:avLst/>
          </a:prstGeom>
          <a:noFill/>
          <a:ln/>
        </p:spPr>
        <p:txBody>
          <a:bodyPr wrap="square" lIns="1016" tIns="1016" rIns="1016" bIns="1016" rtlCol="0" anchor="t">
            <a:normAutofit fontScale="925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Tasks are designed to require multiple inputs and multiple interactions from all members.</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External observers monitor interactions, behaviours and the team roles played during the activity.</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Feedback sessions compare observed behaviour with preferred and non-preferred roles from psychometric tests.</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This helps members see themselves as others see them, which may differ from personal perceptions.</a:t>
            </a:r>
            <a:endParaRPr lang="en-US" sz="1780" dirty="0"/>
          </a:p>
        </p:txBody>
      </p:sp>
      <p:sp>
        <p:nvSpPr>
          <p:cNvPr id="19" name="Text 16"/>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0" name="Text 17"/>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team_meeting_2.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45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Level Two tools and Belbin’s principles</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From role feedback to a better balanced team</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Belbin focus</a:t>
            </a:r>
            <a:endParaRPr lang="en-US" sz="1100" dirty="0"/>
          </a:p>
        </p:txBody>
      </p:sp>
      <p:sp>
        <p:nvSpPr>
          <p:cNvPr id="10" name="Shape 7"/>
          <p:cNvSpPr/>
          <p:nvPr/>
        </p:nvSpPr>
        <p:spPr>
          <a:xfrm>
            <a:off x="603504" y="1627632"/>
            <a:ext cx="4663440" cy="4590288"/>
          </a:xfrm>
          <a:prstGeom prst="roundRect">
            <a:avLst>
              <a:gd name="adj" fmla="val 2789"/>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68680" y="1901952"/>
            <a:ext cx="2286000" cy="237744"/>
          </a:xfrm>
          <a:prstGeom prst="rect">
            <a:avLst/>
          </a:prstGeom>
          <a:noFill/>
          <a:ln/>
        </p:spPr>
        <p:txBody>
          <a:bodyPr wrap="square" lIns="0" tIns="0" rIns="0" bIns="0" rtlCol="0" anchor="ctr"/>
          <a:lstStyle/>
          <a:p>
            <a:pPr marL="0" indent="0">
              <a:buNone/>
            </a:pPr>
            <a:r>
              <a:rPr lang="en-US" sz="1600" b="1" dirty="0">
                <a:solidFill>
                  <a:srgbClr val="F6C453"/>
                </a:solidFill>
              </a:rPr>
              <a:t>Role-development discussion</a:t>
            </a:r>
            <a:endParaRPr lang="en-US" sz="1600" dirty="0"/>
          </a:p>
        </p:txBody>
      </p:sp>
      <p:sp>
        <p:nvSpPr>
          <p:cNvPr id="12" name="Text 9"/>
          <p:cNvSpPr/>
          <p:nvPr/>
        </p:nvSpPr>
        <p:spPr>
          <a:xfrm>
            <a:off x="841248" y="2231136"/>
            <a:ext cx="3986784" cy="2331720"/>
          </a:xfrm>
          <a:prstGeom prst="rect">
            <a:avLst/>
          </a:prstGeom>
          <a:noFill/>
          <a:ln/>
        </p:spPr>
        <p:txBody>
          <a:bodyPr wrap="square" lIns="1016" tIns="1016" rIns="1016" bIns="1016" rtlCol="0" anchor="t">
            <a:normAutofit fontScale="925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Each member identifies their preferred team role.</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Each member identifies what others can do to enhance personal effectiveness.</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This is subdivided into: do more or better; do less or stop; carry on doing.</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Members then discuss their lists and negotiate trade-offs: “I will do this if you do that.”</a:t>
            </a:r>
            <a:endParaRPr lang="en-US" sz="1780" dirty="0"/>
          </a:p>
        </p:txBody>
      </p:sp>
      <p:sp>
        <p:nvSpPr>
          <p:cNvPr id="13" name="Text 10"/>
          <p:cNvSpPr/>
          <p:nvPr/>
        </p:nvSpPr>
        <p:spPr>
          <a:xfrm>
            <a:off x="868680" y="4892040"/>
            <a:ext cx="2423160" cy="210312"/>
          </a:xfrm>
          <a:prstGeom prst="rect">
            <a:avLst/>
          </a:prstGeom>
          <a:noFill/>
          <a:ln/>
        </p:spPr>
        <p:txBody>
          <a:bodyPr wrap="square" lIns="0" tIns="0" rIns="0" bIns="0" rtlCol="0" anchor="ctr"/>
          <a:lstStyle/>
          <a:p>
            <a:pPr marL="0" indent="0">
              <a:buNone/>
            </a:pPr>
            <a:r>
              <a:rPr lang="en-US" sz="1450" b="1" dirty="0">
                <a:solidFill>
                  <a:srgbClr val="2DD4BF"/>
                </a:solidFill>
              </a:rPr>
              <a:t>Outcome intended</a:t>
            </a:r>
            <a:endParaRPr lang="en-US" sz="1450" dirty="0"/>
          </a:p>
        </p:txBody>
      </p:sp>
      <p:sp>
        <p:nvSpPr>
          <p:cNvPr id="14" name="Text 11"/>
          <p:cNvSpPr/>
          <p:nvPr/>
        </p:nvSpPr>
        <p:spPr>
          <a:xfrm>
            <a:off x="868680" y="5138928"/>
            <a:ext cx="3822192" cy="438912"/>
          </a:xfrm>
          <a:prstGeom prst="rect">
            <a:avLst/>
          </a:prstGeom>
          <a:noFill/>
          <a:ln/>
        </p:spPr>
        <p:txBody>
          <a:bodyPr wrap="square" lIns="254" tIns="254" rIns="254" bIns="254" rtlCol="0" anchor="ctr">
            <a:normAutofit fontScale="70000" lnSpcReduction="20000"/>
          </a:bodyPr>
          <a:lstStyle/>
          <a:p>
            <a:pPr marL="0" indent="0">
              <a:buNone/>
            </a:pPr>
            <a:r>
              <a:rPr lang="en-US" sz="1580" dirty="0">
                <a:solidFill>
                  <a:srgbClr val="E2E8F0"/>
                </a:solidFill>
              </a:rPr>
              <a:t>Clarified expectations make it easier to deploy relative strengths and improve personal effectiveness inside the team.</a:t>
            </a:r>
            <a:endParaRPr lang="en-US" sz="1580" dirty="0"/>
          </a:p>
        </p:txBody>
      </p:sp>
      <p:sp>
        <p:nvSpPr>
          <p:cNvPr id="15" name="Shape 12"/>
          <p:cNvSpPr/>
          <p:nvPr/>
        </p:nvSpPr>
        <p:spPr>
          <a:xfrm>
            <a:off x="5486400" y="1627632"/>
            <a:ext cx="6089904" cy="4590288"/>
          </a:xfrm>
          <a:prstGeom prst="roundRect">
            <a:avLst>
              <a:gd name="adj" fmla="val 2789"/>
            </a:avLst>
          </a:prstGeom>
          <a:solidFill>
            <a:srgbClr val="11284C">
              <a:alpha val="80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6" name="Text 13"/>
          <p:cNvSpPr/>
          <p:nvPr/>
        </p:nvSpPr>
        <p:spPr>
          <a:xfrm>
            <a:off x="5742432" y="1874520"/>
            <a:ext cx="4069080" cy="274320"/>
          </a:xfrm>
          <a:prstGeom prst="rect">
            <a:avLst/>
          </a:prstGeom>
          <a:noFill/>
          <a:ln/>
        </p:spPr>
        <p:txBody>
          <a:bodyPr wrap="square" lIns="0" tIns="0" rIns="0" bIns="0" rtlCol="0" anchor="ctr"/>
          <a:lstStyle/>
          <a:p>
            <a:pPr marL="0" indent="0">
              <a:buNone/>
            </a:pPr>
            <a:r>
              <a:rPr lang="en-US" sz="1600" b="1" dirty="0">
                <a:solidFill>
                  <a:srgbClr val="F6C453"/>
                </a:solidFill>
              </a:rPr>
              <a:t>Belbin’s five principles for building an effective team</a:t>
            </a:r>
            <a:endParaRPr lang="en-US" sz="1600" dirty="0"/>
          </a:p>
        </p:txBody>
      </p:sp>
      <p:sp>
        <p:nvSpPr>
          <p:cNvPr id="17" name="Shape 14"/>
          <p:cNvSpPr/>
          <p:nvPr/>
        </p:nvSpPr>
        <p:spPr>
          <a:xfrm>
            <a:off x="5742432" y="2240280"/>
            <a:ext cx="1417320" cy="438912"/>
          </a:xfrm>
          <a:prstGeom prst="roundRect">
            <a:avLst>
              <a:gd name="adj" fmla="val 18750"/>
            </a:avLst>
          </a:prstGeom>
          <a:solidFill>
            <a:srgbClr val="2F6FED">
              <a:alpha val="82000"/>
            </a:srgbClr>
          </a:solidFill>
          <a:ln w="12700">
            <a:solidFill>
              <a:srgbClr val="78E3FF">
                <a:alpha val="65000"/>
              </a:srgbClr>
            </a:solidFill>
            <a:prstDash val="solid"/>
          </a:ln>
        </p:spPr>
        <p:txBody>
          <a:bodyPr/>
          <a:lstStyle/>
          <a:p>
            <a:endParaRPr lang="en-ZA"/>
          </a:p>
        </p:txBody>
      </p:sp>
      <p:sp>
        <p:nvSpPr>
          <p:cNvPr id="18" name="Text 15"/>
          <p:cNvSpPr/>
          <p:nvPr/>
        </p:nvSpPr>
        <p:spPr>
          <a:xfrm>
            <a:off x="5879592" y="2350008"/>
            <a:ext cx="1097280" cy="146304"/>
          </a:xfrm>
          <a:prstGeom prst="rect">
            <a:avLst/>
          </a:prstGeom>
          <a:noFill/>
          <a:ln/>
        </p:spPr>
        <p:txBody>
          <a:bodyPr wrap="square" lIns="0" tIns="0" rIns="0" bIns="0" rtlCol="0" anchor="ctr"/>
          <a:lstStyle/>
          <a:p>
            <a:pPr marL="0" indent="0" algn="ctr">
              <a:buNone/>
            </a:pPr>
            <a:r>
              <a:rPr lang="en-US" sz="1220" b="1" dirty="0">
                <a:solidFill>
                  <a:srgbClr val="F8FAFC"/>
                </a:solidFill>
              </a:rPr>
              <a:t>Roles</a:t>
            </a:r>
            <a:endParaRPr lang="en-US" sz="1220" dirty="0"/>
          </a:p>
        </p:txBody>
      </p:sp>
      <p:sp>
        <p:nvSpPr>
          <p:cNvPr id="19" name="Text 16"/>
          <p:cNvSpPr/>
          <p:nvPr/>
        </p:nvSpPr>
        <p:spPr>
          <a:xfrm>
            <a:off x="7296912" y="2267712"/>
            <a:ext cx="3858768" cy="402336"/>
          </a:xfrm>
          <a:prstGeom prst="rect">
            <a:avLst/>
          </a:prstGeom>
          <a:noFill/>
          <a:ln/>
        </p:spPr>
        <p:txBody>
          <a:bodyPr wrap="square" lIns="127" tIns="127" rIns="127" bIns="127" rtlCol="0" anchor="ctr">
            <a:normAutofit lnSpcReduction="10000"/>
          </a:bodyPr>
          <a:lstStyle/>
          <a:p>
            <a:pPr marL="0" indent="0">
              <a:buNone/>
            </a:pPr>
            <a:r>
              <a:rPr lang="en-US" sz="1440" dirty="0">
                <a:solidFill>
                  <a:srgbClr val="E2E8F0"/>
                </a:solidFill>
              </a:rPr>
              <a:t>Each member contributes both a functional and a team role.</a:t>
            </a:r>
            <a:endParaRPr lang="en-US" sz="1440" dirty="0"/>
          </a:p>
        </p:txBody>
      </p:sp>
      <p:sp>
        <p:nvSpPr>
          <p:cNvPr id="20" name="Shape 17"/>
          <p:cNvSpPr/>
          <p:nvPr/>
        </p:nvSpPr>
        <p:spPr>
          <a:xfrm>
            <a:off x="5742432" y="2898648"/>
            <a:ext cx="1417320" cy="438912"/>
          </a:xfrm>
          <a:prstGeom prst="roundRect">
            <a:avLst>
              <a:gd name="adj" fmla="val 18750"/>
            </a:avLst>
          </a:prstGeom>
          <a:solidFill>
            <a:srgbClr val="2F6FED">
              <a:alpha val="82000"/>
            </a:srgbClr>
          </a:solidFill>
          <a:ln w="12700">
            <a:solidFill>
              <a:srgbClr val="78E3FF">
                <a:alpha val="65000"/>
              </a:srgbClr>
            </a:solidFill>
            <a:prstDash val="solid"/>
          </a:ln>
        </p:spPr>
        <p:txBody>
          <a:bodyPr/>
          <a:lstStyle/>
          <a:p>
            <a:endParaRPr lang="en-ZA"/>
          </a:p>
        </p:txBody>
      </p:sp>
      <p:sp>
        <p:nvSpPr>
          <p:cNvPr id="21" name="Text 18"/>
          <p:cNvSpPr/>
          <p:nvPr/>
        </p:nvSpPr>
        <p:spPr>
          <a:xfrm>
            <a:off x="5879592" y="3008376"/>
            <a:ext cx="1097280" cy="146304"/>
          </a:xfrm>
          <a:prstGeom prst="rect">
            <a:avLst/>
          </a:prstGeom>
          <a:noFill/>
          <a:ln/>
        </p:spPr>
        <p:txBody>
          <a:bodyPr wrap="square" lIns="0" tIns="0" rIns="0" bIns="0" rtlCol="0" anchor="ctr"/>
          <a:lstStyle/>
          <a:p>
            <a:pPr marL="0" indent="0" algn="ctr">
              <a:buNone/>
            </a:pPr>
            <a:r>
              <a:rPr lang="en-US" sz="1220" b="1" dirty="0">
                <a:solidFill>
                  <a:srgbClr val="F8FAFC"/>
                </a:solidFill>
              </a:rPr>
              <a:t>Balance</a:t>
            </a:r>
            <a:endParaRPr lang="en-US" sz="1220" dirty="0"/>
          </a:p>
        </p:txBody>
      </p:sp>
      <p:sp>
        <p:nvSpPr>
          <p:cNvPr id="22" name="Text 19"/>
          <p:cNvSpPr/>
          <p:nvPr/>
        </p:nvSpPr>
        <p:spPr>
          <a:xfrm>
            <a:off x="7296912" y="2926080"/>
            <a:ext cx="3858768" cy="402336"/>
          </a:xfrm>
          <a:prstGeom prst="rect">
            <a:avLst/>
          </a:prstGeom>
          <a:noFill/>
          <a:ln/>
        </p:spPr>
        <p:txBody>
          <a:bodyPr wrap="square" lIns="127" tIns="127" rIns="127" bIns="127" rtlCol="0" anchor="ctr">
            <a:normAutofit lnSpcReduction="10000"/>
          </a:bodyPr>
          <a:lstStyle/>
          <a:p>
            <a:pPr marL="0" indent="0">
              <a:buNone/>
            </a:pPr>
            <a:r>
              <a:rPr lang="en-US" sz="1440" dirty="0">
                <a:solidFill>
                  <a:srgbClr val="E2E8F0"/>
                </a:solidFill>
              </a:rPr>
              <a:t>A team needs an optimal balance between functional and team roles depending on its task.</a:t>
            </a:r>
            <a:endParaRPr lang="en-US" sz="1440" dirty="0"/>
          </a:p>
        </p:txBody>
      </p:sp>
      <p:sp>
        <p:nvSpPr>
          <p:cNvPr id="23" name="Shape 20"/>
          <p:cNvSpPr/>
          <p:nvPr/>
        </p:nvSpPr>
        <p:spPr>
          <a:xfrm>
            <a:off x="5742432" y="3557016"/>
            <a:ext cx="1417320" cy="438912"/>
          </a:xfrm>
          <a:prstGeom prst="roundRect">
            <a:avLst>
              <a:gd name="adj" fmla="val 18750"/>
            </a:avLst>
          </a:prstGeom>
          <a:solidFill>
            <a:srgbClr val="2F6FED">
              <a:alpha val="82000"/>
            </a:srgbClr>
          </a:solidFill>
          <a:ln w="12700">
            <a:solidFill>
              <a:srgbClr val="78E3FF">
                <a:alpha val="65000"/>
              </a:srgbClr>
            </a:solidFill>
            <a:prstDash val="solid"/>
          </a:ln>
        </p:spPr>
        <p:txBody>
          <a:bodyPr/>
          <a:lstStyle/>
          <a:p>
            <a:endParaRPr lang="en-ZA"/>
          </a:p>
        </p:txBody>
      </p:sp>
      <p:sp>
        <p:nvSpPr>
          <p:cNvPr id="24" name="Text 21"/>
          <p:cNvSpPr/>
          <p:nvPr/>
        </p:nvSpPr>
        <p:spPr>
          <a:xfrm>
            <a:off x="5879592" y="3666744"/>
            <a:ext cx="1097280" cy="146304"/>
          </a:xfrm>
          <a:prstGeom prst="rect">
            <a:avLst/>
          </a:prstGeom>
          <a:noFill/>
          <a:ln/>
        </p:spPr>
        <p:txBody>
          <a:bodyPr wrap="square" lIns="0" tIns="0" rIns="0" bIns="0" rtlCol="0" anchor="ctr"/>
          <a:lstStyle/>
          <a:p>
            <a:pPr marL="0" indent="0" algn="ctr">
              <a:buNone/>
            </a:pPr>
            <a:r>
              <a:rPr lang="en-US" sz="1220" b="1" dirty="0">
                <a:solidFill>
                  <a:srgbClr val="F8FAFC"/>
                </a:solidFill>
              </a:rPr>
              <a:t>Strengths</a:t>
            </a:r>
            <a:endParaRPr lang="en-US" sz="1220" dirty="0"/>
          </a:p>
        </p:txBody>
      </p:sp>
      <p:sp>
        <p:nvSpPr>
          <p:cNvPr id="25" name="Text 22"/>
          <p:cNvSpPr/>
          <p:nvPr/>
        </p:nvSpPr>
        <p:spPr>
          <a:xfrm>
            <a:off x="7296912" y="3584448"/>
            <a:ext cx="3858768" cy="402336"/>
          </a:xfrm>
          <a:prstGeom prst="rect">
            <a:avLst/>
          </a:prstGeom>
          <a:noFill/>
          <a:ln/>
        </p:spPr>
        <p:txBody>
          <a:bodyPr wrap="square" lIns="127" tIns="127" rIns="127" bIns="127" rtlCol="0" anchor="ctr">
            <a:normAutofit fontScale="92500"/>
          </a:bodyPr>
          <a:lstStyle/>
          <a:p>
            <a:pPr marL="0" indent="0">
              <a:buNone/>
            </a:pPr>
            <a:r>
              <a:rPr lang="en-US" sz="1440" dirty="0">
                <a:solidFill>
                  <a:srgbClr val="E2E8F0"/>
                </a:solidFill>
              </a:rPr>
              <a:t>Effectiveness depends on how far members identify and adjust to relative strengths within the team.</a:t>
            </a:r>
            <a:endParaRPr lang="en-US" sz="1440" dirty="0"/>
          </a:p>
        </p:txBody>
      </p:sp>
      <p:sp>
        <p:nvSpPr>
          <p:cNvPr id="26" name="Shape 23"/>
          <p:cNvSpPr/>
          <p:nvPr/>
        </p:nvSpPr>
        <p:spPr>
          <a:xfrm>
            <a:off x="5742432" y="4215384"/>
            <a:ext cx="1417320" cy="438912"/>
          </a:xfrm>
          <a:prstGeom prst="roundRect">
            <a:avLst>
              <a:gd name="adj" fmla="val 18750"/>
            </a:avLst>
          </a:prstGeom>
          <a:solidFill>
            <a:srgbClr val="2F6FED">
              <a:alpha val="82000"/>
            </a:srgbClr>
          </a:solidFill>
          <a:ln w="12700">
            <a:solidFill>
              <a:srgbClr val="78E3FF">
                <a:alpha val="65000"/>
              </a:srgbClr>
            </a:solidFill>
            <a:prstDash val="solid"/>
          </a:ln>
        </p:spPr>
        <p:txBody>
          <a:bodyPr/>
          <a:lstStyle/>
          <a:p>
            <a:endParaRPr lang="en-ZA"/>
          </a:p>
        </p:txBody>
      </p:sp>
      <p:sp>
        <p:nvSpPr>
          <p:cNvPr id="27" name="Text 24"/>
          <p:cNvSpPr/>
          <p:nvPr/>
        </p:nvSpPr>
        <p:spPr>
          <a:xfrm>
            <a:off x="5879592" y="4325112"/>
            <a:ext cx="1097280" cy="146304"/>
          </a:xfrm>
          <a:prstGeom prst="rect">
            <a:avLst/>
          </a:prstGeom>
          <a:noFill/>
          <a:ln/>
        </p:spPr>
        <p:txBody>
          <a:bodyPr wrap="square" lIns="0" tIns="0" rIns="0" bIns="0" rtlCol="0" anchor="ctr"/>
          <a:lstStyle/>
          <a:p>
            <a:pPr marL="0" indent="0" algn="ctr">
              <a:buNone/>
            </a:pPr>
            <a:r>
              <a:rPr lang="en-US" sz="1220" b="1" dirty="0">
                <a:solidFill>
                  <a:srgbClr val="F8FAFC"/>
                </a:solidFill>
              </a:rPr>
              <a:t>Personality</a:t>
            </a:r>
            <a:endParaRPr lang="en-US" sz="1220" dirty="0"/>
          </a:p>
        </p:txBody>
      </p:sp>
      <p:sp>
        <p:nvSpPr>
          <p:cNvPr id="28" name="Text 25"/>
          <p:cNvSpPr/>
          <p:nvPr/>
        </p:nvSpPr>
        <p:spPr>
          <a:xfrm>
            <a:off x="7296912" y="4242816"/>
            <a:ext cx="3858768" cy="402336"/>
          </a:xfrm>
          <a:prstGeom prst="rect">
            <a:avLst/>
          </a:prstGeom>
          <a:noFill/>
          <a:ln/>
        </p:spPr>
        <p:txBody>
          <a:bodyPr wrap="square" lIns="127" tIns="127" rIns="127" bIns="127" rtlCol="0" anchor="ctr">
            <a:normAutofit fontScale="92500"/>
          </a:bodyPr>
          <a:lstStyle/>
          <a:p>
            <a:pPr marL="0" indent="0">
              <a:buNone/>
            </a:pPr>
            <a:r>
              <a:rPr lang="en-US" sz="1440" dirty="0">
                <a:solidFill>
                  <a:srgbClr val="E2E8F0"/>
                </a:solidFill>
              </a:rPr>
              <a:t>Some members fit some roles better than others, depending on personalities and mental abilities.</a:t>
            </a:r>
            <a:endParaRPr lang="en-US" sz="1440" dirty="0"/>
          </a:p>
        </p:txBody>
      </p:sp>
      <p:sp>
        <p:nvSpPr>
          <p:cNvPr id="29" name="Shape 26"/>
          <p:cNvSpPr/>
          <p:nvPr/>
        </p:nvSpPr>
        <p:spPr>
          <a:xfrm>
            <a:off x="5742432" y="4873752"/>
            <a:ext cx="1417320" cy="438912"/>
          </a:xfrm>
          <a:prstGeom prst="roundRect">
            <a:avLst>
              <a:gd name="adj" fmla="val 18750"/>
            </a:avLst>
          </a:prstGeom>
          <a:solidFill>
            <a:srgbClr val="2F6FED">
              <a:alpha val="82000"/>
            </a:srgbClr>
          </a:solidFill>
          <a:ln w="12700">
            <a:solidFill>
              <a:srgbClr val="78E3FF">
                <a:alpha val="65000"/>
              </a:srgbClr>
            </a:solidFill>
            <a:prstDash val="solid"/>
          </a:ln>
        </p:spPr>
        <p:txBody>
          <a:bodyPr/>
          <a:lstStyle/>
          <a:p>
            <a:endParaRPr lang="en-ZA"/>
          </a:p>
        </p:txBody>
      </p:sp>
      <p:sp>
        <p:nvSpPr>
          <p:cNvPr id="30" name="Text 27"/>
          <p:cNvSpPr/>
          <p:nvPr/>
        </p:nvSpPr>
        <p:spPr>
          <a:xfrm>
            <a:off x="5879592" y="4983480"/>
            <a:ext cx="1097280" cy="146304"/>
          </a:xfrm>
          <a:prstGeom prst="rect">
            <a:avLst/>
          </a:prstGeom>
          <a:noFill/>
          <a:ln/>
        </p:spPr>
        <p:txBody>
          <a:bodyPr wrap="square" lIns="0" tIns="0" rIns="0" bIns="0" rtlCol="0" anchor="ctr"/>
          <a:lstStyle/>
          <a:p>
            <a:pPr marL="0" indent="0" algn="ctr">
              <a:buNone/>
            </a:pPr>
            <a:r>
              <a:rPr lang="en-US" sz="1220" b="1" dirty="0">
                <a:solidFill>
                  <a:srgbClr val="F8FAFC"/>
                </a:solidFill>
              </a:rPr>
              <a:t>Technical resources</a:t>
            </a:r>
            <a:endParaRPr lang="en-US" sz="1220" dirty="0"/>
          </a:p>
        </p:txBody>
      </p:sp>
      <p:sp>
        <p:nvSpPr>
          <p:cNvPr id="31" name="Text 28"/>
          <p:cNvSpPr/>
          <p:nvPr/>
        </p:nvSpPr>
        <p:spPr>
          <a:xfrm>
            <a:off x="7296912" y="4901184"/>
            <a:ext cx="3858768" cy="402336"/>
          </a:xfrm>
          <a:prstGeom prst="rect">
            <a:avLst/>
          </a:prstGeom>
          <a:noFill/>
          <a:ln/>
        </p:spPr>
        <p:txBody>
          <a:bodyPr wrap="square" lIns="127" tIns="127" rIns="127" bIns="127" rtlCol="0" anchor="ctr">
            <a:normAutofit lnSpcReduction="10000"/>
          </a:bodyPr>
          <a:lstStyle/>
          <a:p>
            <a:pPr marL="0" indent="0">
              <a:buNone/>
            </a:pPr>
            <a:r>
              <a:rPr lang="en-US" sz="1440" dirty="0">
                <a:solidFill>
                  <a:srgbClr val="E2E8F0"/>
                </a:solidFill>
              </a:rPr>
              <a:t>Technical resources are best deployed when the team has a suitable range and balance of roles.</a:t>
            </a:r>
            <a:endParaRPr lang="en-US" sz="1440" dirty="0"/>
          </a:p>
        </p:txBody>
      </p:sp>
      <p:sp>
        <p:nvSpPr>
          <p:cNvPr id="32" name="Text 29"/>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33" name="Text 30"/>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56F4-BF4D-CFC2-A0E7-384B3EE7D625}"/>
            </a:ext>
          </a:extLst>
        </p:cNvPr>
        <p:cNvGrpSpPr/>
        <p:nvPr/>
      </p:nvGrpSpPr>
      <p:grpSpPr>
        <a:xfrm>
          <a:off x="0" y="0"/>
          <a:ext cx="0" cy="0"/>
          <a:chOff x="0" y="0"/>
          <a:chExt cx="0" cy="0"/>
        </a:xfrm>
      </p:grpSpPr>
      <p:pic>
        <p:nvPicPr>
          <p:cNvPr id="2" name="Image 0" descr="/mnt/data/team_meeting_2.jpg">
            <a:extLst>
              <a:ext uri="{FF2B5EF4-FFF2-40B4-BE49-F238E27FC236}">
                <a16:creationId xmlns:a16="http://schemas.microsoft.com/office/drawing/2014/main" id="{5AF48ABF-44FD-719B-80D7-1C5324C730A1}"/>
              </a:ext>
            </a:extLst>
          </p:cNvPr>
          <p:cNvPicPr>
            <a:picLocks noChangeAspect="1"/>
          </p:cNvPicPr>
          <p:nvPr/>
        </p:nvPicPr>
        <p:blipFill>
          <a:blip r:embed="rId3"/>
          <a:srcRect t="7811" b="7811"/>
          <a:stretch/>
        </p:blipFill>
        <p:spPr>
          <a:xfrm>
            <a:off x="0" y="0"/>
            <a:ext cx="12191695" cy="6858000"/>
          </a:xfrm>
          <a:prstGeom prst="rect">
            <a:avLst/>
          </a:prstGeom>
        </p:spPr>
      </p:pic>
      <p:sp>
        <p:nvSpPr>
          <p:cNvPr id="3" name="Shape 0">
            <a:extLst>
              <a:ext uri="{FF2B5EF4-FFF2-40B4-BE49-F238E27FC236}">
                <a16:creationId xmlns:a16="http://schemas.microsoft.com/office/drawing/2014/main" id="{B7FB5311-6AEF-6EB0-D825-E57A8FFB40F1}"/>
              </a:ext>
            </a:extLst>
          </p:cNvPr>
          <p:cNvSpPr/>
          <p:nvPr/>
        </p:nvSpPr>
        <p:spPr>
          <a:xfrm>
            <a:off x="0" y="0"/>
            <a:ext cx="12191695" cy="6858000"/>
          </a:xfrm>
          <a:prstGeom prst="rect">
            <a:avLst/>
          </a:prstGeom>
          <a:solidFill>
            <a:srgbClr val="08172F">
              <a:alpha val="50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13CD9CC6-C8B2-6FBA-2E83-B5CA3940BD0F}"/>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a:extLst>
              <a:ext uri="{FF2B5EF4-FFF2-40B4-BE49-F238E27FC236}">
                <a16:creationId xmlns:a16="http://schemas.microsoft.com/office/drawing/2014/main" id="{59ECD947-E895-226B-9462-2A96E638FEAD}"/>
              </a:ext>
            </a:extLst>
          </p:cNvPr>
          <p:cNvSpPr/>
          <p:nvPr/>
        </p:nvSpPr>
        <p:spPr>
          <a:xfrm>
            <a:off x="658368" y="438912"/>
            <a:ext cx="8961120" cy="475488"/>
          </a:xfrm>
          <a:prstGeom prst="rect">
            <a:avLst/>
          </a:prstGeom>
          <a:noFill/>
          <a:ln/>
        </p:spPr>
        <p:txBody>
          <a:bodyPr wrap="square" lIns="0" tIns="0" rIns="0" bIns="0" rtlCol="0" anchor="ctr"/>
          <a:lstStyle/>
          <a:p>
            <a:r>
              <a:rPr lang="en-US" sz="2800" b="1" dirty="0">
                <a:solidFill>
                  <a:srgbClr val="F7FAFC"/>
                </a:solidFill>
                <a:latin typeface="Aptos Display" pitchFamily="34" charset="0"/>
              </a:rPr>
              <a:t>Group activity 2</a:t>
            </a:r>
            <a:endParaRPr lang="en-US" sz="2800" dirty="0"/>
          </a:p>
        </p:txBody>
      </p:sp>
      <p:sp>
        <p:nvSpPr>
          <p:cNvPr id="6" name="Shape 3">
            <a:extLst>
              <a:ext uri="{FF2B5EF4-FFF2-40B4-BE49-F238E27FC236}">
                <a16:creationId xmlns:a16="http://schemas.microsoft.com/office/drawing/2014/main" id="{82B97068-AB67-172E-4C42-9D86DA37FE41}"/>
              </a:ext>
            </a:extLst>
          </p:cNvPr>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a:extLst>
              <a:ext uri="{FF2B5EF4-FFF2-40B4-BE49-F238E27FC236}">
                <a16:creationId xmlns:a16="http://schemas.microsoft.com/office/drawing/2014/main" id="{21F54D6F-CB2B-76A5-763E-048E49E6608A}"/>
              </a:ext>
            </a:extLst>
          </p:cNvPr>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a:extLst>
              <a:ext uri="{FF2B5EF4-FFF2-40B4-BE49-F238E27FC236}">
                <a16:creationId xmlns:a16="http://schemas.microsoft.com/office/drawing/2014/main" id="{C7BD6149-1141-EC94-3FC5-D8872AEBB9A4}"/>
              </a:ext>
            </a:extLst>
          </p:cNvPr>
          <p:cNvSpPr/>
          <p:nvPr/>
        </p:nvSpPr>
        <p:spPr>
          <a:xfrm>
            <a:off x="859536" y="1097280"/>
            <a:ext cx="5559552" cy="530352"/>
          </a:xfrm>
          <a:prstGeom prst="rect">
            <a:avLst/>
          </a:prstGeom>
          <a:noFill/>
          <a:ln/>
        </p:spPr>
        <p:txBody>
          <a:bodyPr wrap="square" lIns="0" tIns="0" rIns="0" bIns="0" rtlCol="0" anchor="ctr"/>
          <a:lstStyle/>
          <a:p>
            <a:pPr marL="0" indent="0" algn="ctr">
              <a:buNone/>
            </a:pPr>
            <a:endParaRPr lang="en-US" dirty="0"/>
          </a:p>
        </p:txBody>
      </p:sp>
      <p:sp>
        <p:nvSpPr>
          <p:cNvPr id="10" name="Shape 7">
            <a:extLst>
              <a:ext uri="{FF2B5EF4-FFF2-40B4-BE49-F238E27FC236}">
                <a16:creationId xmlns:a16="http://schemas.microsoft.com/office/drawing/2014/main" id="{AA6390A4-8DEC-6C19-8B5E-B27926942A1A}"/>
              </a:ext>
            </a:extLst>
          </p:cNvPr>
          <p:cNvSpPr/>
          <p:nvPr/>
        </p:nvSpPr>
        <p:spPr>
          <a:xfrm>
            <a:off x="640080" y="1627632"/>
            <a:ext cx="9368444" cy="4315968"/>
          </a:xfrm>
          <a:prstGeom prst="roundRect">
            <a:avLst>
              <a:gd name="adj" fmla="val 2966"/>
            </a:avLst>
          </a:prstGeom>
          <a:solidFill>
            <a:srgbClr val="0A1A33">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a:extLst>
              <a:ext uri="{FF2B5EF4-FFF2-40B4-BE49-F238E27FC236}">
                <a16:creationId xmlns:a16="http://schemas.microsoft.com/office/drawing/2014/main" id="{AD7A5FA4-7CC8-9024-520D-569A2E0EF3B0}"/>
              </a:ext>
            </a:extLst>
          </p:cNvPr>
          <p:cNvSpPr/>
          <p:nvPr/>
        </p:nvSpPr>
        <p:spPr>
          <a:xfrm>
            <a:off x="868679" y="1627632"/>
            <a:ext cx="7927849" cy="3758184"/>
          </a:xfrm>
          <a:prstGeom prst="rect">
            <a:avLst/>
          </a:prstGeom>
          <a:noFill/>
          <a:ln/>
        </p:spPr>
        <p:txBody>
          <a:bodyPr wrap="square" lIns="1016" tIns="1016" rIns="1016" bIns="1016" rtlCol="0" anchor="t">
            <a:normAutofit/>
          </a:bodyPr>
          <a:lstStyle/>
          <a:p>
            <a:pPr>
              <a:lnSpc>
                <a:spcPct val="115000"/>
              </a:lnSpc>
              <a:buSzPct val="100000"/>
            </a:pPr>
            <a:r>
              <a:rPr lang="en-ZA" sz="2000" b="1" dirty="0">
                <a:solidFill>
                  <a:schemeClr val="bg2"/>
                </a:solidFill>
                <a:latin typeface="Aptos" pitchFamily="34" charset="0"/>
                <a:ea typeface="Aptos" pitchFamily="34" charset="-122"/>
                <a:cs typeface="Aptos" pitchFamily="34" charset="-120"/>
              </a:rPr>
              <a:t>Level One: Plan a level one team-building event to enable the team members to get to know each other.</a:t>
            </a:r>
          </a:p>
          <a:p>
            <a:pPr>
              <a:lnSpc>
                <a:spcPct val="115000"/>
              </a:lnSpc>
              <a:buSzPct val="100000"/>
            </a:pPr>
            <a:endParaRPr lang="en-ZA" sz="2000" b="1" dirty="0">
              <a:solidFill>
                <a:schemeClr val="bg2"/>
              </a:solidFill>
              <a:latin typeface="Aptos" pitchFamily="34" charset="0"/>
              <a:ea typeface="Aptos" pitchFamily="34" charset="-122"/>
              <a:cs typeface="Aptos" pitchFamily="34" charset="-120"/>
            </a:endParaRPr>
          </a:p>
          <a:p>
            <a:pPr>
              <a:lnSpc>
                <a:spcPct val="115000"/>
              </a:lnSpc>
              <a:buSzPct val="100000"/>
            </a:pPr>
            <a:r>
              <a:rPr lang="en-ZA" sz="2000" b="1" dirty="0">
                <a:solidFill>
                  <a:schemeClr val="bg2"/>
                </a:solidFill>
                <a:latin typeface="Aptos" pitchFamily="34" charset="0"/>
                <a:ea typeface="Aptos" pitchFamily="34" charset="-122"/>
                <a:cs typeface="Aptos" pitchFamily="34" charset="-120"/>
              </a:rPr>
              <a:t> 2. Level Two: Plan a level two team-building event to enable the team members to identify and develop their individual team roles</a:t>
            </a:r>
            <a:endParaRPr lang="en-ZA" sz="2000" dirty="0">
              <a:solidFill>
                <a:schemeClr val="bg2"/>
              </a:solidFill>
              <a:latin typeface="Calibri" pitchFamily="34" charset="0"/>
              <a:ea typeface="Calibri" pitchFamily="34" charset="-122"/>
              <a:cs typeface="Calibri" pitchFamily="34" charset="-120"/>
            </a:endParaRPr>
          </a:p>
        </p:txBody>
      </p:sp>
      <p:sp>
        <p:nvSpPr>
          <p:cNvPr id="13" name="Text 10">
            <a:extLst>
              <a:ext uri="{FF2B5EF4-FFF2-40B4-BE49-F238E27FC236}">
                <a16:creationId xmlns:a16="http://schemas.microsoft.com/office/drawing/2014/main" id="{06E2ADD9-FDFF-04A4-8E49-7D1A5819F2E5}"/>
              </a:ext>
            </a:extLst>
          </p:cNvPr>
          <p:cNvSpPr/>
          <p:nvPr/>
        </p:nvSpPr>
        <p:spPr>
          <a:xfrm>
            <a:off x="960120" y="3977640"/>
            <a:ext cx="219456" cy="237744"/>
          </a:xfrm>
          <a:prstGeom prst="rect">
            <a:avLst/>
          </a:prstGeom>
          <a:noFill/>
          <a:ln/>
        </p:spPr>
        <p:txBody>
          <a:bodyPr wrap="square" lIns="0" tIns="0" rIns="0" bIns="0" rtlCol="0" anchor="ctr"/>
          <a:lstStyle/>
          <a:p>
            <a:pPr marL="0" indent="0">
              <a:buNone/>
            </a:pPr>
            <a:endParaRPr lang="en-US" sz="2000" dirty="0"/>
          </a:p>
        </p:txBody>
      </p:sp>
      <p:sp>
        <p:nvSpPr>
          <p:cNvPr id="16" name="Text 13">
            <a:extLst>
              <a:ext uri="{FF2B5EF4-FFF2-40B4-BE49-F238E27FC236}">
                <a16:creationId xmlns:a16="http://schemas.microsoft.com/office/drawing/2014/main" id="{5EA210F9-4DBC-A8CE-F036-B9F9DBFA7BA7}"/>
              </a:ext>
            </a:extLst>
          </p:cNvPr>
          <p:cNvSpPr/>
          <p:nvPr/>
        </p:nvSpPr>
        <p:spPr>
          <a:xfrm>
            <a:off x="6419088" y="1938528"/>
            <a:ext cx="2377440" cy="256032"/>
          </a:xfrm>
          <a:prstGeom prst="rect">
            <a:avLst/>
          </a:prstGeom>
          <a:noFill/>
          <a:ln/>
        </p:spPr>
        <p:txBody>
          <a:bodyPr wrap="square" lIns="0" tIns="0" rIns="0" bIns="0" rtlCol="0" anchor="ctr"/>
          <a:lstStyle/>
          <a:p>
            <a:pPr marL="0" indent="0">
              <a:buNone/>
            </a:pPr>
            <a:endParaRPr lang="en-US" sz="1600" dirty="0"/>
          </a:p>
        </p:txBody>
      </p:sp>
      <p:sp>
        <p:nvSpPr>
          <p:cNvPr id="17" name="Text 14">
            <a:extLst>
              <a:ext uri="{FF2B5EF4-FFF2-40B4-BE49-F238E27FC236}">
                <a16:creationId xmlns:a16="http://schemas.microsoft.com/office/drawing/2014/main" id="{F7186B0A-A4B2-6127-54FB-FE1CBE6A080D}"/>
              </a:ext>
            </a:extLst>
          </p:cNvPr>
          <p:cNvSpPr/>
          <p:nvPr/>
        </p:nvSpPr>
        <p:spPr>
          <a:xfrm>
            <a:off x="6382512" y="2267712"/>
            <a:ext cx="4736592" cy="1828800"/>
          </a:xfrm>
          <a:prstGeom prst="rect">
            <a:avLst/>
          </a:prstGeom>
          <a:noFill/>
          <a:ln/>
        </p:spPr>
        <p:txBody>
          <a:bodyPr wrap="square" lIns="1016" tIns="1016" rIns="1016" bIns="1016" rtlCol="0" anchor="t">
            <a:normAutofit/>
          </a:bodyPr>
          <a:lstStyle/>
          <a:p>
            <a:pPr marL="152400" indent="-152400">
              <a:buSzPct val="100000"/>
              <a:buChar char="•"/>
            </a:pPr>
            <a:endParaRPr lang="en-US" sz="1800" dirty="0"/>
          </a:p>
        </p:txBody>
      </p:sp>
      <p:sp>
        <p:nvSpPr>
          <p:cNvPr id="18" name="Text 15">
            <a:extLst>
              <a:ext uri="{FF2B5EF4-FFF2-40B4-BE49-F238E27FC236}">
                <a16:creationId xmlns:a16="http://schemas.microsoft.com/office/drawing/2014/main" id="{828D65AD-F465-FFA3-E6A9-2D6208825B6E}"/>
              </a:ext>
            </a:extLst>
          </p:cNvPr>
          <p:cNvSpPr/>
          <p:nvPr/>
        </p:nvSpPr>
        <p:spPr>
          <a:xfrm>
            <a:off x="6419088" y="4535424"/>
            <a:ext cx="1920240" cy="219456"/>
          </a:xfrm>
          <a:prstGeom prst="rect">
            <a:avLst/>
          </a:prstGeom>
          <a:noFill/>
          <a:ln/>
        </p:spPr>
        <p:txBody>
          <a:bodyPr wrap="square" lIns="0" tIns="0" rIns="0" bIns="0" rtlCol="0" anchor="ctr"/>
          <a:lstStyle/>
          <a:p>
            <a:pPr marL="0" indent="0">
              <a:buNone/>
            </a:pPr>
            <a:endParaRPr lang="en-US" sz="1550" dirty="0"/>
          </a:p>
        </p:txBody>
      </p:sp>
      <p:sp>
        <p:nvSpPr>
          <p:cNvPr id="19" name="Text 16">
            <a:extLst>
              <a:ext uri="{FF2B5EF4-FFF2-40B4-BE49-F238E27FC236}">
                <a16:creationId xmlns:a16="http://schemas.microsoft.com/office/drawing/2014/main" id="{A82ADD10-7B52-2A6A-18F0-61A012BEA89D}"/>
              </a:ext>
            </a:extLst>
          </p:cNvPr>
          <p:cNvSpPr/>
          <p:nvPr/>
        </p:nvSpPr>
        <p:spPr>
          <a:xfrm>
            <a:off x="6419088" y="4800600"/>
            <a:ext cx="4389120" cy="585216"/>
          </a:xfrm>
          <a:prstGeom prst="rect">
            <a:avLst/>
          </a:prstGeom>
          <a:noFill/>
          <a:ln/>
        </p:spPr>
        <p:txBody>
          <a:bodyPr wrap="square" lIns="254" tIns="254" rIns="254" bIns="254" rtlCol="0" anchor="ctr">
            <a:normAutofit/>
          </a:bodyPr>
          <a:lstStyle/>
          <a:p>
            <a:pPr marL="0" indent="0">
              <a:buNone/>
            </a:pPr>
            <a:endParaRPr lang="en-US" sz="2200" dirty="0"/>
          </a:p>
        </p:txBody>
      </p:sp>
      <p:sp>
        <p:nvSpPr>
          <p:cNvPr id="20" name="Text 17">
            <a:extLst>
              <a:ext uri="{FF2B5EF4-FFF2-40B4-BE49-F238E27FC236}">
                <a16:creationId xmlns:a16="http://schemas.microsoft.com/office/drawing/2014/main" id="{45D0CF18-68E8-8322-8A46-73C772DDD086}"/>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1" name="Text 18">
            <a:extLst>
              <a:ext uri="{FF2B5EF4-FFF2-40B4-BE49-F238E27FC236}">
                <a16:creationId xmlns:a16="http://schemas.microsoft.com/office/drawing/2014/main" id="{00D50B5C-82B2-B341-A5A3-C760CD686CA1}"/>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2</a:t>
            </a:r>
            <a:endParaRPr lang="en-US" sz="1000" dirty="0"/>
          </a:p>
        </p:txBody>
      </p:sp>
    </p:spTree>
    <p:extLst>
      <p:ext uri="{BB962C8B-B14F-4D97-AF65-F5344CB8AC3E}">
        <p14:creationId xmlns:p14="http://schemas.microsoft.com/office/powerpoint/2010/main" val="261620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whiteboard_presentation.jpg"/>
          <p:cNvPicPr>
            <a:picLocks noChangeAspect="1"/>
          </p:cNvPicPr>
          <p:nvPr/>
        </p:nvPicPr>
        <p:blipFill>
          <a:blip r:embed="rId3"/>
          <a:srcRect t="14" b="1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8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4. Level Three: Shared vision</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Converging on one direction for the project</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Alignment</a:t>
            </a:r>
            <a:endParaRPr lang="en-US" sz="1100" dirty="0"/>
          </a:p>
        </p:txBody>
      </p:sp>
      <p:sp>
        <p:nvSpPr>
          <p:cNvPr id="10" name="Shape 7"/>
          <p:cNvSpPr/>
          <p:nvPr/>
        </p:nvSpPr>
        <p:spPr>
          <a:xfrm>
            <a:off x="658368" y="1664208"/>
            <a:ext cx="3749040" cy="4553712"/>
          </a:xfrm>
          <a:prstGeom prst="roundRect">
            <a:avLst>
              <a:gd name="adj" fmla="val 3415"/>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96112" y="1920240"/>
            <a:ext cx="3200400" cy="2331720"/>
          </a:xfrm>
          <a:prstGeom prst="rect">
            <a:avLst/>
          </a:prstGeom>
          <a:noFill/>
          <a:ln/>
        </p:spPr>
        <p:txBody>
          <a:bodyPr wrap="square" lIns="1016" tIns="1016" rIns="1016" bIns="1016" rtlCol="0" anchor="t">
            <a:normAutofit fontScale="92500" lnSpcReduction="200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At this point members may know each other and understand their team roles, yet still interpret the project differently.</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Different interpretations may concern corporate vision requirements, the business case, the project plan, the build method and the execution strategy.</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If so, members can still be pulling in different directions.</a:t>
            </a:r>
            <a:endParaRPr lang="en-US" sz="1780" dirty="0"/>
          </a:p>
        </p:txBody>
      </p:sp>
      <p:sp>
        <p:nvSpPr>
          <p:cNvPr id="12" name="Text 9"/>
          <p:cNvSpPr/>
          <p:nvPr/>
        </p:nvSpPr>
        <p:spPr>
          <a:xfrm>
            <a:off x="896112" y="4617720"/>
            <a:ext cx="2468880" cy="219456"/>
          </a:xfrm>
          <a:prstGeom prst="rect">
            <a:avLst/>
          </a:prstGeom>
          <a:noFill/>
          <a:ln/>
        </p:spPr>
        <p:txBody>
          <a:bodyPr wrap="square" lIns="0" tIns="0" rIns="0" bIns="0" rtlCol="0" anchor="ctr"/>
          <a:lstStyle/>
          <a:p>
            <a:pPr marL="0" indent="0">
              <a:buNone/>
            </a:pPr>
            <a:r>
              <a:rPr lang="en-US" sz="1550" b="1" dirty="0">
                <a:solidFill>
                  <a:srgbClr val="F6C453"/>
                </a:solidFill>
              </a:rPr>
              <a:t>Project manager’s responsibility</a:t>
            </a:r>
            <a:endParaRPr lang="en-US" sz="1550" dirty="0"/>
          </a:p>
        </p:txBody>
      </p:sp>
      <p:sp>
        <p:nvSpPr>
          <p:cNvPr id="13" name="Text 10"/>
          <p:cNvSpPr/>
          <p:nvPr/>
        </p:nvSpPr>
        <p:spPr>
          <a:xfrm>
            <a:off x="896112" y="4882896"/>
            <a:ext cx="3218688" cy="676656"/>
          </a:xfrm>
          <a:prstGeom prst="rect">
            <a:avLst/>
          </a:prstGeom>
          <a:noFill/>
          <a:ln/>
        </p:spPr>
        <p:txBody>
          <a:bodyPr wrap="square" lIns="254" tIns="254" rIns="254" bIns="254" rtlCol="0" anchor="ctr">
            <a:normAutofit fontScale="70000" lnSpcReduction="20000"/>
          </a:bodyPr>
          <a:lstStyle/>
          <a:p>
            <a:pPr marL="0" indent="0">
              <a:buNone/>
            </a:pPr>
            <a:endParaRPr lang="en-US" sz="1620" dirty="0">
              <a:solidFill>
                <a:srgbClr val="E2E8F0"/>
              </a:solidFill>
            </a:endParaRPr>
          </a:p>
          <a:p>
            <a:pPr marL="0" indent="0">
              <a:buNone/>
            </a:pPr>
            <a:r>
              <a:rPr lang="en-US" sz="1620" dirty="0">
                <a:solidFill>
                  <a:srgbClr val="E2E8F0"/>
                </a:solidFill>
              </a:rPr>
              <a:t>Encourage the team to air views, opinions and perceptions, then discuss, confront and negotiate until they converge on an optimal and shared vision.</a:t>
            </a:r>
            <a:endParaRPr lang="en-US" sz="1620" dirty="0"/>
          </a:p>
        </p:txBody>
      </p:sp>
      <p:sp>
        <p:nvSpPr>
          <p:cNvPr id="14" name="Shape 11"/>
          <p:cNvSpPr/>
          <p:nvPr/>
        </p:nvSpPr>
        <p:spPr>
          <a:xfrm>
            <a:off x="4645152" y="1664208"/>
            <a:ext cx="6949440" cy="4553712"/>
          </a:xfrm>
          <a:prstGeom prst="roundRect">
            <a:avLst>
              <a:gd name="adj" fmla="val 2811"/>
            </a:avLst>
          </a:prstGeom>
          <a:solidFill>
            <a:srgbClr val="102544">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5" name="Text 12"/>
          <p:cNvSpPr/>
          <p:nvPr/>
        </p:nvSpPr>
        <p:spPr>
          <a:xfrm>
            <a:off x="5504688" y="1883664"/>
            <a:ext cx="2651760" cy="219456"/>
          </a:xfrm>
          <a:prstGeom prst="rect">
            <a:avLst/>
          </a:prstGeom>
          <a:noFill/>
          <a:ln/>
        </p:spPr>
        <p:txBody>
          <a:bodyPr wrap="square" lIns="0" tIns="0" rIns="0" bIns="0" rtlCol="0" anchor="ctr"/>
          <a:lstStyle/>
          <a:p>
            <a:pPr marL="0" indent="0">
              <a:buNone/>
            </a:pPr>
            <a:r>
              <a:rPr lang="en-US" sz="1540" b="1" dirty="0">
                <a:solidFill>
                  <a:srgbClr val="F6C453"/>
                </a:solidFill>
              </a:rPr>
              <a:t>Inputs the chapter says may diverge</a:t>
            </a:r>
            <a:endParaRPr lang="en-US" sz="1540" dirty="0"/>
          </a:p>
        </p:txBody>
      </p:sp>
      <p:sp>
        <p:nvSpPr>
          <p:cNvPr id="16" name="Shape 13"/>
          <p:cNvSpPr/>
          <p:nvPr/>
        </p:nvSpPr>
        <p:spPr>
          <a:xfrm>
            <a:off x="5440680" y="2267712"/>
            <a:ext cx="1325880" cy="932688"/>
          </a:xfrm>
          <a:prstGeom prst="roundRect">
            <a:avLst>
              <a:gd name="adj" fmla="val 9804"/>
            </a:avLst>
          </a:prstGeom>
          <a:solidFill>
            <a:srgbClr val="0F2343">
              <a:alpha val="90000"/>
            </a:srgbClr>
          </a:solidFill>
          <a:ln w="22860">
            <a:solidFill>
              <a:srgbClr val="2F6FED">
                <a:alpha val="88000"/>
              </a:srgbClr>
            </a:solidFill>
            <a:prstDash val="solid"/>
          </a:ln>
        </p:spPr>
        <p:txBody>
          <a:bodyPr/>
          <a:lstStyle/>
          <a:p>
            <a:endParaRPr lang="en-ZA"/>
          </a:p>
        </p:txBody>
      </p:sp>
      <p:sp>
        <p:nvSpPr>
          <p:cNvPr id="17" name="Text 14"/>
          <p:cNvSpPr/>
          <p:nvPr/>
        </p:nvSpPr>
        <p:spPr>
          <a:xfrm>
            <a:off x="5532120" y="2459736"/>
            <a:ext cx="1143000" cy="457200"/>
          </a:xfrm>
          <a:prstGeom prst="rect">
            <a:avLst/>
          </a:prstGeom>
          <a:noFill/>
          <a:ln/>
        </p:spPr>
        <p:txBody>
          <a:bodyPr wrap="square" lIns="0" tIns="0" rIns="0" bIns="0" rtlCol="0" anchor="ctr">
            <a:normAutofit/>
          </a:bodyPr>
          <a:lstStyle/>
          <a:p>
            <a:pPr marL="0" indent="0" algn="ctr">
              <a:buNone/>
            </a:pPr>
            <a:r>
              <a:rPr lang="en-US" sz="1480" b="1" dirty="0">
                <a:solidFill>
                  <a:srgbClr val="F8FAFC"/>
                </a:solidFill>
              </a:rPr>
              <a:t>Corporate</a:t>
            </a:r>
            <a:endParaRPr lang="en-US" sz="1480" dirty="0"/>
          </a:p>
          <a:p>
            <a:pPr marL="0" indent="0" algn="ctr">
              <a:buNone/>
            </a:pPr>
            <a:r>
              <a:rPr lang="en-US" sz="1480" b="1" dirty="0">
                <a:solidFill>
                  <a:srgbClr val="F8FAFC"/>
                </a:solidFill>
              </a:rPr>
              <a:t>vision</a:t>
            </a:r>
            <a:endParaRPr lang="en-US" sz="1480" dirty="0"/>
          </a:p>
        </p:txBody>
      </p:sp>
      <p:sp>
        <p:nvSpPr>
          <p:cNvPr id="18" name="Shape 15"/>
          <p:cNvSpPr/>
          <p:nvPr/>
        </p:nvSpPr>
        <p:spPr>
          <a:xfrm>
            <a:off x="6995160" y="2267712"/>
            <a:ext cx="1325880" cy="932688"/>
          </a:xfrm>
          <a:prstGeom prst="roundRect">
            <a:avLst>
              <a:gd name="adj" fmla="val 9804"/>
            </a:avLst>
          </a:prstGeom>
          <a:solidFill>
            <a:srgbClr val="0F2343">
              <a:alpha val="90000"/>
            </a:srgbClr>
          </a:solidFill>
          <a:ln w="22860">
            <a:solidFill>
              <a:srgbClr val="F6C453">
                <a:alpha val="88000"/>
              </a:srgbClr>
            </a:solidFill>
            <a:prstDash val="solid"/>
          </a:ln>
        </p:spPr>
        <p:txBody>
          <a:bodyPr/>
          <a:lstStyle/>
          <a:p>
            <a:endParaRPr lang="en-ZA"/>
          </a:p>
        </p:txBody>
      </p:sp>
      <p:sp>
        <p:nvSpPr>
          <p:cNvPr id="19" name="Text 16"/>
          <p:cNvSpPr/>
          <p:nvPr/>
        </p:nvSpPr>
        <p:spPr>
          <a:xfrm>
            <a:off x="7086600" y="2459736"/>
            <a:ext cx="1143000" cy="457200"/>
          </a:xfrm>
          <a:prstGeom prst="rect">
            <a:avLst/>
          </a:prstGeom>
          <a:noFill/>
          <a:ln/>
        </p:spPr>
        <p:txBody>
          <a:bodyPr wrap="square" lIns="0" tIns="0" rIns="0" bIns="0" rtlCol="0" anchor="ctr">
            <a:normAutofit/>
          </a:bodyPr>
          <a:lstStyle/>
          <a:p>
            <a:pPr marL="0" indent="0" algn="ctr">
              <a:buNone/>
            </a:pPr>
            <a:r>
              <a:rPr lang="en-US" sz="1480" b="1" dirty="0">
                <a:solidFill>
                  <a:srgbClr val="F8FAFC"/>
                </a:solidFill>
              </a:rPr>
              <a:t>Business</a:t>
            </a:r>
            <a:endParaRPr lang="en-US" sz="1480" dirty="0"/>
          </a:p>
          <a:p>
            <a:pPr marL="0" indent="0" algn="ctr">
              <a:buNone/>
            </a:pPr>
            <a:r>
              <a:rPr lang="en-US" sz="1480" b="1" dirty="0">
                <a:solidFill>
                  <a:srgbClr val="F8FAFC"/>
                </a:solidFill>
              </a:rPr>
              <a:t>case</a:t>
            </a:r>
            <a:endParaRPr lang="en-US" sz="1480" dirty="0"/>
          </a:p>
        </p:txBody>
      </p:sp>
      <p:sp>
        <p:nvSpPr>
          <p:cNvPr id="20" name="Shape 17"/>
          <p:cNvSpPr/>
          <p:nvPr/>
        </p:nvSpPr>
        <p:spPr>
          <a:xfrm>
            <a:off x="8549640" y="2267712"/>
            <a:ext cx="1325880" cy="932688"/>
          </a:xfrm>
          <a:prstGeom prst="roundRect">
            <a:avLst>
              <a:gd name="adj" fmla="val 9804"/>
            </a:avLst>
          </a:prstGeom>
          <a:solidFill>
            <a:srgbClr val="0F2343">
              <a:alpha val="90000"/>
            </a:srgbClr>
          </a:solidFill>
          <a:ln w="22860">
            <a:solidFill>
              <a:srgbClr val="FF8C42">
                <a:alpha val="88000"/>
              </a:srgbClr>
            </a:solidFill>
            <a:prstDash val="solid"/>
          </a:ln>
        </p:spPr>
        <p:txBody>
          <a:bodyPr/>
          <a:lstStyle/>
          <a:p>
            <a:endParaRPr lang="en-ZA"/>
          </a:p>
        </p:txBody>
      </p:sp>
      <p:sp>
        <p:nvSpPr>
          <p:cNvPr id="21" name="Text 18"/>
          <p:cNvSpPr/>
          <p:nvPr/>
        </p:nvSpPr>
        <p:spPr>
          <a:xfrm>
            <a:off x="8641080" y="2459736"/>
            <a:ext cx="1143000" cy="457200"/>
          </a:xfrm>
          <a:prstGeom prst="rect">
            <a:avLst/>
          </a:prstGeom>
          <a:noFill/>
          <a:ln/>
        </p:spPr>
        <p:txBody>
          <a:bodyPr wrap="square" lIns="0" tIns="0" rIns="0" bIns="0" rtlCol="0" anchor="ctr">
            <a:normAutofit/>
          </a:bodyPr>
          <a:lstStyle/>
          <a:p>
            <a:pPr marL="0" indent="0" algn="ctr">
              <a:buNone/>
            </a:pPr>
            <a:r>
              <a:rPr lang="en-US" sz="1480" b="1" dirty="0">
                <a:solidFill>
                  <a:srgbClr val="F8FAFC"/>
                </a:solidFill>
              </a:rPr>
              <a:t>Build</a:t>
            </a:r>
            <a:endParaRPr lang="en-US" sz="1480" dirty="0"/>
          </a:p>
          <a:p>
            <a:pPr marL="0" indent="0" algn="ctr">
              <a:buNone/>
            </a:pPr>
            <a:r>
              <a:rPr lang="en-US" sz="1480" b="1" dirty="0">
                <a:solidFill>
                  <a:srgbClr val="F8FAFC"/>
                </a:solidFill>
              </a:rPr>
              <a:t>method</a:t>
            </a:r>
            <a:endParaRPr lang="en-US" sz="1480" dirty="0"/>
          </a:p>
        </p:txBody>
      </p:sp>
      <p:sp>
        <p:nvSpPr>
          <p:cNvPr id="22" name="Shape 19"/>
          <p:cNvSpPr/>
          <p:nvPr/>
        </p:nvSpPr>
        <p:spPr>
          <a:xfrm>
            <a:off x="10104120" y="2267712"/>
            <a:ext cx="1325880" cy="932688"/>
          </a:xfrm>
          <a:prstGeom prst="roundRect">
            <a:avLst>
              <a:gd name="adj" fmla="val 9804"/>
            </a:avLst>
          </a:prstGeom>
          <a:solidFill>
            <a:srgbClr val="0F2343">
              <a:alpha val="90000"/>
            </a:srgbClr>
          </a:solidFill>
          <a:ln w="22860">
            <a:solidFill>
              <a:srgbClr val="A78BFA">
                <a:alpha val="88000"/>
              </a:srgbClr>
            </a:solidFill>
            <a:prstDash val="solid"/>
          </a:ln>
        </p:spPr>
        <p:txBody>
          <a:bodyPr/>
          <a:lstStyle/>
          <a:p>
            <a:endParaRPr lang="en-ZA"/>
          </a:p>
        </p:txBody>
      </p:sp>
      <p:sp>
        <p:nvSpPr>
          <p:cNvPr id="23" name="Text 20"/>
          <p:cNvSpPr/>
          <p:nvPr/>
        </p:nvSpPr>
        <p:spPr>
          <a:xfrm>
            <a:off x="10195560" y="2459736"/>
            <a:ext cx="1143000" cy="457200"/>
          </a:xfrm>
          <a:prstGeom prst="rect">
            <a:avLst/>
          </a:prstGeom>
          <a:noFill/>
          <a:ln/>
        </p:spPr>
        <p:txBody>
          <a:bodyPr wrap="square" lIns="0" tIns="0" rIns="0" bIns="0" rtlCol="0" anchor="ctr">
            <a:normAutofit/>
          </a:bodyPr>
          <a:lstStyle/>
          <a:p>
            <a:pPr marL="0" indent="0" algn="ctr">
              <a:buNone/>
            </a:pPr>
            <a:r>
              <a:rPr lang="en-US" sz="1480" b="1" dirty="0">
                <a:solidFill>
                  <a:srgbClr val="F8FAFC"/>
                </a:solidFill>
              </a:rPr>
              <a:t>Execution</a:t>
            </a:r>
            <a:endParaRPr lang="en-US" sz="1480" dirty="0"/>
          </a:p>
          <a:p>
            <a:pPr marL="0" indent="0" algn="ctr">
              <a:buNone/>
            </a:pPr>
            <a:r>
              <a:rPr lang="en-US" sz="1480" b="1" dirty="0">
                <a:solidFill>
                  <a:srgbClr val="F8FAFC"/>
                </a:solidFill>
              </a:rPr>
              <a:t>strategy</a:t>
            </a:r>
            <a:endParaRPr lang="en-US" sz="1480" dirty="0"/>
          </a:p>
        </p:txBody>
      </p:sp>
      <p:sp>
        <p:nvSpPr>
          <p:cNvPr id="24" name="Shape 21"/>
          <p:cNvSpPr/>
          <p:nvPr/>
        </p:nvSpPr>
        <p:spPr>
          <a:xfrm>
            <a:off x="6629400" y="3749040"/>
            <a:ext cx="3063240" cy="841248"/>
          </a:xfrm>
          <a:prstGeom prst="roundRect">
            <a:avLst>
              <a:gd name="adj" fmla="val 13043"/>
            </a:avLst>
          </a:prstGeom>
          <a:solidFill>
            <a:srgbClr val="2DD4BF">
              <a:alpha val="90000"/>
            </a:srgbClr>
          </a:solidFill>
          <a:ln w="20320">
            <a:solidFill>
              <a:srgbClr val="78E3FF"/>
            </a:solidFill>
            <a:prstDash val="solid"/>
          </a:ln>
        </p:spPr>
        <p:txBody>
          <a:bodyPr/>
          <a:lstStyle/>
          <a:p>
            <a:endParaRPr lang="en-ZA"/>
          </a:p>
        </p:txBody>
      </p:sp>
      <p:sp>
        <p:nvSpPr>
          <p:cNvPr id="25" name="Text 22"/>
          <p:cNvSpPr/>
          <p:nvPr/>
        </p:nvSpPr>
        <p:spPr>
          <a:xfrm>
            <a:off x="6812280" y="4005072"/>
            <a:ext cx="2697480" cy="219456"/>
          </a:xfrm>
          <a:prstGeom prst="rect">
            <a:avLst/>
          </a:prstGeom>
          <a:noFill/>
          <a:ln/>
        </p:spPr>
        <p:txBody>
          <a:bodyPr wrap="square" lIns="0" tIns="0" rIns="0" bIns="0" rtlCol="0" anchor="ctr"/>
          <a:lstStyle/>
          <a:p>
            <a:pPr marL="0" indent="0" algn="ctr">
              <a:buNone/>
            </a:pPr>
            <a:r>
              <a:rPr lang="en-US" sz="2000" b="1" dirty="0">
                <a:solidFill>
                  <a:srgbClr val="0B1E3A"/>
                </a:solidFill>
              </a:rPr>
              <a:t>Shared vision</a:t>
            </a:r>
            <a:endParaRPr lang="en-US" sz="2000" dirty="0"/>
          </a:p>
        </p:txBody>
      </p:sp>
      <p:sp>
        <p:nvSpPr>
          <p:cNvPr id="26" name="Text 23"/>
          <p:cNvSpPr/>
          <p:nvPr/>
        </p:nvSpPr>
        <p:spPr>
          <a:xfrm>
            <a:off x="5440680" y="5157216"/>
            <a:ext cx="5623560" cy="585216"/>
          </a:xfrm>
          <a:prstGeom prst="rect">
            <a:avLst/>
          </a:prstGeom>
          <a:noFill/>
          <a:ln/>
        </p:spPr>
        <p:txBody>
          <a:bodyPr wrap="square" lIns="254" tIns="254" rIns="254" bIns="254" rtlCol="0" anchor="ctr">
            <a:normAutofit fontScale="92500" lnSpcReduction="10000"/>
          </a:bodyPr>
          <a:lstStyle/>
          <a:p>
            <a:pPr marL="0" indent="0" algn="ctr">
              <a:buNone/>
            </a:pPr>
            <a:r>
              <a:rPr lang="en-US" sz="1540" dirty="0">
                <a:solidFill>
                  <a:srgbClr val="E2E8F0"/>
                </a:solidFill>
              </a:rPr>
              <a:t>Links this level to storming and norming: effective</a:t>
            </a:r>
            <a:endParaRPr lang="en-US" sz="1540" dirty="0"/>
          </a:p>
          <a:p>
            <a:pPr marL="0" indent="0" algn="ctr">
              <a:buNone/>
            </a:pPr>
            <a:r>
              <a:rPr lang="en-US" sz="1540" dirty="0">
                <a:solidFill>
                  <a:srgbClr val="E2E8F0"/>
                </a:solidFill>
              </a:rPr>
              <a:t>performance requires one direction, one project plan, one build</a:t>
            </a:r>
            <a:endParaRPr lang="en-US" sz="1540" dirty="0"/>
          </a:p>
          <a:p>
            <a:pPr marL="0" indent="0" algn="ctr">
              <a:buNone/>
            </a:pPr>
            <a:r>
              <a:rPr lang="en-US" sz="1540" dirty="0">
                <a:solidFill>
                  <a:srgbClr val="E2E8F0"/>
                </a:solidFill>
              </a:rPr>
              <a:t>method and one execution strategy.</a:t>
            </a:r>
            <a:endParaRPr lang="en-US" sz="1540" dirty="0"/>
          </a:p>
        </p:txBody>
      </p:sp>
      <p:sp>
        <p:nvSpPr>
          <p:cNvPr id="27" name="Text 24"/>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8" name="Text 25"/>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whiteboard_presentation.jpg"/>
          <p:cNvPicPr>
            <a:picLocks noChangeAspect="1"/>
          </p:cNvPicPr>
          <p:nvPr/>
        </p:nvPicPr>
        <p:blipFill>
          <a:blip r:embed="rId3"/>
          <a:srcRect t="14" b="1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2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5. Level Four: Task focused</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Improving efficiency and productivity through project-centred practice</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Performance</a:t>
            </a:r>
            <a:endParaRPr lang="en-US" sz="1100" dirty="0"/>
          </a:p>
        </p:txBody>
      </p:sp>
      <p:sp>
        <p:nvSpPr>
          <p:cNvPr id="10" name="Shape 7"/>
          <p:cNvSpPr/>
          <p:nvPr/>
        </p:nvSpPr>
        <p:spPr>
          <a:xfrm>
            <a:off x="658368" y="1682496"/>
            <a:ext cx="4846320" cy="4553712"/>
          </a:xfrm>
          <a:prstGeom prst="roundRect">
            <a:avLst>
              <a:gd name="adj" fmla="val 2811"/>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96112" y="1938528"/>
            <a:ext cx="4297680" cy="2834640"/>
          </a:xfrm>
          <a:prstGeom prst="rect">
            <a:avLst/>
          </a:prstGeom>
          <a:noFill/>
          <a:ln/>
        </p:spPr>
        <p:txBody>
          <a:bodyPr wrap="square" lIns="1016" tIns="1016" rIns="1016" bIns="1016" rtlCol="0" anchor="t">
            <a:normAutofit fontScale="92500" lnSpcReduction="20000"/>
          </a:bodyPr>
          <a:lstStyle/>
          <a:p>
            <a:pPr marL="152400" indent="-152400">
              <a:buSzPct val="100000"/>
              <a:buChar char="•"/>
            </a:pPr>
            <a:r>
              <a:rPr lang="en-US" sz="1780" dirty="0">
                <a:solidFill>
                  <a:srgbClr val="F8FAFC"/>
                </a:solidFill>
                <a:latin typeface="Aptos" pitchFamily="34" charset="0"/>
                <a:ea typeface="Aptos" pitchFamily="34" charset="-122"/>
                <a:cs typeface="Aptos" pitchFamily="34" charset="-120"/>
              </a:rPr>
              <a:t>The fourth level focuses on how team members will carry out the project and improve team performance.</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Discussion begins with the project, its purpose and how to achieve it: the project plan, build method and execution strategy.</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At this level the project manager assumes shared goals, no interpersonal issues and no hidden agendas—those have already been ironed out.</a:t>
            </a:r>
            <a:endParaRPr lang="en-US" sz="1780" dirty="0"/>
          </a:p>
          <a:p>
            <a:pPr marL="152400" indent="-152400">
              <a:buSzPct val="100000"/>
              <a:buChar char="•"/>
            </a:pPr>
            <a:r>
              <a:rPr lang="en-US" sz="1780" dirty="0">
                <a:solidFill>
                  <a:srgbClr val="F8FAFC"/>
                </a:solidFill>
                <a:latin typeface="Aptos" pitchFamily="34" charset="0"/>
                <a:ea typeface="Aptos" pitchFamily="34" charset="-122"/>
                <a:cs typeface="Aptos" pitchFamily="34" charset="-120"/>
              </a:rPr>
              <a:t>Exercises now focus on technical skills and competencies applied individually and together as a team.</a:t>
            </a:r>
            <a:endParaRPr lang="en-US" sz="1780" dirty="0"/>
          </a:p>
        </p:txBody>
      </p:sp>
      <p:sp>
        <p:nvSpPr>
          <p:cNvPr id="12" name="Text 9"/>
          <p:cNvSpPr/>
          <p:nvPr/>
        </p:nvSpPr>
        <p:spPr>
          <a:xfrm>
            <a:off x="896112" y="5084064"/>
            <a:ext cx="2148840" cy="210312"/>
          </a:xfrm>
          <a:prstGeom prst="rect">
            <a:avLst/>
          </a:prstGeom>
          <a:noFill/>
          <a:ln/>
        </p:spPr>
        <p:txBody>
          <a:bodyPr wrap="square" lIns="0" tIns="0" rIns="0" bIns="0" rtlCol="0" anchor="ctr"/>
          <a:lstStyle/>
          <a:p>
            <a:pPr marL="0" indent="0">
              <a:buNone/>
            </a:pPr>
            <a:r>
              <a:rPr lang="en-US" sz="1450" b="1" dirty="0">
                <a:solidFill>
                  <a:srgbClr val="F6C453"/>
                </a:solidFill>
              </a:rPr>
              <a:t>Analogy</a:t>
            </a:r>
            <a:endParaRPr lang="en-US" sz="1450" dirty="0"/>
          </a:p>
        </p:txBody>
      </p:sp>
      <p:sp>
        <p:nvSpPr>
          <p:cNvPr id="13" name="Text 10"/>
          <p:cNvSpPr/>
          <p:nvPr/>
        </p:nvSpPr>
        <p:spPr>
          <a:xfrm>
            <a:off x="896112" y="5340096"/>
            <a:ext cx="4251960" cy="384048"/>
          </a:xfrm>
          <a:prstGeom prst="rect">
            <a:avLst/>
          </a:prstGeom>
          <a:noFill/>
          <a:ln/>
        </p:spPr>
        <p:txBody>
          <a:bodyPr wrap="square" lIns="254" tIns="254" rIns="254" bIns="254" rtlCol="0" anchor="ctr">
            <a:normAutofit fontScale="77500" lnSpcReduction="20000"/>
          </a:bodyPr>
          <a:lstStyle/>
          <a:p>
            <a:pPr marL="0" indent="0">
              <a:buNone/>
            </a:pPr>
            <a:r>
              <a:rPr lang="en-US" sz="1580" dirty="0">
                <a:solidFill>
                  <a:srgbClr val="E2E8F0"/>
                </a:solidFill>
              </a:rPr>
              <a:t>Like a football team’s practice session: players rehearse moves and tactics that require several people to work closely together.</a:t>
            </a:r>
            <a:endParaRPr lang="en-US" sz="1580" dirty="0"/>
          </a:p>
        </p:txBody>
      </p:sp>
      <p:sp>
        <p:nvSpPr>
          <p:cNvPr id="14" name="Shape 11"/>
          <p:cNvSpPr/>
          <p:nvPr/>
        </p:nvSpPr>
        <p:spPr>
          <a:xfrm>
            <a:off x="5760720" y="1682496"/>
            <a:ext cx="5806440" cy="4553712"/>
          </a:xfrm>
          <a:prstGeom prst="roundRect">
            <a:avLst>
              <a:gd name="adj" fmla="val 2811"/>
            </a:avLst>
          </a:prstGeom>
          <a:solidFill>
            <a:srgbClr val="102544">
              <a:alpha val="80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5" name="Text 12"/>
          <p:cNvSpPr/>
          <p:nvPr/>
        </p:nvSpPr>
        <p:spPr>
          <a:xfrm>
            <a:off x="6016752" y="1901952"/>
            <a:ext cx="2560320" cy="256032"/>
          </a:xfrm>
          <a:prstGeom prst="rect">
            <a:avLst/>
          </a:prstGeom>
          <a:noFill/>
          <a:ln/>
        </p:spPr>
        <p:txBody>
          <a:bodyPr wrap="square" lIns="0" tIns="0" rIns="0" bIns="0" rtlCol="0" anchor="ctr"/>
          <a:lstStyle/>
          <a:p>
            <a:pPr marL="0" indent="0">
              <a:buNone/>
            </a:pPr>
            <a:r>
              <a:rPr lang="en-US" sz="1600" b="1" dirty="0">
                <a:solidFill>
                  <a:srgbClr val="F6C453"/>
                </a:solidFill>
              </a:rPr>
              <a:t>Skills training the chapter lists</a:t>
            </a:r>
            <a:endParaRPr lang="en-US" sz="1600" dirty="0"/>
          </a:p>
        </p:txBody>
      </p:sp>
      <p:sp>
        <p:nvSpPr>
          <p:cNvPr id="16" name="Shape 13"/>
          <p:cNvSpPr/>
          <p:nvPr/>
        </p:nvSpPr>
        <p:spPr>
          <a:xfrm>
            <a:off x="6035040" y="2286000"/>
            <a:ext cx="2011680" cy="438912"/>
          </a:xfrm>
          <a:prstGeom prst="roundRect">
            <a:avLst>
              <a:gd name="adj" fmla="val 18750"/>
            </a:avLst>
          </a:prstGeom>
          <a:solidFill>
            <a:srgbClr val="2F6FED">
              <a:alpha val="80000"/>
            </a:srgbClr>
          </a:solidFill>
          <a:ln w="12700">
            <a:solidFill>
              <a:srgbClr val="78E3FF">
                <a:alpha val="65000"/>
              </a:srgbClr>
            </a:solidFill>
            <a:prstDash val="solid"/>
          </a:ln>
        </p:spPr>
        <p:txBody>
          <a:bodyPr/>
          <a:lstStyle/>
          <a:p>
            <a:endParaRPr lang="en-ZA"/>
          </a:p>
        </p:txBody>
      </p:sp>
      <p:sp>
        <p:nvSpPr>
          <p:cNvPr id="17" name="Text 14"/>
          <p:cNvSpPr/>
          <p:nvPr/>
        </p:nvSpPr>
        <p:spPr>
          <a:xfrm>
            <a:off x="6199632" y="2395728"/>
            <a:ext cx="1664208" cy="164592"/>
          </a:xfrm>
          <a:prstGeom prst="rect">
            <a:avLst/>
          </a:prstGeom>
          <a:noFill/>
          <a:ln/>
        </p:spPr>
        <p:txBody>
          <a:bodyPr wrap="square" lIns="0" tIns="0" rIns="0" bIns="0" rtlCol="0" anchor="ctr"/>
          <a:lstStyle/>
          <a:p>
            <a:pPr marL="0" indent="0" algn="ctr">
              <a:buNone/>
            </a:pPr>
            <a:r>
              <a:rPr lang="en-US" sz="1250" b="1" dirty="0">
                <a:solidFill>
                  <a:srgbClr val="F8FAFC"/>
                </a:solidFill>
              </a:rPr>
              <a:t>WBS</a:t>
            </a:r>
            <a:endParaRPr lang="en-US" sz="1250" dirty="0"/>
          </a:p>
        </p:txBody>
      </p:sp>
      <p:sp>
        <p:nvSpPr>
          <p:cNvPr id="18" name="Text 15"/>
          <p:cNvSpPr/>
          <p:nvPr/>
        </p:nvSpPr>
        <p:spPr>
          <a:xfrm>
            <a:off x="8211312" y="2340864"/>
            <a:ext cx="2697480" cy="310896"/>
          </a:xfrm>
          <a:prstGeom prst="rect">
            <a:avLst/>
          </a:prstGeom>
          <a:noFill/>
          <a:ln/>
        </p:spPr>
        <p:txBody>
          <a:bodyPr wrap="square" lIns="127" tIns="127" rIns="127" bIns="127" rtlCol="0" anchor="ctr">
            <a:normAutofit/>
          </a:bodyPr>
          <a:lstStyle/>
          <a:p>
            <a:pPr marL="0" indent="0">
              <a:buNone/>
            </a:pPr>
            <a:r>
              <a:rPr lang="en-US" sz="1520" dirty="0">
                <a:solidFill>
                  <a:srgbClr val="E2E8F0"/>
                </a:solidFill>
              </a:rPr>
              <a:t>Quantify scope of work</a:t>
            </a:r>
            <a:endParaRPr lang="en-US" sz="1520" dirty="0"/>
          </a:p>
        </p:txBody>
      </p:sp>
      <p:sp>
        <p:nvSpPr>
          <p:cNvPr id="19" name="Shape 16"/>
          <p:cNvSpPr/>
          <p:nvPr/>
        </p:nvSpPr>
        <p:spPr>
          <a:xfrm>
            <a:off x="6035040" y="2944368"/>
            <a:ext cx="2011680" cy="438912"/>
          </a:xfrm>
          <a:prstGeom prst="roundRect">
            <a:avLst>
              <a:gd name="adj" fmla="val 18750"/>
            </a:avLst>
          </a:prstGeom>
          <a:solidFill>
            <a:srgbClr val="2F6FED">
              <a:alpha val="80000"/>
            </a:srgbClr>
          </a:solidFill>
          <a:ln w="12700">
            <a:solidFill>
              <a:srgbClr val="78E3FF">
                <a:alpha val="65000"/>
              </a:srgbClr>
            </a:solidFill>
            <a:prstDash val="solid"/>
          </a:ln>
        </p:spPr>
        <p:txBody>
          <a:bodyPr/>
          <a:lstStyle/>
          <a:p>
            <a:endParaRPr lang="en-ZA"/>
          </a:p>
        </p:txBody>
      </p:sp>
      <p:sp>
        <p:nvSpPr>
          <p:cNvPr id="20" name="Text 17"/>
          <p:cNvSpPr/>
          <p:nvPr/>
        </p:nvSpPr>
        <p:spPr>
          <a:xfrm>
            <a:off x="6199632" y="3054096"/>
            <a:ext cx="1664208" cy="164592"/>
          </a:xfrm>
          <a:prstGeom prst="rect">
            <a:avLst/>
          </a:prstGeom>
          <a:noFill/>
          <a:ln/>
        </p:spPr>
        <p:txBody>
          <a:bodyPr wrap="square" lIns="0" tIns="0" rIns="0" bIns="0" rtlCol="0" anchor="ctr"/>
          <a:lstStyle/>
          <a:p>
            <a:pPr marL="0" indent="0" algn="ctr">
              <a:buNone/>
            </a:pPr>
            <a:r>
              <a:rPr lang="en-US" sz="1250" b="1" dirty="0">
                <a:solidFill>
                  <a:srgbClr val="F8FAFC"/>
                </a:solidFill>
              </a:rPr>
              <a:t>CPM / Gantt charts</a:t>
            </a:r>
            <a:endParaRPr lang="en-US" sz="1250" dirty="0"/>
          </a:p>
        </p:txBody>
      </p:sp>
      <p:sp>
        <p:nvSpPr>
          <p:cNvPr id="21" name="Text 18"/>
          <p:cNvSpPr/>
          <p:nvPr/>
        </p:nvSpPr>
        <p:spPr>
          <a:xfrm>
            <a:off x="8211312" y="2999232"/>
            <a:ext cx="2697480" cy="310896"/>
          </a:xfrm>
          <a:prstGeom prst="rect">
            <a:avLst/>
          </a:prstGeom>
          <a:noFill/>
          <a:ln/>
        </p:spPr>
        <p:txBody>
          <a:bodyPr wrap="square" lIns="127" tIns="127" rIns="127" bIns="127" rtlCol="0" anchor="ctr">
            <a:normAutofit/>
          </a:bodyPr>
          <a:lstStyle/>
          <a:p>
            <a:pPr marL="0" indent="0">
              <a:buNone/>
            </a:pPr>
            <a:r>
              <a:rPr lang="en-US" sz="1520" dirty="0">
                <a:solidFill>
                  <a:srgbClr val="E2E8F0"/>
                </a:solidFill>
              </a:rPr>
              <a:t>Calculate time schedules</a:t>
            </a:r>
            <a:endParaRPr lang="en-US" sz="1520" dirty="0"/>
          </a:p>
        </p:txBody>
      </p:sp>
      <p:sp>
        <p:nvSpPr>
          <p:cNvPr id="22" name="Shape 19"/>
          <p:cNvSpPr/>
          <p:nvPr/>
        </p:nvSpPr>
        <p:spPr>
          <a:xfrm>
            <a:off x="6035040" y="3602736"/>
            <a:ext cx="2011680" cy="438912"/>
          </a:xfrm>
          <a:prstGeom prst="roundRect">
            <a:avLst>
              <a:gd name="adj" fmla="val 18750"/>
            </a:avLst>
          </a:prstGeom>
          <a:solidFill>
            <a:srgbClr val="2F6FED">
              <a:alpha val="80000"/>
            </a:srgbClr>
          </a:solidFill>
          <a:ln w="12700">
            <a:solidFill>
              <a:srgbClr val="78E3FF">
                <a:alpha val="65000"/>
              </a:srgbClr>
            </a:solidFill>
            <a:prstDash val="solid"/>
          </a:ln>
        </p:spPr>
        <p:txBody>
          <a:bodyPr/>
          <a:lstStyle/>
          <a:p>
            <a:endParaRPr lang="en-ZA"/>
          </a:p>
        </p:txBody>
      </p:sp>
      <p:sp>
        <p:nvSpPr>
          <p:cNvPr id="23" name="Text 20"/>
          <p:cNvSpPr/>
          <p:nvPr/>
        </p:nvSpPr>
        <p:spPr>
          <a:xfrm>
            <a:off x="6199632" y="3712464"/>
            <a:ext cx="1664208" cy="164592"/>
          </a:xfrm>
          <a:prstGeom prst="rect">
            <a:avLst/>
          </a:prstGeom>
          <a:noFill/>
          <a:ln/>
        </p:spPr>
        <p:txBody>
          <a:bodyPr wrap="square" lIns="0" tIns="0" rIns="0" bIns="0" rtlCol="0" anchor="ctr"/>
          <a:lstStyle/>
          <a:p>
            <a:pPr marL="0" indent="0" algn="ctr">
              <a:buNone/>
            </a:pPr>
            <a:r>
              <a:rPr lang="en-US" sz="1250" b="1" dirty="0">
                <a:solidFill>
                  <a:srgbClr val="F8FAFC"/>
                </a:solidFill>
              </a:rPr>
              <a:t>QCP</a:t>
            </a:r>
            <a:endParaRPr lang="en-US" sz="1250" dirty="0"/>
          </a:p>
        </p:txBody>
      </p:sp>
      <p:sp>
        <p:nvSpPr>
          <p:cNvPr id="24" name="Text 21"/>
          <p:cNvSpPr/>
          <p:nvPr/>
        </p:nvSpPr>
        <p:spPr>
          <a:xfrm>
            <a:off x="8211312" y="3657600"/>
            <a:ext cx="2697480" cy="310896"/>
          </a:xfrm>
          <a:prstGeom prst="rect">
            <a:avLst/>
          </a:prstGeom>
          <a:noFill/>
          <a:ln/>
        </p:spPr>
        <p:txBody>
          <a:bodyPr wrap="square" lIns="127" tIns="127" rIns="127" bIns="127" rtlCol="0" anchor="ctr">
            <a:normAutofit/>
          </a:bodyPr>
          <a:lstStyle/>
          <a:p>
            <a:pPr marL="0" indent="0">
              <a:buNone/>
            </a:pPr>
            <a:r>
              <a:rPr lang="en-US" sz="1520" dirty="0">
                <a:solidFill>
                  <a:srgbClr val="E2E8F0"/>
                </a:solidFill>
              </a:rPr>
              <a:t>Determine quality standards</a:t>
            </a:r>
            <a:endParaRPr lang="en-US" sz="1520" dirty="0"/>
          </a:p>
        </p:txBody>
      </p:sp>
      <p:sp>
        <p:nvSpPr>
          <p:cNvPr id="25" name="Shape 22"/>
          <p:cNvSpPr/>
          <p:nvPr/>
        </p:nvSpPr>
        <p:spPr>
          <a:xfrm>
            <a:off x="6035040" y="4261104"/>
            <a:ext cx="2011680" cy="438912"/>
          </a:xfrm>
          <a:prstGeom prst="roundRect">
            <a:avLst>
              <a:gd name="adj" fmla="val 18750"/>
            </a:avLst>
          </a:prstGeom>
          <a:solidFill>
            <a:srgbClr val="2F6FED">
              <a:alpha val="80000"/>
            </a:srgbClr>
          </a:solidFill>
          <a:ln w="12700">
            <a:solidFill>
              <a:srgbClr val="78E3FF">
                <a:alpha val="65000"/>
              </a:srgbClr>
            </a:solidFill>
            <a:prstDash val="solid"/>
          </a:ln>
        </p:spPr>
        <p:txBody>
          <a:bodyPr/>
          <a:lstStyle/>
          <a:p>
            <a:endParaRPr lang="en-ZA"/>
          </a:p>
        </p:txBody>
      </p:sp>
      <p:sp>
        <p:nvSpPr>
          <p:cNvPr id="26" name="Text 23"/>
          <p:cNvSpPr/>
          <p:nvPr/>
        </p:nvSpPr>
        <p:spPr>
          <a:xfrm>
            <a:off x="6199632" y="4370832"/>
            <a:ext cx="1664208" cy="164592"/>
          </a:xfrm>
          <a:prstGeom prst="rect">
            <a:avLst/>
          </a:prstGeom>
          <a:noFill/>
          <a:ln/>
        </p:spPr>
        <p:txBody>
          <a:bodyPr wrap="square" lIns="0" tIns="0" rIns="0" bIns="0" rtlCol="0" anchor="ctr"/>
          <a:lstStyle/>
          <a:p>
            <a:pPr marL="0" indent="0" algn="ctr">
              <a:buNone/>
            </a:pPr>
            <a:r>
              <a:rPr lang="en-US" sz="1250" b="1" dirty="0">
                <a:solidFill>
                  <a:srgbClr val="F8FAFC"/>
                </a:solidFill>
              </a:rPr>
              <a:t>Problem solving</a:t>
            </a:r>
            <a:endParaRPr lang="en-US" sz="1250" dirty="0"/>
          </a:p>
        </p:txBody>
      </p:sp>
      <p:sp>
        <p:nvSpPr>
          <p:cNvPr id="27" name="Text 24"/>
          <p:cNvSpPr/>
          <p:nvPr/>
        </p:nvSpPr>
        <p:spPr>
          <a:xfrm>
            <a:off x="8211312" y="4315968"/>
            <a:ext cx="2697480" cy="310896"/>
          </a:xfrm>
          <a:prstGeom prst="rect">
            <a:avLst/>
          </a:prstGeom>
          <a:noFill/>
          <a:ln/>
        </p:spPr>
        <p:txBody>
          <a:bodyPr wrap="square" lIns="127" tIns="127" rIns="127" bIns="127" rtlCol="0" anchor="ctr">
            <a:normAutofit/>
          </a:bodyPr>
          <a:lstStyle/>
          <a:p>
            <a:pPr marL="0" indent="0">
              <a:buNone/>
            </a:pPr>
            <a:r>
              <a:rPr lang="en-US" sz="1520" dirty="0">
                <a:solidFill>
                  <a:srgbClr val="E2E8F0"/>
                </a:solidFill>
              </a:rPr>
              <a:t>Solve problems</a:t>
            </a:r>
            <a:endParaRPr lang="en-US" sz="1520" dirty="0"/>
          </a:p>
        </p:txBody>
      </p:sp>
      <p:sp>
        <p:nvSpPr>
          <p:cNvPr id="28" name="Shape 25"/>
          <p:cNvSpPr/>
          <p:nvPr/>
        </p:nvSpPr>
        <p:spPr>
          <a:xfrm>
            <a:off x="6035040" y="4919472"/>
            <a:ext cx="2011680" cy="438912"/>
          </a:xfrm>
          <a:prstGeom prst="roundRect">
            <a:avLst>
              <a:gd name="adj" fmla="val 18750"/>
            </a:avLst>
          </a:prstGeom>
          <a:solidFill>
            <a:srgbClr val="2F6FED">
              <a:alpha val="80000"/>
            </a:srgbClr>
          </a:solidFill>
          <a:ln w="12700">
            <a:solidFill>
              <a:srgbClr val="78E3FF">
                <a:alpha val="65000"/>
              </a:srgbClr>
            </a:solidFill>
            <a:prstDash val="solid"/>
          </a:ln>
        </p:spPr>
        <p:txBody>
          <a:bodyPr/>
          <a:lstStyle/>
          <a:p>
            <a:endParaRPr lang="en-ZA"/>
          </a:p>
        </p:txBody>
      </p:sp>
      <p:sp>
        <p:nvSpPr>
          <p:cNvPr id="29" name="Text 26"/>
          <p:cNvSpPr/>
          <p:nvPr/>
        </p:nvSpPr>
        <p:spPr>
          <a:xfrm>
            <a:off x="6199632" y="5029200"/>
            <a:ext cx="1664208" cy="164592"/>
          </a:xfrm>
          <a:prstGeom prst="rect">
            <a:avLst/>
          </a:prstGeom>
          <a:noFill/>
          <a:ln/>
        </p:spPr>
        <p:txBody>
          <a:bodyPr wrap="square" lIns="0" tIns="0" rIns="0" bIns="0" rtlCol="0" anchor="ctr"/>
          <a:lstStyle/>
          <a:p>
            <a:pPr marL="0" indent="0" algn="ctr">
              <a:buNone/>
            </a:pPr>
            <a:r>
              <a:rPr lang="en-US" sz="1250" b="1" dirty="0">
                <a:solidFill>
                  <a:srgbClr val="F8FAFC"/>
                </a:solidFill>
              </a:rPr>
              <a:t>Decision making</a:t>
            </a:r>
            <a:endParaRPr lang="en-US" sz="1250" dirty="0"/>
          </a:p>
        </p:txBody>
      </p:sp>
      <p:sp>
        <p:nvSpPr>
          <p:cNvPr id="30" name="Text 27"/>
          <p:cNvSpPr/>
          <p:nvPr/>
        </p:nvSpPr>
        <p:spPr>
          <a:xfrm>
            <a:off x="8211312" y="4974336"/>
            <a:ext cx="2697480" cy="310896"/>
          </a:xfrm>
          <a:prstGeom prst="rect">
            <a:avLst/>
          </a:prstGeom>
          <a:noFill/>
          <a:ln/>
        </p:spPr>
        <p:txBody>
          <a:bodyPr wrap="square" lIns="127" tIns="127" rIns="127" bIns="127" rtlCol="0" anchor="ctr">
            <a:normAutofit/>
          </a:bodyPr>
          <a:lstStyle/>
          <a:p>
            <a:pPr marL="0" indent="0">
              <a:buNone/>
            </a:pPr>
            <a:r>
              <a:rPr lang="en-US" sz="1520" dirty="0">
                <a:solidFill>
                  <a:srgbClr val="E2E8F0"/>
                </a:solidFill>
              </a:rPr>
              <a:t>Make decisions</a:t>
            </a:r>
            <a:endParaRPr lang="en-US" sz="1520" dirty="0"/>
          </a:p>
        </p:txBody>
      </p:sp>
      <p:sp>
        <p:nvSpPr>
          <p:cNvPr id="31" name="Text 28"/>
          <p:cNvSpPr/>
          <p:nvPr/>
        </p:nvSpPr>
        <p:spPr>
          <a:xfrm>
            <a:off x="6016752" y="5449824"/>
            <a:ext cx="2514600" cy="210312"/>
          </a:xfrm>
          <a:prstGeom prst="rect">
            <a:avLst/>
          </a:prstGeom>
          <a:noFill/>
          <a:ln/>
        </p:spPr>
        <p:txBody>
          <a:bodyPr wrap="square" lIns="0" tIns="0" rIns="0" bIns="0" rtlCol="0" anchor="ctr"/>
          <a:lstStyle/>
          <a:p>
            <a:pPr marL="0" indent="0">
              <a:buNone/>
            </a:pPr>
            <a:r>
              <a:rPr lang="en-US" sz="1480" b="1" dirty="0">
                <a:solidFill>
                  <a:srgbClr val="2DD4BF"/>
                </a:solidFill>
              </a:rPr>
              <a:t>Critics’ view</a:t>
            </a:r>
            <a:endParaRPr lang="en-US" sz="1480" dirty="0"/>
          </a:p>
        </p:txBody>
      </p:sp>
      <p:sp>
        <p:nvSpPr>
          <p:cNvPr id="32" name="Text 29"/>
          <p:cNvSpPr/>
          <p:nvPr/>
        </p:nvSpPr>
        <p:spPr>
          <a:xfrm>
            <a:off x="6016752" y="5687568"/>
            <a:ext cx="4892040" cy="384048"/>
          </a:xfrm>
          <a:prstGeom prst="rect">
            <a:avLst/>
          </a:prstGeom>
          <a:noFill/>
          <a:ln/>
        </p:spPr>
        <p:txBody>
          <a:bodyPr wrap="square" lIns="254" tIns="254" rIns="254" bIns="254" rtlCol="0" anchor="ctr">
            <a:normAutofit fontScale="62500" lnSpcReduction="20000"/>
          </a:bodyPr>
          <a:lstStyle/>
          <a:p>
            <a:pPr marL="0" indent="0">
              <a:buNone/>
            </a:pPr>
            <a:r>
              <a:rPr lang="en-US" sz="1520" dirty="0">
                <a:solidFill>
                  <a:srgbClr val="E2E8F0"/>
                </a:solidFill>
              </a:rPr>
              <a:t>Some critics dismiss levels one to three because they are not project focused; they do value level four because its emphasis is directly on improving performance.</a:t>
            </a:r>
            <a:endParaRPr lang="en-US" sz="1520" dirty="0"/>
          </a:p>
        </p:txBody>
      </p:sp>
      <p:sp>
        <p:nvSpPr>
          <p:cNvPr id="33" name="Text 30"/>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34" name="Text 31"/>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DC60-6560-09E3-FC9C-BE04E7DF2918}"/>
            </a:ext>
          </a:extLst>
        </p:cNvPr>
        <p:cNvGrpSpPr/>
        <p:nvPr/>
      </p:nvGrpSpPr>
      <p:grpSpPr>
        <a:xfrm>
          <a:off x="0" y="0"/>
          <a:ext cx="0" cy="0"/>
          <a:chOff x="0" y="0"/>
          <a:chExt cx="0" cy="0"/>
        </a:xfrm>
      </p:grpSpPr>
      <p:pic>
        <p:nvPicPr>
          <p:cNvPr id="2" name="Image 0" descr="/mnt/data/team_meeting_2.jpg">
            <a:extLst>
              <a:ext uri="{FF2B5EF4-FFF2-40B4-BE49-F238E27FC236}">
                <a16:creationId xmlns:a16="http://schemas.microsoft.com/office/drawing/2014/main" id="{96FE9C9A-C99E-83AB-27DF-62CC5E7E85BD}"/>
              </a:ext>
            </a:extLst>
          </p:cNvPr>
          <p:cNvPicPr>
            <a:picLocks noChangeAspect="1"/>
          </p:cNvPicPr>
          <p:nvPr/>
        </p:nvPicPr>
        <p:blipFill>
          <a:blip r:embed="rId3"/>
          <a:srcRect t="7811" b="7811"/>
          <a:stretch/>
        </p:blipFill>
        <p:spPr>
          <a:xfrm>
            <a:off x="0" y="0"/>
            <a:ext cx="12191695" cy="6858000"/>
          </a:xfrm>
          <a:prstGeom prst="rect">
            <a:avLst/>
          </a:prstGeom>
        </p:spPr>
      </p:pic>
      <p:sp>
        <p:nvSpPr>
          <p:cNvPr id="3" name="Shape 0">
            <a:extLst>
              <a:ext uri="{FF2B5EF4-FFF2-40B4-BE49-F238E27FC236}">
                <a16:creationId xmlns:a16="http://schemas.microsoft.com/office/drawing/2014/main" id="{68AD74E1-7A91-5DB5-04B8-A324F9CFB4DE}"/>
              </a:ext>
            </a:extLst>
          </p:cNvPr>
          <p:cNvSpPr/>
          <p:nvPr/>
        </p:nvSpPr>
        <p:spPr>
          <a:xfrm>
            <a:off x="0" y="0"/>
            <a:ext cx="12191695" cy="6858000"/>
          </a:xfrm>
          <a:prstGeom prst="rect">
            <a:avLst/>
          </a:prstGeom>
          <a:solidFill>
            <a:srgbClr val="08172F">
              <a:alpha val="50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E7F31E69-BEDB-61D0-2708-0995E040A9AA}"/>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a:extLst>
              <a:ext uri="{FF2B5EF4-FFF2-40B4-BE49-F238E27FC236}">
                <a16:creationId xmlns:a16="http://schemas.microsoft.com/office/drawing/2014/main" id="{CFE6B0E7-3B35-CC39-6D09-15E81872B290}"/>
              </a:ext>
            </a:extLst>
          </p:cNvPr>
          <p:cNvSpPr/>
          <p:nvPr/>
        </p:nvSpPr>
        <p:spPr>
          <a:xfrm>
            <a:off x="658368" y="438912"/>
            <a:ext cx="8961120" cy="475488"/>
          </a:xfrm>
          <a:prstGeom prst="rect">
            <a:avLst/>
          </a:prstGeom>
          <a:noFill/>
          <a:ln/>
        </p:spPr>
        <p:txBody>
          <a:bodyPr wrap="square" lIns="0" tIns="0" rIns="0" bIns="0" rtlCol="0" anchor="ctr"/>
          <a:lstStyle/>
          <a:p>
            <a:r>
              <a:rPr lang="en-US" sz="2800" b="1" dirty="0">
                <a:solidFill>
                  <a:srgbClr val="F7FAFC"/>
                </a:solidFill>
                <a:latin typeface="Aptos Display" pitchFamily="34" charset="0"/>
              </a:rPr>
              <a:t>Group activity 2</a:t>
            </a:r>
            <a:endParaRPr lang="en-US" sz="2800" dirty="0"/>
          </a:p>
        </p:txBody>
      </p:sp>
      <p:sp>
        <p:nvSpPr>
          <p:cNvPr id="6" name="Shape 3">
            <a:extLst>
              <a:ext uri="{FF2B5EF4-FFF2-40B4-BE49-F238E27FC236}">
                <a16:creationId xmlns:a16="http://schemas.microsoft.com/office/drawing/2014/main" id="{DFCF2AE5-8232-99AD-0A08-14635835DDE1}"/>
              </a:ext>
            </a:extLst>
          </p:cNvPr>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a:extLst>
              <a:ext uri="{FF2B5EF4-FFF2-40B4-BE49-F238E27FC236}">
                <a16:creationId xmlns:a16="http://schemas.microsoft.com/office/drawing/2014/main" id="{DE960BBE-03AA-00A8-6F11-5F4B8C90F78F}"/>
              </a:ext>
            </a:extLst>
          </p:cNvPr>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a:extLst>
              <a:ext uri="{FF2B5EF4-FFF2-40B4-BE49-F238E27FC236}">
                <a16:creationId xmlns:a16="http://schemas.microsoft.com/office/drawing/2014/main" id="{2BA5BA64-20E9-5418-F858-3E984C2F01AC}"/>
              </a:ext>
            </a:extLst>
          </p:cNvPr>
          <p:cNvSpPr/>
          <p:nvPr/>
        </p:nvSpPr>
        <p:spPr>
          <a:xfrm>
            <a:off x="859536" y="1097280"/>
            <a:ext cx="5559552" cy="530352"/>
          </a:xfrm>
          <a:prstGeom prst="rect">
            <a:avLst/>
          </a:prstGeom>
          <a:noFill/>
          <a:ln/>
        </p:spPr>
        <p:txBody>
          <a:bodyPr wrap="square" lIns="0" tIns="0" rIns="0" bIns="0" rtlCol="0" anchor="ctr"/>
          <a:lstStyle/>
          <a:p>
            <a:pPr marL="0" indent="0" algn="ctr">
              <a:buNone/>
            </a:pPr>
            <a:endParaRPr lang="en-US" dirty="0"/>
          </a:p>
        </p:txBody>
      </p:sp>
      <p:sp>
        <p:nvSpPr>
          <p:cNvPr id="10" name="Shape 7">
            <a:extLst>
              <a:ext uri="{FF2B5EF4-FFF2-40B4-BE49-F238E27FC236}">
                <a16:creationId xmlns:a16="http://schemas.microsoft.com/office/drawing/2014/main" id="{AB32C1C4-7889-69C0-530C-475361E62B5A}"/>
              </a:ext>
            </a:extLst>
          </p:cNvPr>
          <p:cNvSpPr/>
          <p:nvPr/>
        </p:nvSpPr>
        <p:spPr>
          <a:xfrm>
            <a:off x="640080" y="1627632"/>
            <a:ext cx="9368444" cy="4315968"/>
          </a:xfrm>
          <a:prstGeom prst="roundRect">
            <a:avLst>
              <a:gd name="adj" fmla="val 2966"/>
            </a:avLst>
          </a:prstGeom>
          <a:solidFill>
            <a:srgbClr val="0A1A33">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a:extLst>
              <a:ext uri="{FF2B5EF4-FFF2-40B4-BE49-F238E27FC236}">
                <a16:creationId xmlns:a16="http://schemas.microsoft.com/office/drawing/2014/main" id="{89A092FF-97F1-A36C-F58A-8F73673DE18F}"/>
              </a:ext>
            </a:extLst>
          </p:cNvPr>
          <p:cNvSpPr/>
          <p:nvPr/>
        </p:nvSpPr>
        <p:spPr>
          <a:xfrm>
            <a:off x="868679" y="1627632"/>
            <a:ext cx="7927849" cy="3758184"/>
          </a:xfrm>
          <a:prstGeom prst="rect">
            <a:avLst/>
          </a:prstGeom>
          <a:noFill/>
          <a:ln/>
        </p:spPr>
        <p:txBody>
          <a:bodyPr wrap="square" lIns="1016" tIns="1016" rIns="1016" bIns="1016" rtlCol="0" anchor="t">
            <a:normAutofit/>
          </a:bodyPr>
          <a:lstStyle/>
          <a:p>
            <a:pPr>
              <a:lnSpc>
                <a:spcPct val="115000"/>
              </a:lnSpc>
              <a:buSzPct val="100000"/>
            </a:pPr>
            <a:r>
              <a:rPr lang="en-ZA" sz="2000" b="1" dirty="0">
                <a:solidFill>
                  <a:schemeClr val="bg2"/>
                </a:solidFill>
                <a:latin typeface="Aptos" pitchFamily="34" charset="0"/>
                <a:ea typeface="Aptos" pitchFamily="34" charset="-122"/>
                <a:cs typeface="Aptos" pitchFamily="34" charset="-120"/>
              </a:rPr>
              <a:t>3. Level Three: Plan a level three team-building event to enable the team members to establish a shared and common team objective.</a:t>
            </a:r>
          </a:p>
          <a:p>
            <a:pPr>
              <a:lnSpc>
                <a:spcPct val="115000"/>
              </a:lnSpc>
              <a:buSzPct val="100000"/>
            </a:pPr>
            <a:endParaRPr lang="en-ZA" sz="2000" b="1" dirty="0">
              <a:solidFill>
                <a:schemeClr val="bg2"/>
              </a:solidFill>
              <a:latin typeface="Aptos" pitchFamily="34" charset="0"/>
              <a:ea typeface="Aptos" pitchFamily="34" charset="-122"/>
              <a:cs typeface="Aptos" pitchFamily="34" charset="-120"/>
            </a:endParaRPr>
          </a:p>
          <a:p>
            <a:pPr>
              <a:lnSpc>
                <a:spcPct val="115000"/>
              </a:lnSpc>
              <a:buSzPct val="100000"/>
            </a:pPr>
            <a:r>
              <a:rPr lang="en-ZA" sz="2000" b="1" dirty="0">
                <a:solidFill>
                  <a:schemeClr val="bg2"/>
                </a:solidFill>
                <a:latin typeface="Aptos" pitchFamily="34" charset="0"/>
                <a:ea typeface="Aptos" pitchFamily="34" charset="-122"/>
                <a:cs typeface="Aptos" pitchFamily="34" charset="-120"/>
              </a:rPr>
              <a:t> 4. Level Four: Plan a level four team-building event to enable</a:t>
            </a:r>
          </a:p>
          <a:p>
            <a:pPr>
              <a:lnSpc>
                <a:spcPct val="115000"/>
              </a:lnSpc>
              <a:buSzPct val="100000"/>
            </a:pPr>
            <a:r>
              <a:rPr lang="en-ZA" sz="2000" b="1" dirty="0">
                <a:solidFill>
                  <a:schemeClr val="bg2"/>
                </a:solidFill>
                <a:latin typeface="Aptos" pitchFamily="34" charset="0"/>
                <a:ea typeface="Aptos" pitchFamily="34" charset="-122"/>
                <a:cs typeface="Aptos" pitchFamily="34" charset="-120"/>
              </a:rPr>
              <a:t>the team members to improve the team’s operating </a:t>
            </a:r>
            <a:r>
              <a:rPr lang="en-ZA" sz="2000" b="1" dirty="0" err="1">
                <a:solidFill>
                  <a:schemeClr val="bg2"/>
                </a:solidFill>
                <a:latin typeface="Aptos" pitchFamily="34" charset="0"/>
                <a:ea typeface="Aptos" pitchFamily="34" charset="-122"/>
                <a:cs typeface="Aptos" pitchFamily="34" charset="-120"/>
              </a:rPr>
              <a:t>effi</a:t>
            </a:r>
            <a:r>
              <a:rPr lang="en-ZA" sz="2000" b="1" dirty="0">
                <a:solidFill>
                  <a:schemeClr val="bg2"/>
                </a:solidFill>
                <a:latin typeface="Aptos" pitchFamily="34" charset="0"/>
                <a:ea typeface="Aptos" pitchFamily="34" charset="-122"/>
                <a:cs typeface="Aptos" pitchFamily="34" charset="-120"/>
              </a:rPr>
              <a:t> </a:t>
            </a:r>
            <a:r>
              <a:rPr lang="en-ZA" sz="2000" b="1" dirty="0" err="1">
                <a:solidFill>
                  <a:schemeClr val="bg2"/>
                </a:solidFill>
                <a:latin typeface="Aptos" pitchFamily="34" charset="0"/>
                <a:ea typeface="Aptos" pitchFamily="34" charset="-122"/>
                <a:cs typeface="Aptos" pitchFamily="34" charset="-120"/>
              </a:rPr>
              <a:t>ciency</a:t>
            </a:r>
            <a:r>
              <a:rPr lang="en-ZA" sz="2000" b="1" dirty="0">
                <a:solidFill>
                  <a:schemeClr val="bg2"/>
                </a:solidFill>
                <a:latin typeface="Aptos" pitchFamily="34" charset="0"/>
                <a:ea typeface="Aptos" pitchFamily="34" charset="-122"/>
                <a:cs typeface="Aptos" pitchFamily="34" charset="-120"/>
              </a:rPr>
              <a:t>.</a:t>
            </a:r>
            <a:endParaRPr lang="en-ZA" sz="2000" dirty="0">
              <a:solidFill>
                <a:schemeClr val="bg2"/>
              </a:solidFill>
              <a:latin typeface="Calibri" pitchFamily="34" charset="0"/>
              <a:ea typeface="Calibri" pitchFamily="34" charset="-122"/>
              <a:cs typeface="Calibri" pitchFamily="34" charset="-120"/>
            </a:endParaRPr>
          </a:p>
        </p:txBody>
      </p:sp>
      <p:sp>
        <p:nvSpPr>
          <p:cNvPr id="13" name="Text 10">
            <a:extLst>
              <a:ext uri="{FF2B5EF4-FFF2-40B4-BE49-F238E27FC236}">
                <a16:creationId xmlns:a16="http://schemas.microsoft.com/office/drawing/2014/main" id="{EB6988E5-DC9A-1A63-E16A-2DCB6C520B2E}"/>
              </a:ext>
            </a:extLst>
          </p:cNvPr>
          <p:cNvSpPr/>
          <p:nvPr/>
        </p:nvSpPr>
        <p:spPr>
          <a:xfrm>
            <a:off x="960120" y="3977640"/>
            <a:ext cx="219456" cy="237744"/>
          </a:xfrm>
          <a:prstGeom prst="rect">
            <a:avLst/>
          </a:prstGeom>
          <a:noFill/>
          <a:ln/>
        </p:spPr>
        <p:txBody>
          <a:bodyPr wrap="square" lIns="0" tIns="0" rIns="0" bIns="0" rtlCol="0" anchor="ctr"/>
          <a:lstStyle/>
          <a:p>
            <a:pPr marL="0" indent="0">
              <a:buNone/>
            </a:pPr>
            <a:endParaRPr lang="en-US" sz="2000" dirty="0"/>
          </a:p>
        </p:txBody>
      </p:sp>
      <p:sp>
        <p:nvSpPr>
          <p:cNvPr id="16" name="Text 13">
            <a:extLst>
              <a:ext uri="{FF2B5EF4-FFF2-40B4-BE49-F238E27FC236}">
                <a16:creationId xmlns:a16="http://schemas.microsoft.com/office/drawing/2014/main" id="{3BEE785C-CEA0-00C5-77CF-236D8D0CC50D}"/>
              </a:ext>
            </a:extLst>
          </p:cNvPr>
          <p:cNvSpPr/>
          <p:nvPr/>
        </p:nvSpPr>
        <p:spPr>
          <a:xfrm>
            <a:off x="6419088" y="1938528"/>
            <a:ext cx="2377440" cy="256032"/>
          </a:xfrm>
          <a:prstGeom prst="rect">
            <a:avLst/>
          </a:prstGeom>
          <a:noFill/>
          <a:ln/>
        </p:spPr>
        <p:txBody>
          <a:bodyPr wrap="square" lIns="0" tIns="0" rIns="0" bIns="0" rtlCol="0" anchor="ctr"/>
          <a:lstStyle/>
          <a:p>
            <a:pPr marL="0" indent="0">
              <a:buNone/>
            </a:pPr>
            <a:endParaRPr lang="en-US" sz="1600" dirty="0"/>
          </a:p>
        </p:txBody>
      </p:sp>
      <p:sp>
        <p:nvSpPr>
          <p:cNvPr id="17" name="Text 14">
            <a:extLst>
              <a:ext uri="{FF2B5EF4-FFF2-40B4-BE49-F238E27FC236}">
                <a16:creationId xmlns:a16="http://schemas.microsoft.com/office/drawing/2014/main" id="{BF12C769-67CB-746F-2379-F4D5884FA82D}"/>
              </a:ext>
            </a:extLst>
          </p:cNvPr>
          <p:cNvSpPr/>
          <p:nvPr/>
        </p:nvSpPr>
        <p:spPr>
          <a:xfrm>
            <a:off x="6382512" y="2267712"/>
            <a:ext cx="4736592" cy="1828800"/>
          </a:xfrm>
          <a:prstGeom prst="rect">
            <a:avLst/>
          </a:prstGeom>
          <a:noFill/>
          <a:ln/>
        </p:spPr>
        <p:txBody>
          <a:bodyPr wrap="square" lIns="1016" tIns="1016" rIns="1016" bIns="1016" rtlCol="0" anchor="t">
            <a:normAutofit/>
          </a:bodyPr>
          <a:lstStyle/>
          <a:p>
            <a:pPr marL="152400" indent="-152400">
              <a:buSzPct val="100000"/>
              <a:buChar char="•"/>
            </a:pPr>
            <a:endParaRPr lang="en-US" sz="1800" dirty="0"/>
          </a:p>
        </p:txBody>
      </p:sp>
      <p:sp>
        <p:nvSpPr>
          <p:cNvPr id="18" name="Text 15">
            <a:extLst>
              <a:ext uri="{FF2B5EF4-FFF2-40B4-BE49-F238E27FC236}">
                <a16:creationId xmlns:a16="http://schemas.microsoft.com/office/drawing/2014/main" id="{04DF2C01-D961-EDC9-427A-E26C731F1E19}"/>
              </a:ext>
            </a:extLst>
          </p:cNvPr>
          <p:cNvSpPr/>
          <p:nvPr/>
        </p:nvSpPr>
        <p:spPr>
          <a:xfrm>
            <a:off x="6419088" y="4535424"/>
            <a:ext cx="1920240" cy="219456"/>
          </a:xfrm>
          <a:prstGeom prst="rect">
            <a:avLst/>
          </a:prstGeom>
          <a:noFill/>
          <a:ln/>
        </p:spPr>
        <p:txBody>
          <a:bodyPr wrap="square" lIns="0" tIns="0" rIns="0" bIns="0" rtlCol="0" anchor="ctr"/>
          <a:lstStyle/>
          <a:p>
            <a:pPr marL="0" indent="0">
              <a:buNone/>
            </a:pPr>
            <a:endParaRPr lang="en-US" sz="1550" dirty="0"/>
          </a:p>
        </p:txBody>
      </p:sp>
      <p:sp>
        <p:nvSpPr>
          <p:cNvPr id="19" name="Text 16">
            <a:extLst>
              <a:ext uri="{FF2B5EF4-FFF2-40B4-BE49-F238E27FC236}">
                <a16:creationId xmlns:a16="http://schemas.microsoft.com/office/drawing/2014/main" id="{927CEC70-DFA7-33C8-2C45-401DC08B276F}"/>
              </a:ext>
            </a:extLst>
          </p:cNvPr>
          <p:cNvSpPr/>
          <p:nvPr/>
        </p:nvSpPr>
        <p:spPr>
          <a:xfrm>
            <a:off x="6419088" y="4800600"/>
            <a:ext cx="4389120" cy="585216"/>
          </a:xfrm>
          <a:prstGeom prst="rect">
            <a:avLst/>
          </a:prstGeom>
          <a:noFill/>
          <a:ln/>
        </p:spPr>
        <p:txBody>
          <a:bodyPr wrap="square" lIns="254" tIns="254" rIns="254" bIns="254" rtlCol="0" anchor="ctr">
            <a:normAutofit/>
          </a:bodyPr>
          <a:lstStyle/>
          <a:p>
            <a:pPr marL="0" indent="0">
              <a:buNone/>
            </a:pPr>
            <a:endParaRPr lang="en-US" sz="2200" dirty="0"/>
          </a:p>
        </p:txBody>
      </p:sp>
      <p:sp>
        <p:nvSpPr>
          <p:cNvPr id="20" name="Text 17">
            <a:extLst>
              <a:ext uri="{FF2B5EF4-FFF2-40B4-BE49-F238E27FC236}">
                <a16:creationId xmlns:a16="http://schemas.microsoft.com/office/drawing/2014/main" id="{430CE74E-4293-A939-7D6D-8C43D7C19FD0}"/>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1" name="Text 18">
            <a:extLst>
              <a:ext uri="{FF2B5EF4-FFF2-40B4-BE49-F238E27FC236}">
                <a16:creationId xmlns:a16="http://schemas.microsoft.com/office/drawing/2014/main" id="{E7618F25-4E55-B16A-B4B0-7794926670E9}"/>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2</a:t>
            </a:r>
            <a:endParaRPr lang="en-US" sz="1000" dirty="0"/>
          </a:p>
        </p:txBody>
      </p:sp>
    </p:spTree>
    <p:extLst>
      <p:ext uri="{BB962C8B-B14F-4D97-AF65-F5344CB8AC3E}">
        <p14:creationId xmlns:p14="http://schemas.microsoft.com/office/powerpoint/2010/main" val="2585185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outdoor_adventure.jpg"/>
          <p:cNvPicPr>
            <a:picLocks noChangeAspect="1"/>
          </p:cNvPicPr>
          <p:nvPr/>
        </p:nvPicPr>
        <p:blipFill>
          <a:blip r:embed="rId3"/>
          <a:srcRect t="12499" b="12499"/>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68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822960" y="868680"/>
            <a:ext cx="3474720" cy="320040"/>
          </a:xfrm>
          <a:prstGeom prst="rect">
            <a:avLst/>
          </a:prstGeom>
          <a:noFill/>
          <a:ln/>
        </p:spPr>
        <p:txBody>
          <a:bodyPr wrap="square" lIns="0" tIns="0" rIns="0" bIns="0" rtlCol="0" anchor="ctr"/>
          <a:lstStyle/>
          <a:p>
            <a:pPr marL="0" indent="0">
              <a:buNone/>
            </a:pPr>
            <a:r>
              <a:rPr lang="en-US" sz="1700" b="1" dirty="0">
                <a:solidFill>
                  <a:srgbClr val="F6C453"/>
                </a:solidFill>
              </a:rPr>
              <a:t>6. Outdoor Team Building</a:t>
            </a:r>
            <a:endParaRPr lang="en-US" sz="1700" dirty="0"/>
          </a:p>
        </p:txBody>
      </p:sp>
      <p:sp>
        <p:nvSpPr>
          <p:cNvPr id="6" name="Text 3"/>
          <p:cNvSpPr/>
          <p:nvPr/>
        </p:nvSpPr>
        <p:spPr>
          <a:xfrm>
            <a:off x="786384" y="1280160"/>
            <a:ext cx="4846320" cy="105156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Why management</a:t>
            </a:r>
            <a:endParaRPr lang="en-US" sz="3000" dirty="0"/>
          </a:p>
          <a:p>
            <a:pPr marL="0" indent="0">
              <a:buNone/>
            </a:pPr>
            <a:r>
              <a:rPr lang="en-US" sz="3000" b="1" dirty="0">
                <a:solidFill>
                  <a:srgbClr val="F8FAFC"/>
                </a:solidFill>
                <a:latin typeface="Aptos Display" pitchFamily="34" charset="0"/>
                <a:ea typeface="Aptos Display" pitchFamily="34" charset="-122"/>
                <a:cs typeface="Aptos Display" pitchFamily="34" charset="-120"/>
              </a:rPr>
              <a:t>team building?</a:t>
            </a:r>
            <a:endParaRPr lang="en-US" sz="3000" dirty="0"/>
          </a:p>
        </p:txBody>
      </p:sp>
      <p:sp>
        <p:nvSpPr>
          <p:cNvPr id="7" name="Text 4"/>
          <p:cNvSpPr/>
          <p:nvPr/>
        </p:nvSpPr>
        <p:spPr>
          <a:xfrm>
            <a:off x="841248" y="2697480"/>
            <a:ext cx="4754880" cy="768096"/>
          </a:xfrm>
          <a:prstGeom prst="rect">
            <a:avLst/>
          </a:prstGeom>
          <a:noFill/>
          <a:ln/>
        </p:spPr>
        <p:txBody>
          <a:bodyPr wrap="square" lIns="254" tIns="254" rIns="254" bIns="254" rtlCol="0" anchor="ctr">
            <a:normAutofit fontScale="85000" lnSpcReduction="20000"/>
          </a:bodyPr>
          <a:lstStyle/>
          <a:p>
            <a:pPr marL="0" indent="0">
              <a:buNone/>
            </a:pPr>
            <a:r>
              <a:rPr lang="en-US" sz="1820" dirty="0">
                <a:solidFill>
                  <a:srgbClr val="E2E8F0"/>
                </a:solidFill>
              </a:rPr>
              <a:t>The outdoor environment provides adventurous activities for management team building—and, when combined with management education, personal interaction, rest and relaxation, it offers the best of all worlds.</a:t>
            </a:r>
            <a:endParaRPr lang="en-US" sz="1820" dirty="0"/>
          </a:p>
        </p:txBody>
      </p:sp>
      <p:sp>
        <p:nvSpPr>
          <p:cNvPr id="8" name="Shape 5"/>
          <p:cNvSpPr/>
          <p:nvPr/>
        </p:nvSpPr>
        <p:spPr>
          <a:xfrm>
            <a:off x="6080760" y="1051560"/>
            <a:ext cx="5394960" cy="5074920"/>
          </a:xfrm>
          <a:prstGeom prst="roundRect">
            <a:avLst>
              <a:gd name="adj" fmla="val 2523"/>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9" name="Text 6"/>
          <p:cNvSpPr/>
          <p:nvPr/>
        </p:nvSpPr>
        <p:spPr>
          <a:xfrm>
            <a:off x="6382512" y="1508760"/>
            <a:ext cx="2926080" cy="237744"/>
          </a:xfrm>
          <a:prstGeom prst="rect">
            <a:avLst/>
          </a:prstGeom>
          <a:noFill/>
          <a:ln/>
        </p:spPr>
        <p:txBody>
          <a:bodyPr wrap="square" lIns="0" tIns="0" rIns="0" bIns="0" rtlCol="0" anchor="ctr"/>
          <a:lstStyle/>
          <a:p>
            <a:pPr marL="0" indent="0">
              <a:buNone/>
            </a:pPr>
            <a:r>
              <a:rPr lang="en-US" sz="1600" b="1" dirty="0">
                <a:solidFill>
                  <a:srgbClr val="2DD4BF"/>
                </a:solidFill>
              </a:rPr>
              <a:t>Military comparison</a:t>
            </a:r>
            <a:endParaRPr lang="en-US" sz="1600" dirty="0"/>
          </a:p>
        </p:txBody>
      </p:sp>
      <p:sp>
        <p:nvSpPr>
          <p:cNvPr id="10" name="Text 7"/>
          <p:cNvSpPr/>
          <p:nvPr/>
        </p:nvSpPr>
        <p:spPr>
          <a:xfrm>
            <a:off x="6345936" y="1865376"/>
            <a:ext cx="4572000" cy="1417320"/>
          </a:xfrm>
          <a:prstGeom prst="rect">
            <a:avLst/>
          </a:prstGeom>
          <a:noFill/>
          <a:ln/>
        </p:spPr>
        <p:txBody>
          <a:bodyPr wrap="square" lIns="1016" tIns="1016" rIns="1016" bIns="1016" rtlCol="0" anchor="t">
            <a:normAutofit/>
          </a:bodyPr>
          <a:lstStyle/>
          <a:p>
            <a:pPr marL="152400" indent="-152400">
              <a:buSzPct val="100000"/>
              <a:buChar char="•"/>
            </a:pPr>
            <a:r>
              <a:rPr lang="en-US" sz="1750" dirty="0">
                <a:solidFill>
                  <a:srgbClr val="F8FAFC"/>
                </a:solidFill>
                <a:latin typeface="Aptos" pitchFamily="34" charset="0"/>
                <a:ea typeface="Aptos" pitchFamily="34" charset="-122"/>
                <a:cs typeface="Aptos" pitchFamily="34" charset="-120"/>
              </a:rPr>
              <a:t>Before action, soldiers have already been through shared experiences together—cold, wet, hungry and exhausted.</a:t>
            </a:r>
            <a:endParaRPr lang="en-US" sz="1750" dirty="0"/>
          </a:p>
          <a:p>
            <a:pPr marL="152400" indent="-152400">
              <a:buSzPct val="100000"/>
              <a:buChar char="•"/>
            </a:pPr>
            <a:r>
              <a:rPr lang="en-US" sz="1750" dirty="0">
                <a:solidFill>
                  <a:srgbClr val="F8FAFC"/>
                </a:solidFill>
                <a:latin typeface="Aptos" pitchFamily="34" charset="0"/>
                <a:ea typeface="Aptos" pitchFamily="34" charset="-122"/>
                <a:cs typeface="Aptos" pitchFamily="34" charset="-120"/>
              </a:rPr>
              <a:t>These shared experiences reinforce cooperation and teamwork.</a:t>
            </a:r>
            <a:endParaRPr lang="en-US" sz="1750" dirty="0"/>
          </a:p>
        </p:txBody>
      </p:sp>
      <p:sp>
        <p:nvSpPr>
          <p:cNvPr id="11" name="Text 8"/>
          <p:cNvSpPr/>
          <p:nvPr/>
        </p:nvSpPr>
        <p:spPr>
          <a:xfrm>
            <a:off x="6382512" y="3520440"/>
            <a:ext cx="2377440" cy="219456"/>
          </a:xfrm>
          <a:prstGeom prst="rect">
            <a:avLst/>
          </a:prstGeom>
          <a:noFill/>
          <a:ln/>
        </p:spPr>
        <p:txBody>
          <a:bodyPr wrap="square" lIns="0" tIns="0" rIns="0" bIns="0" rtlCol="0" anchor="ctr"/>
          <a:lstStyle/>
          <a:p>
            <a:pPr marL="0" indent="0">
              <a:buNone/>
            </a:pPr>
            <a:r>
              <a:rPr lang="en-US" sz="1600" b="1" dirty="0">
                <a:solidFill>
                  <a:srgbClr val="F6C453"/>
                </a:solidFill>
              </a:rPr>
              <a:t>Industry and commerce contrast</a:t>
            </a:r>
            <a:endParaRPr lang="en-US" sz="1600" dirty="0"/>
          </a:p>
        </p:txBody>
      </p:sp>
      <p:sp>
        <p:nvSpPr>
          <p:cNvPr id="12" name="Text 9"/>
          <p:cNvSpPr/>
          <p:nvPr/>
        </p:nvSpPr>
        <p:spPr>
          <a:xfrm>
            <a:off x="6345936" y="3858768"/>
            <a:ext cx="4526280" cy="1828800"/>
          </a:xfrm>
          <a:prstGeom prst="rect">
            <a:avLst/>
          </a:prstGeom>
          <a:noFill/>
          <a:ln/>
        </p:spPr>
        <p:txBody>
          <a:bodyPr wrap="square" lIns="1016" tIns="1016" rIns="1016" bIns="1016" rtlCol="0" anchor="t">
            <a:normAutofit fontScale="92500" lnSpcReduction="10000"/>
          </a:bodyPr>
          <a:lstStyle/>
          <a:p>
            <a:pPr marL="152400" indent="-152400">
              <a:buSzPct val="100000"/>
              <a:buChar char="•"/>
            </a:pPr>
            <a:r>
              <a:rPr lang="en-US" sz="1750" dirty="0">
                <a:solidFill>
                  <a:srgbClr val="F8FAFC"/>
                </a:solidFill>
                <a:latin typeface="Aptos" pitchFamily="34" charset="0"/>
                <a:ea typeface="Aptos" pitchFamily="34" charset="-122"/>
                <a:cs typeface="Aptos" pitchFamily="34" charset="-120"/>
              </a:rPr>
              <a:t>Industry often conducts team building on the job, after the work or project has already started.</a:t>
            </a:r>
            <a:endParaRPr lang="en-US" sz="1750" dirty="0"/>
          </a:p>
          <a:p>
            <a:pPr marL="152400" indent="-152400">
              <a:buSzPct val="100000"/>
              <a:buChar char="•"/>
            </a:pPr>
            <a:r>
              <a:rPr lang="en-US" sz="1750" dirty="0">
                <a:solidFill>
                  <a:srgbClr val="F8FAFC"/>
                </a:solidFill>
                <a:latin typeface="Aptos" pitchFamily="34" charset="0"/>
                <a:ea typeface="Aptos" pitchFamily="34" charset="-122"/>
                <a:cs typeface="Aptos" pitchFamily="34" charset="-120"/>
              </a:rPr>
              <a:t>That creates risk: poor interaction, interpersonal conflict, poor problem solving, poor decision making and poor teamwork all carry a cost to the company.</a:t>
            </a:r>
            <a:endParaRPr lang="en-US" sz="1750" dirty="0"/>
          </a:p>
          <a:p>
            <a:pPr marL="152400" indent="-152400">
              <a:buSzPct val="100000"/>
              <a:buChar char="•"/>
            </a:pPr>
            <a:r>
              <a:rPr lang="en-US" sz="1750" dirty="0">
                <a:solidFill>
                  <a:srgbClr val="F8FAFC"/>
                </a:solidFill>
                <a:latin typeface="Aptos" pitchFamily="34" charset="0"/>
                <a:ea typeface="Aptos" pitchFamily="34" charset="-122"/>
                <a:cs typeface="Aptos" pitchFamily="34" charset="-120"/>
              </a:rPr>
              <a:t>Outdoor team building is presented as one way to fast-track the team-building process.</a:t>
            </a:r>
            <a:endParaRPr lang="en-US" sz="1750" dirty="0"/>
          </a:p>
        </p:txBody>
      </p:sp>
      <p:sp>
        <p:nvSpPr>
          <p:cNvPr id="13" name="Text 10"/>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14" name="Text 11"/>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outdoor_adventure.jpg"/>
          <p:cNvPicPr>
            <a:picLocks noChangeAspect="1"/>
          </p:cNvPicPr>
          <p:nvPr/>
        </p:nvPicPr>
        <p:blipFill>
          <a:blip r:embed="rId3"/>
          <a:srcRect t="12499" b="12499"/>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56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6.2 Why outdoor team building?</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From theory to live interaction</a:t>
            </a:r>
            <a:endParaRPr lang="en-US" sz="1100" dirty="0"/>
          </a:p>
        </p:txBody>
      </p:sp>
      <p:sp>
        <p:nvSpPr>
          <p:cNvPr id="10" name="Shape 7"/>
          <p:cNvSpPr/>
          <p:nvPr/>
        </p:nvSpPr>
        <p:spPr>
          <a:xfrm>
            <a:off x="658368" y="1664208"/>
            <a:ext cx="5166360" cy="4553712"/>
          </a:xfrm>
          <a:prstGeom prst="roundRect">
            <a:avLst>
              <a:gd name="adj" fmla="val 2811"/>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914400" y="1938528"/>
            <a:ext cx="2560320" cy="219456"/>
          </a:xfrm>
          <a:prstGeom prst="rect">
            <a:avLst/>
          </a:prstGeom>
          <a:noFill/>
          <a:ln/>
        </p:spPr>
        <p:txBody>
          <a:bodyPr wrap="square" lIns="0" tIns="0" rIns="0" bIns="0" rtlCol="0" anchor="ctr"/>
          <a:lstStyle/>
          <a:p>
            <a:pPr marL="0" indent="0">
              <a:buNone/>
            </a:pPr>
            <a:r>
              <a:rPr lang="en-US" sz="1600" b="1" dirty="0">
                <a:solidFill>
                  <a:srgbClr val="F6C453"/>
                </a:solidFill>
              </a:rPr>
              <a:t>Traditional management training</a:t>
            </a:r>
            <a:endParaRPr lang="en-US" sz="1600" dirty="0"/>
          </a:p>
        </p:txBody>
      </p:sp>
      <p:sp>
        <p:nvSpPr>
          <p:cNvPr id="12" name="Text 9"/>
          <p:cNvSpPr/>
          <p:nvPr/>
        </p:nvSpPr>
        <p:spPr>
          <a:xfrm>
            <a:off x="896112" y="2249424"/>
            <a:ext cx="4526280" cy="1993392"/>
          </a:xfrm>
          <a:prstGeom prst="rect">
            <a:avLst/>
          </a:prstGeom>
          <a:noFill/>
          <a:ln/>
        </p:spPr>
        <p:txBody>
          <a:bodyPr wrap="square" lIns="1016" tIns="1016" rIns="1016" bIns="1016" rtlCol="0" anchor="t">
            <a:normAutofit lnSpcReduction="10000"/>
          </a:bodyPr>
          <a:lstStyle/>
          <a:p>
            <a:pPr marL="152400" indent="-152400">
              <a:buSzPct val="100000"/>
              <a:buChar char="•"/>
            </a:pPr>
            <a:r>
              <a:rPr lang="en-US" sz="1770" dirty="0">
                <a:solidFill>
                  <a:srgbClr val="F8FAFC"/>
                </a:solidFill>
                <a:latin typeface="Aptos" pitchFamily="34" charset="0"/>
                <a:ea typeface="Aptos" pitchFamily="34" charset="-122"/>
                <a:cs typeface="Aptos" pitchFamily="34" charset="-120"/>
              </a:rPr>
              <a:t>Lectures, reading, discussions, examples and assignments teach theory and knowledge.</a:t>
            </a:r>
            <a:endParaRPr lang="en-US" sz="1770" dirty="0"/>
          </a:p>
          <a:p>
            <a:pPr marL="152400" indent="-152400">
              <a:buSzPct val="100000"/>
              <a:buChar char="•"/>
            </a:pPr>
            <a:r>
              <a:rPr lang="en-US" sz="1770" dirty="0">
                <a:solidFill>
                  <a:srgbClr val="F8FAFC"/>
                </a:solidFill>
                <a:latin typeface="Aptos" pitchFamily="34" charset="0"/>
                <a:ea typeface="Aptos" pitchFamily="34" charset="-122"/>
                <a:cs typeface="Aptos" pitchFamily="34" charset="-120"/>
              </a:rPr>
              <a:t>Case studies improve conceptual thinking, problem solving and decision making.</a:t>
            </a:r>
            <a:endParaRPr lang="en-US" sz="1770" dirty="0"/>
          </a:p>
          <a:p>
            <a:pPr marL="152400" indent="-152400">
              <a:buSzPct val="100000"/>
              <a:buChar char="•"/>
            </a:pPr>
            <a:r>
              <a:rPr lang="en-US" sz="1770" dirty="0">
                <a:solidFill>
                  <a:srgbClr val="F8FAFC"/>
                </a:solidFill>
                <a:latin typeface="Aptos" pitchFamily="34" charset="0"/>
                <a:ea typeface="Aptos" pitchFamily="34" charset="-122"/>
                <a:cs typeface="Aptos" pitchFamily="34" charset="-120"/>
              </a:rPr>
              <a:t>But these methods fail to create a real-life dynamic situation: there is no live interaction and no real risk.</a:t>
            </a:r>
            <a:endParaRPr lang="en-US" sz="1770" dirty="0"/>
          </a:p>
        </p:txBody>
      </p:sp>
      <p:sp>
        <p:nvSpPr>
          <p:cNvPr id="13" name="Text 10"/>
          <p:cNvSpPr/>
          <p:nvPr/>
        </p:nvSpPr>
        <p:spPr>
          <a:xfrm>
            <a:off x="914400" y="4663440"/>
            <a:ext cx="2880360" cy="219456"/>
          </a:xfrm>
          <a:prstGeom prst="rect">
            <a:avLst/>
          </a:prstGeom>
          <a:noFill/>
          <a:ln/>
        </p:spPr>
        <p:txBody>
          <a:bodyPr wrap="square" lIns="0" tIns="0" rIns="0" bIns="0" rtlCol="0" anchor="ctr"/>
          <a:lstStyle/>
          <a:p>
            <a:pPr marL="0" indent="0">
              <a:buNone/>
            </a:pPr>
            <a:r>
              <a:rPr lang="en-US" sz="1550" b="1" dirty="0">
                <a:solidFill>
                  <a:srgbClr val="2DD4BF"/>
                </a:solidFill>
              </a:rPr>
              <a:t>Outdoor courses add what is missing</a:t>
            </a:r>
            <a:endParaRPr lang="en-US" sz="1550" dirty="0"/>
          </a:p>
        </p:txBody>
      </p:sp>
      <p:sp>
        <p:nvSpPr>
          <p:cNvPr id="14" name="Text 11"/>
          <p:cNvSpPr/>
          <p:nvPr/>
        </p:nvSpPr>
        <p:spPr>
          <a:xfrm>
            <a:off x="914400" y="4919472"/>
            <a:ext cx="4590288" cy="566928"/>
          </a:xfrm>
          <a:prstGeom prst="rect">
            <a:avLst/>
          </a:prstGeom>
          <a:noFill/>
          <a:ln/>
        </p:spPr>
        <p:txBody>
          <a:bodyPr wrap="square" lIns="254" tIns="254" rIns="254" bIns="254" rtlCol="0" anchor="ctr">
            <a:normAutofit fontScale="70000" lnSpcReduction="20000"/>
          </a:bodyPr>
          <a:lstStyle/>
          <a:p>
            <a:pPr marL="0" indent="0">
              <a:buNone/>
            </a:pPr>
            <a:endParaRPr lang="en-US" sz="1620" dirty="0">
              <a:solidFill>
                <a:srgbClr val="E2E8F0"/>
              </a:solidFill>
            </a:endParaRPr>
          </a:p>
          <a:p>
            <a:pPr marL="0" indent="0">
              <a:buNone/>
            </a:pPr>
            <a:r>
              <a:rPr lang="en-US" sz="1620" dirty="0">
                <a:solidFill>
                  <a:srgbClr val="E2E8F0"/>
                </a:solidFill>
              </a:rPr>
              <a:t>Outdoor pursuits become the training vehicle for real-life, interactive, problem-based learning with immediate feedback on performance.</a:t>
            </a:r>
            <a:endParaRPr lang="en-US" sz="1620" dirty="0"/>
          </a:p>
        </p:txBody>
      </p:sp>
      <p:sp>
        <p:nvSpPr>
          <p:cNvPr id="15" name="Shape 12"/>
          <p:cNvSpPr/>
          <p:nvPr/>
        </p:nvSpPr>
        <p:spPr>
          <a:xfrm>
            <a:off x="6053328" y="1664208"/>
            <a:ext cx="5440680" cy="4553712"/>
          </a:xfrm>
          <a:prstGeom prst="roundRect">
            <a:avLst>
              <a:gd name="adj" fmla="val 2811"/>
            </a:avLst>
          </a:prstGeom>
          <a:solidFill>
            <a:srgbClr val="102544">
              <a:alpha val="80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6" name="Text 13"/>
          <p:cNvSpPr/>
          <p:nvPr/>
        </p:nvSpPr>
        <p:spPr>
          <a:xfrm>
            <a:off x="6309360" y="1844594"/>
            <a:ext cx="4343400" cy="256032"/>
          </a:xfrm>
          <a:prstGeom prst="rect">
            <a:avLst/>
          </a:prstGeom>
          <a:noFill/>
          <a:ln/>
        </p:spPr>
        <p:txBody>
          <a:bodyPr wrap="square" lIns="0" tIns="0" rIns="0" bIns="0" rtlCol="0" anchor="ctr"/>
          <a:lstStyle/>
          <a:p>
            <a:pPr marL="0" indent="0">
              <a:buNone/>
            </a:pPr>
            <a:r>
              <a:rPr lang="en-US" sz="1600" b="1" dirty="0">
                <a:solidFill>
                  <a:srgbClr val="F6C453"/>
                </a:solidFill>
              </a:rPr>
              <a:t>Management skills can be tested and developed</a:t>
            </a:r>
            <a:endParaRPr lang="en-US" sz="1600" dirty="0"/>
          </a:p>
        </p:txBody>
      </p:sp>
      <p:sp>
        <p:nvSpPr>
          <p:cNvPr id="17" name="Shape 14"/>
          <p:cNvSpPr/>
          <p:nvPr/>
        </p:nvSpPr>
        <p:spPr>
          <a:xfrm>
            <a:off x="6309360" y="2267712"/>
            <a:ext cx="310896" cy="256032"/>
          </a:xfrm>
          <a:prstGeom prst="roundRect">
            <a:avLst>
              <a:gd name="adj" fmla="val 25000"/>
            </a:avLst>
          </a:prstGeom>
          <a:solidFill>
            <a:srgbClr val="F6C453"/>
          </a:solidFill>
          <a:ln w="12700">
            <a:solidFill>
              <a:srgbClr val="F6C453">
                <a:alpha val="0"/>
              </a:srgbClr>
            </a:solidFill>
            <a:prstDash val="solid"/>
          </a:ln>
        </p:spPr>
        <p:txBody>
          <a:bodyPr/>
          <a:lstStyle/>
          <a:p>
            <a:endParaRPr lang="en-ZA"/>
          </a:p>
        </p:txBody>
      </p:sp>
      <p:sp>
        <p:nvSpPr>
          <p:cNvPr id="18" name="Text 15"/>
          <p:cNvSpPr/>
          <p:nvPr/>
        </p:nvSpPr>
        <p:spPr>
          <a:xfrm>
            <a:off x="6711696" y="2258568"/>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Interaction and teamwork skills</a:t>
            </a:r>
            <a:endParaRPr lang="en-US" sz="1600" dirty="0"/>
          </a:p>
        </p:txBody>
      </p:sp>
      <p:sp>
        <p:nvSpPr>
          <p:cNvPr id="19" name="Shape 16"/>
          <p:cNvSpPr/>
          <p:nvPr/>
        </p:nvSpPr>
        <p:spPr>
          <a:xfrm>
            <a:off x="6309360" y="2715768"/>
            <a:ext cx="310896" cy="256032"/>
          </a:xfrm>
          <a:prstGeom prst="roundRect">
            <a:avLst>
              <a:gd name="adj" fmla="val 25000"/>
            </a:avLst>
          </a:prstGeom>
          <a:solidFill>
            <a:srgbClr val="2DD4BF"/>
          </a:solidFill>
          <a:ln w="12700">
            <a:solidFill>
              <a:srgbClr val="2DD4BF">
                <a:alpha val="0"/>
              </a:srgbClr>
            </a:solidFill>
            <a:prstDash val="solid"/>
          </a:ln>
        </p:spPr>
        <p:txBody>
          <a:bodyPr/>
          <a:lstStyle/>
          <a:p>
            <a:endParaRPr lang="en-ZA"/>
          </a:p>
        </p:txBody>
      </p:sp>
      <p:sp>
        <p:nvSpPr>
          <p:cNvPr id="20" name="Text 17"/>
          <p:cNvSpPr/>
          <p:nvPr/>
        </p:nvSpPr>
        <p:spPr>
          <a:xfrm>
            <a:off x="6711696" y="2706624"/>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Competitive skills</a:t>
            </a:r>
            <a:endParaRPr lang="en-US" sz="1600" dirty="0"/>
          </a:p>
        </p:txBody>
      </p:sp>
      <p:sp>
        <p:nvSpPr>
          <p:cNvPr id="21" name="Shape 18"/>
          <p:cNvSpPr/>
          <p:nvPr/>
        </p:nvSpPr>
        <p:spPr>
          <a:xfrm>
            <a:off x="6309360" y="3163824"/>
            <a:ext cx="310896" cy="256032"/>
          </a:xfrm>
          <a:prstGeom prst="roundRect">
            <a:avLst>
              <a:gd name="adj" fmla="val 25000"/>
            </a:avLst>
          </a:prstGeom>
          <a:solidFill>
            <a:srgbClr val="F6C453"/>
          </a:solidFill>
          <a:ln w="12700">
            <a:solidFill>
              <a:srgbClr val="F6C453">
                <a:alpha val="0"/>
              </a:srgbClr>
            </a:solidFill>
            <a:prstDash val="solid"/>
          </a:ln>
        </p:spPr>
        <p:txBody>
          <a:bodyPr/>
          <a:lstStyle/>
          <a:p>
            <a:endParaRPr lang="en-ZA"/>
          </a:p>
        </p:txBody>
      </p:sp>
      <p:sp>
        <p:nvSpPr>
          <p:cNvPr id="22" name="Text 19"/>
          <p:cNvSpPr/>
          <p:nvPr/>
        </p:nvSpPr>
        <p:spPr>
          <a:xfrm>
            <a:off x="6711696" y="3154680"/>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Problem-solving skills</a:t>
            </a:r>
            <a:endParaRPr lang="en-US" sz="1600" dirty="0"/>
          </a:p>
        </p:txBody>
      </p:sp>
      <p:sp>
        <p:nvSpPr>
          <p:cNvPr id="23" name="Shape 20"/>
          <p:cNvSpPr/>
          <p:nvPr/>
        </p:nvSpPr>
        <p:spPr>
          <a:xfrm>
            <a:off x="6309360" y="3611880"/>
            <a:ext cx="310896" cy="256032"/>
          </a:xfrm>
          <a:prstGeom prst="roundRect">
            <a:avLst>
              <a:gd name="adj" fmla="val 25000"/>
            </a:avLst>
          </a:prstGeom>
          <a:solidFill>
            <a:srgbClr val="2DD4BF"/>
          </a:solidFill>
          <a:ln w="12700">
            <a:solidFill>
              <a:srgbClr val="2DD4BF">
                <a:alpha val="0"/>
              </a:srgbClr>
            </a:solidFill>
            <a:prstDash val="solid"/>
          </a:ln>
        </p:spPr>
        <p:txBody>
          <a:bodyPr/>
          <a:lstStyle/>
          <a:p>
            <a:endParaRPr lang="en-ZA"/>
          </a:p>
        </p:txBody>
      </p:sp>
      <p:sp>
        <p:nvSpPr>
          <p:cNvPr id="24" name="Text 21"/>
          <p:cNvSpPr/>
          <p:nvPr/>
        </p:nvSpPr>
        <p:spPr>
          <a:xfrm>
            <a:off x="6711696" y="3602736"/>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Decision-making skills</a:t>
            </a:r>
            <a:endParaRPr lang="en-US" sz="1600" dirty="0"/>
          </a:p>
        </p:txBody>
      </p:sp>
      <p:sp>
        <p:nvSpPr>
          <p:cNvPr id="25" name="Shape 22"/>
          <p:cNvSpPr/>
          <p:nvPr/>
        </p:nvSpPr>
        <p:spPr>
          <a:xfrm>
            <a:off x="6309360" y="4059936"/>
            <a:ext cx="310896" cy="256032"/>
          </a:xfrm>
          <a:prstGeom prst="roundRect">
            <a:avLst>
              <a:gd name="adj" fmla="val 25000"/>
            </a:avLst>
          </a:prstGeom>
          <a:solidFill>
            <a:srgbClr val="F6C453"/>
          </a:solidFill>
          <a:ln w="12700">
            <a:solidFill>
              <a:srgbClr val="F6C453">
                <a:alpha val="0"/>
              </a:srgbClr>
            </a:solidFill>
            <a:prstDash val="solid"/>
          </a:ln>
        </p:spPr>
        <p:txBody>
          <a:bodyPr/>
          <a:lstStyle/>
          <a:p>
            <a:endParaRPr lang="en-ZA"/>
          </a:p>
        </p:txBody>
      </p:sp>
      <p:sp>
        <p:nvSpPr>
          <p:cNvPr id="26" name="Text 23"/>
          <p:cNvSpPr/>
          <p:nvPr/>
        </p:nvSpPr>
        <p:spPr>
          <a:xfrm>
            <a:off x="6711696" y="4050792"/>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Communication skills</a:t>
            </a:r>
            <a:endParaRPr lang="en-US" sz="1600" dirty="0"/>
          </a:p>
        </p:txBody>
      </p:sp>
      <p:sp>
        <p:nvSpPr>
          <p:cNvPr id="27" name="Shape 24"/>
          <p:cNvSpPr/>
          <p:nvPr/>
        </p:nvSpPr>
        <p:spPr>
          <a:xfrm>
            <a:off x="6309360" y="4507992"/>
            <a:ext cx="310896" cy="256032"/>
          </a:xfrm>
          <a:prstGeom prst="roundRect">
            <a:avLst>
              <a:gd name="adj" fmla="val 25000"/>
            </a:avLst>
          </a:prstGeom>
          <a:solidFill>
            <a:srgbClr val="2DD4BF"/>
          </a:solidFill>
          <a:ln w="12700">
            <a:solidFill>
              <a:srgbClr val="2DD4BF">
                <a:alpha val="0"/>
              </a:srgbClr>
            </a:solidFill>
            <a:prstDash val="solid"/>
          </a:ln>
        </p:spPr>
        <p:txBody>
          <a:bodyPr/>
          <a:lstStyle/>
          <a:p>
            <a:endParaRPr lang="en-ZA"/>
          </a:p>
        </p:txBody>
      </p:sp>
      <p:sp>
        <p:nvSpPr>
          <p:cNvPr id="28" name="Text 25"/>
          <p:cNvSpPr/>
          <p:nvPr/>
        </p:nvSpPr>
        <p:spPr>
          <a:xfrm>
            <a:off x="6711696" y="4498848"/>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Leadership skills</a:t>
            </a:r>
            <a:endParaRPr lang="en-US" sz="1600" dirty="0"/>
          </a:p>
        </p:txBody>
      </p:sp>
      <p:sp>
        <p:nvSpPr>
          <p:cNvPr id="29" name="Shape 26"/>
          <p:cNvSpPr/>
          <p:nvPr/>
        </p:nvSpPr>
        <p:spPr>
          <a:xfrm>
            <a:off x="6309360" y="4956048"/>
            <a:ext cx="310896" cy="256032"/>
          </a:xfrm>
          <a:prstGeom prst="roundRect">
            <a:avLst>
              <a:gd name="adj" fmla="val 25000"/>
            </a:avLst>
          </a:prstGeom>
          <a:solidFill>
            <a:srgbClr val="F6C453"/>
          </a:solidFill>
          <a:ln w="12700">
            <a:solidFill>
              <a:srgbClr val="F6C453">
                <a:alpha val="0"/>
              </a:srgbClr>
            </a:solidFill>
            <a:prstDash val="solid"/>
          </a:ln>
        </p:spPr>
        <p:txBody>
          <a:bodyPr/>
          <a:lstStyle/>
          <a:p>
            <a:endParaRPr lang="en-ZA"/>
          </a:p>
        </p:txBody>
      </p:sp>
      <p:sp>
        <p:nvSpPr>
          <p:cNvPr id="30" name="Text 27"/>
          <p:cNvSpPr/>
          <p:nvPr/>
        </p:nvSpPr>
        <p:spPr>
          <a:xfrm>
            <a:off x="6711696" y="4946904"/>
            <a:ext cx="4160520" cy="274320"/>
          </a:xfrm>
          <a:prstGeom prst="rect">
            <a:avLst/>
          </a:prstGeom>
          <a:noFill/>
          <a:ln/>
        </p:spPr>
        <p:txBody>
          <a:bodyPr wrap="square" lIns="127" tIns="127" rIns="127" bIns="127" rtlCol="0" anchor="ctr">
            <a:normAutofit/>
          </a:bodyPr>
          <a:lstStyle/>
          <a:p>
            <a:pPr marL="0" indent="0">
              <a:buNone/>
            </a:pPr>
            <a:r>
              <a:rPr lang="en-US" sz="1600" dirty="0">
                <a:solidFill>
                  <a:srgbClr val="E2E8F0"/>
                </a:solidFill>
              </a:rPr>
              <a:t>Following skills</a:t>
            </a:r>
            <a:endParaRPr lang="en-US" sz="1600" dirty="0"/>
          </a:p>
        </p:txBody>
      </p:sp>
      <p:sp>
        <p:nvSpPr>
          <p:cNvPr id="31" name="Text 28"/>
          <p:cNvSpPr/>
          <p:nvPr/>
        </p:nvSpPr>
        <p:spPr>
          <a:xfrm>
            <a:off x="6309360" y="5504688"/>
            <a:ext cx="4572000" cy="420624"/>
          </a:xfrm>
          <a:prstGeom prst="rect">
            <a:avLst/>
          </a:prstGeom>
          <a:noFill/>
          <a:ln/>
        </p:spPr>
        <p:txBody>
          <a:bodyPr wrap="square" lIns="254" tIns="254" rIns="254" bIns="254" rtlCol="0" anchor="ctr">
            <a:normAutofit fontScale="77500" lnSpcReduction="20000"/>
          </a:bodyPr>
          <a:lstStyle/>
          <a:p>
            <a:pPr marL="0" indent="0">
              <a:buNone/>
            </a:pPr>
            <a:r>
              <a:rPr lang="en-US" sz="1480" dirty="0">
                <a:solidFill>
                  <a:srgbClr val="78E3FF"/>
                </a:solidFill>
              </a:rPr>
              <a:t>Settings listed in the chapter include the sea, mountains and game parks; activities mentioned include golf, sailing and mountaineering.</a:t>
            </a:r>
            <a:endParaRPr lang="en-US" sz="1480" dirty="0"/>
          </a:p>
        </p:txBody>
      </p:sp>
      <p:sp>
        <p:nvSpPr>
          <p:cNvPr id="32" name="Text 29"/>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33" name="Text 30"/>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outdoor_adventure.jpg"/>
          <p:cNvPicPr>
            <a:picLocks noChangeAspect="1"/>
          </p:cNvPicPr>
          <p:nvPr/>
        </p:nvPicPr>
        <p:blipFill>
          <a:blip r:embed="rId3"/>
          <a:srcRect t="12499" b="12499"/>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42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6.3 Outdoor action learning</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outdoor education vs. mere outdoor adventure</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Learning-by-doing</a:t>
            </a:r>
            <a:endParaRPr lang="en-US" sz="1100" dirty="0"/>
          </a:p>
        </p:txBody>
      </p:sp>
      <p:sp>
        <p:nvSpPr>
          <p:cNvPr id="10" name="Shape 7"/>
          <p:cNvSpPr/>
          <p:nvPr/>
        </p:nvSpPr>
        <p:spPr>
          <a:xfrm>
            <a:off x="658368" y="1664208"/>
            <a:ext cx="4160520" cy="4526280"/>
          </a:xfrm>
          <a:prstGeom prst="roundRect">
            <a:avLst>
              <a:gd name="adj" fmla="val 3077"/>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96112" y="1901952"/>
            <a:ext cx="3611880" cy="2834640"/>
          </a:xfrm>
          <a:prstGeom prst="rect">
            <a:avLst/>
          </a:prstGeom>
          <a:noFill/>
          <a:ln/>
        </p:spPr>
        <p:txBody>
          <a:bodyPr wrap="square" lIns="1016" tIns="1016" rIns="1016" bIns="1016" rtlCol="0" anchor="t">
            <a:normAutofit fontScale="92500" lnSpcReduction="20000"/>
          </a:bodyPr>
          <a:lstStyle/>
          <a:p>
            <a:pPr marL="152400" indent="-152400">
              <a:buSzPct val="100000"/>
              <a:buChar char="•"/>
            </a:pPr>
            <a:r>
              <a:rPr lang="en-US" sz="1760" dirty="0">
                <a:solidFill>
                  <a:srgbClr val="F8FAFC"/>
                </a:solidFill>
                <a:latin typeface="Aptos" pitchFamily="34" charset="0"/>
                <a:ea typeface="Aptos" pitchFamily="34" charset="-122"/>
                <a:cs typeface="Aptos" pitchFamily="34" charset="-120"/>
              </a:rPr>
              <a:t>For outdoor adventure to be educational, it must be part of an integrated program with frequent opportunities for reflection.</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This is what distinguishes outdoor adventure from outdoor education.</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The physical event should be secondary to the primary activity: learning about team building, leadership, communication and problem solving.</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Members must accept responsibility and accountability for instructions delegated to fellow team members.</a:t>
            </a:r>
            <a:endParaRPr lang="en-US" sz="1760" dirty="0"/>
          </a:p>
        </p:txBody>
      </p:sp>
      <p:sp>
        <p:nvSpPr>
          <p:cNvPr id="12" name="Shape 9"/>
          <p:cNvSpPr/>
          <p:nvPr/>
        </p:nvSpPr>
        <p:spPr>
          <a:xfrm>
            <a:off x="5102352" y="1664208"/>
            <a:ext cx="6473952" cy="4526280"/>
          </a:xfrm>
          <a:prstGeom prst="roundRect">
            <a:avLst>
              <a:gd name="adj" fmla="val 2828"/>
            </a:avLst>
          </a:prstGeom>
          <a:solidFill>
            <a:srgbClr val="102544">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3" name="Shape 10"/>
          <p:cNvSpPr/>
          <p:nvPr/>
        </p:nvSpPr>
        <p:spPr>
          <a:xfrm>
            <a:off x="8046720" y="3657600"/>
            <a:ext cx="868680" cy="0"/>
          </a:xfrm>
          <a:prstGeom prst="line">
            <a:avLst/>
          </a:prstGeom>
          <a:noFill/>
          <a:ln w="30480">
            <a:solidFill>
              <a:srgbClr val="78E3FF"/>
            </a:solidFill>
            <a:prstDash val="solid"/>
            <a:tailEnd type="triangle"/>
          </a:ln>
        </p:spPr>
        <p:txBody>
          <a:bodyPr/>
          <a:lstStyle/>
          <a:p>
            <a:endParaRPr lang="en-ZA"/>
          </a:p>
        </p:txBody>
      </p:sp>
      <p:sp>
        <p:nvSpPr>
          <p:cNvPr id="14" name="Shape 11"/>
          <p:cNvSpPr/>
          <p:nvPr/>
        </p:nvSpPr>
        <p:spPr>
          <a:xfrm>
            <a:off x="9692640" y="2743200"/>
            <a:ext cx="868680" cy="868680"/>
          </a:xfrm>
          <a:prstGeom prst="line">
            <a:avLst/>
          </a:prstGeom>
          <a:noFill/>
          <a:ln w="30480">
            <a:solidFill>
              <a:srgbClr val="78E3FF"/>
            </a:solidFill>
            <a:prstDash val="solid"/>
            <a:tailEnd type="triangle"/>
          </a:ln>
        </p:spPr>
        <p:txBody>
          <a:bodyPr/>
          <a:lstStyle/>
          <a:p>
            <a:endParaRPr lang="en-ZA"/>
          </a:p>
        </p:txBody>
      </p:sp>
      <p:sp>
        <p:nvSpPr>
          <p:cNvPr id="15" name="Shape 12"/>
          <p:cNvSpPr/>
          <p:nvPr/>
        </p:nvSpPr>
        <p:spPr>
          <a:xfrm>
            <a:off x="9738360" y="4297680"/>
            <a:ext cx="0" cy="685800"/>
          </a:xfrm>
          <a:prstGeom prst="line">
            <a:avLst/>
          </a:prstGeom>
          <a:noFill/>
          <a:ln w="30480">
            <a:solidFill>
              <a:srgbClr val="78E3FF"/>
            </a:solidFill>
            <a:prstDash val="solid"/>
            <a:tailEnd type="triangle"/>
          </a:ln>
        </p:spPr>
        <p:txBody>
          <a:bodyPr/>
          <a:lstStyle/>
          <a:p>
            <a:endParaRPr lang="en-ZA"/>
          </a:p>
        </p:txBody>
      </p:sp>
      <p:sp>
        <p:nvSpPr>
          <p:cNvPr id="16" name="Shape 13"/>
          <p:cNvSpPr/>
          <p:nvPr/>
        </p:nvSpPr>
        <p:spPr>
          <a:xfrm>
            <a:off x="8183880" y="4983480"/>
            <a:ext cx="0" cy="0"/>
          </a:xfrm>
          <a:prstGeom prst="line">
            <a:avLst/>
          </a:prstGeom>
          <a:noFill/>
          <a:ln w="30480">
            <a:solidFill>
              <a:srgbClr val="78E3FF"/>
            </a:solidFill>
            <a:prstDash val="solid"/>
            <a:tailEnd type="triangle"/>
          </a:ln>
        </p:spPr>
        <p:txBody>
          <a:bodyPr/>
          <a:lstStyle/>
          <a:p>
            <a:endParaRPr lang="en-ZA"/>
          </a:p>
        </p:txBody>
      </p:sp>
      <p:sp>
        <p:nvSpPr>
          <p:cNvPr id="17" name="Shape 14"/>
          <p:cNvSpPr/>
          <p:nvPr/>
        </p:nvSpPr>
        <p:spPr>
          <a:xfrm>
            <a:off x="6537960" y="3611880"/>
            <a:ext cx="1508760" cy="658368"/>
          </a:xfrm>
          <a:prstGeom prst="roundRect">
            <a:avLst>
              <a:gd name="adj" fmla="val 13889"/>
            </a:avLst>
          </a:prstGeom>
          <a:solidFill>
            <a:srgbClr val="0F2343">
              <a:alpha val="90000"/>
            </a:srgbClr>
          </a:solidFill>
          <a:ln w="22860">
            <a:solidFill>
              <a:srgbClr val="F6C453">
                <a:alpha val="90000"/>
              </a:srgbClr>
            </a:solidFill>
            <a:prstDash val="solid"/>
          </a:ln>
        </p:spPr>
        <p:txBody>
          <a:bodyPr/>
          <a:lstStyle/>
          <a:p>
            <a:endParaRPr lang="en-ZA"/>
          </a:p>
        </p:txBody>
      </p:sp>
      <p:sp>
        <p:nvSpPr>
          <p:cNvPr id="18" name="Text 15"/>
          <p:cNvSpPr/>
          <p:nvPr/>
        </p:nvSpPr>
        <p:spPr>
          <a:xfrm>
            <a:off x="6647688" y="3758184"/>
            <a:ext cx="1289304" cy="329184"/>
          </a:xfrm>
          <a:prstGeom prst="rect">
            <a:avLst/>
          </a:prstGeom>
          <a:noFill/>
          <a:ln/>
        </p:spPr>
        <p:txBody>
          <a:bodyPr wrap="square" lIns="0" tIns="0" rIns="0" bIns="0" rtlCol="0" anchor="ctr">
            <a:normAutofit fontScale="85000" lnSpcReduction="20000"/>
          </a:bodyPr>
          <a:lstStyle/>
          <a:p>
            <a:pPr marL="0" indent="0" algn="ctr">
              <a:buNone/>
            </a:pPr>
            <a:r>
              <a:rPr lang="en-US" sz="1560" b="1" dirty="0">
                <a:solidFill>
                  <a:srgbClr val="F8FAFC"/>
                </a:solidFill>
              </a:rPr>
              <a:t>Carry out</a:t>
            </a:r>
            <a:endParaRPr lang="en-US" sz="1560" dirty="0"/>
          </a:p>
          <a:p>
            <a:pPr marL="0" indent="0" algn="ctr">
              <a:buNone/>
            </a:pPr>
            <a:r>
              <a:rPr lang="en-US" sz="1560" b="1" dirty="0">
                <a:solidFill>
                  <a:srgbClr val="F8FAFC"/>
                </a:solidFill>
              </a:rPr>
              <a:t>a task</a:t>
            </a:r>
            <a:endParaRPr lang="en-US" sz="1560" dirty="0"/>
          </a:p>
        </p:txBody>
      </p:sp>
      <p:sp>
        <p:nvSpPr>
          <p:cNvPr id="19" name="Shape 16"/>
          <p:cNvSpPr/>
          <p:nvPr/>
        </p:nvSpPr>
        <p:spPr>
          <a:xfrm>
            <a:off x="8183880" y="2395728"/>
            <a:ext cx="1508760" cy="658368"/>
          </a:xfrm>
          <a:prstGeom prst="roundRect">
            <a:avLst>
              <a:gd name="adj" fmla="val 13889"/>
            </a:avLst>
          </a:prstGeom>
          <a:solidFill>
            <a:srgbClr val="0F2343">
              <a:alpha val="90000"/>
            </a:srgbClr>
          </a:solidFill>
          <a:ln w="22860">
            <a:solidFill>
              <a:srgbClr val="2DD4BF">
                <a:alpha val="90000"/>
              </a:srgbClr>
            </a:solidFill>
            <a:prstDash val="solid"/>
          </a:ln>
        </p:spPr>
        <p:txBody>
          <a:bodyPr/>
          <a:lstStyle/>
          <a:p>
            <a:endParaRPr lang="en-ZA"/>
          </a:p>
        </p:txBody>
      </p:sp>
      <p:sp>
        <p:nvSpPr>
          <p:cNvPr id="20" name="Text 17"/>
          <p:cNvSpPr/>
          <p:nvPr/>
        </p:nvSpPr>
        <p:spPr>
          <a:xfrm>
            <a:off x="8293608" y="2542032"/>
            <a:ext cx="1289304" cy="329184"/>
          </a:xfrm>
          <a:prstGeom prst="rect">
            <a:avLst/>
          </a:prstGeom>
          <a:noFill/>
          <a:ln/>
        </p:spPr>
        <p:txBody>
          <a:bodyPr wrap="square" lIns="0" tIns="0" rIns="0" bIns="0" rtlCol="0" anchor="ctr">
            <a:normAutofit/>
          </a:bodyPr>
          <a:lstStyle/>
          <a:p>
            <a:pPr marL="0" indent="0" algn="ctr">
              <a:buNone/>
            </a:pPr>
            <a:r>
              <a:rPr lang="en-US" sz="1560" b="1" dirty="0">
                <a:solidFill>
                  <a:srgbClr val="F8FAFC"/>
                </a:solidFill>
              </a:rPr>
              <a:t>Reflect</a:t>
            </a:r>
            <a:endParaRPr lang="en-US" sz="1560" dirty="0"/>
          </a:p>
        </p:txBody>
      </p:sp>
      <p:sp>
        <p:nvSpPr>
          <p:cNvPr id="21" name="Shape 18"/>
          <p:cNvSpPr/>
          <p:nvPr/>
        </p:nvSpPr>
        <p:spPr>
          <a:xfrm>
            <a:off x="9875520" y="3611880"/>
            <a:ext cx="1508760" cy="658368"/>
          </a:xfrm>
          <a:prstGeom prst="roundRect">
            <a:avLst>
              <a:gd name="adj" fmla="val 13889"/>
            </a:avLst>
          </a:prstGeom>
          <a:solidFill>
            <a:srgbClr val="0F2343">
              <a:alpha val="90000"/>
            </a:srgbClr>
          </a:solidFill>
          <a:ln w="22860">
            <a:solidFill>
              <a:srgbClr val="FF8C42">
                <a:alpha val="90000"/>
              </a:srgbClr>
            </a:solidFill>
            <a:prstDash val="solid"/>
          </a:ln>
        </p:spPr>
        <p:txBody>
          <a:bodyPr/>
          <a:lstStyle/>
          <a:p>
            <a:endParaRPr lang="en-ZA"/>
          </a:p>
        </p:txBody>
      </p:sp>
      <p:sp>
        <p:nvSpPr>
          <p:cNvPr id="22" name="Text 19"/>
          <p:cNvSpPr/>
          <p:nvPr/>
        </p:nvSpPr>
        <p:spPr>
          <a:xfrm>
            <a:off x="9985248" y="3758184"/>
            <a:ext cx="1289304" cy="329184"/>
          </a:xfrm>
          <a:prstGeom prst="rect">
            <a:avLst/>
          </a:prstGeom>
          <a:noFill/>
          <a:ln/>
        </p:spPr>
        <p:txBody>
          <a:bodyPr wrap="square" lIns="0" tIns="0" rIns="0" bIns="0" rtlCol="0" anchor="ctr">
            <a:normAutofit/>
          </a:bodyPr>
          <a:lstStyle/>
          <a:p>
            <a:pPr marL="0" indent="0" algn="ctr">
              <a:buNone/>
            </a:pPr>
            <a:r>
              <a:rPr lang="en-US" sz="1560" b="1" dirty="0">
                <a:solidFill>
                  <a:srgbClr val="F8FAFC"/>
                </a:solidFill>
              </a:rPr>
              <a:t>Discuss</a:t>
            </a:r>
            <a:endParaRPr lang="en-US" sz="1560" dirty="0"/>
          </a:p>
        </p:txBody>
      </p:sp>
      <p:sp>
        <p:nvSpPr>
          <p:cNvPr id="23" name="Shape 20"/>
          <p:cNvSpPr/>
          <p:nvPr/>
        </p:nvSpPr>
        <p:spPr>
          <a:xfrm>
            <a:off x="8183880" y="4681728"/>
            <a:ext cx="1508760" cy="658368"/>
          </a:xfrm>
          <a:prstGeom prst="roundRect">
            <a:avLst>
              <a:gd name="adj" fmla="val 13889"/>
            </a:avLst>
          </a:prstGeom>
          <a:solidFill>
            <a:srgbClr val="0F2343">
              <a:alpha val="90000"/>
            </a:srgbClr>
          </a:solidFill>
          <a:ln w="22860">
            <a:solidFill>
              <a:srgbClr val="A78BFA">
                <a:alpha val="90000"/>
              </a:srgbClr>
            </a:solidFill>
            <a:prstDash val="solid"/>
          </a:ln>
        </p:spPr>
        <p:txBody>
          <a:bodyPr/>
          <a:lstStyle/>
          <a:p>
            <a:endParaRPr lang="en-ZA"/>
          </a:p>
        </p:txBody>
      </p:sp>
      <p:sp>
        <p:nvSpPr>
          <p:cNvPr id="24" name="Text 21"/>
          <p:cNvSpPr/>
          <p:nvPr/>
        </p:nvSpPr>
        <p:spPr>
          <a:xfrm>
            <a:off x="8293608" y="4828032"/>
            <a:ext cx="1289304" cy="329184"/>
          </a:xfrm>
          <a:prstGeom prst="rect">
            <a:avLst/>
          </a:prstGeom>
          <a:noFill/>
          <a:ln/>
        </p:spPr>
        <p:txBody>
          <a:bodyPr wrap="square" lIns="0" tIns="0" rIns="0" bIns="0" rtlCol="0" anchor="ctr">
            <a:normAutofit fontScale="85000" lnSpcReduction="20000"/>
          </a:bodyPr>
          <a:lstStyle/>
          <a:p>
            <a:pPr marL="0" indent="0" algn="ctr">
              <a:buNone/>
            </a:pPr>
            <a:r>
              <a:rPr lang="en-US" sz="1560" b="1" dirty="0">
                <a:solidFill>
                  <a:srgbClr val="F8FAFC"/>
                </a:solidFill>
              </a:rPr>
              <a:t>Analyse &amp;</a:t>
            </a:r>
            <a:endParaRPr lang="en-US" sz="1560" dirty="0"/>
          </a:p>
          <a:p>
            <a:pPr marL="0" indent="0" algn="ctr">
              <a:buNone/>
            </a:pPr>
            <a:r>
              <a:rPr lang="en-US" sz="1560" b="1" dirty="0">
                <a:solidFill>
                  <a:srgbClr val="F8FAFC"/>
                </a:solidFill>
              </a:rPr>
              <a:t>evaluate</a:t>
            </a:r>
            <a:endParaRPr lang="en-US" sz="1560" dirty="0"/>
          </a:p>
        </p:txBody>
      </p:sp>
      <p:sp>
        <p:nvSpPr>
          <p:cNvPr id="25" name="Text 22"/>
          <p:cNvSpPr/>
          <p:nvPr/>
        </p:nvSpPr>
        <p:spPr>
          <a:xfrm>
            <a:off x="5650992" y="1810512"/>
            <a:ext cx="3840480" cy="201168"/>
          </a:xfrm>
          <a:prstGeom prst="rect">
            <a:avLst/>
          </a:prstGeom>
          <a:noFill/>
          <a:ln/>
        </p:spPr>
        <p:txBody>
          <a:bodyPr wrap="square" lIns="0" tIns="0" rIns="0" bIns="0" rtlCol="0" anchor="ctr"/>
          <a:lstStyle/>
          <a:p>
            <a:pPr marL="0" indent="0">
              <a:buNone/>
            </a:pPr>
            <a:r>
              <a:rPr lang="en-US" sz="1520" b="1" dirty="0">
                <a:solidFill>
                  <a:srgbClr val="F6C453"/>
                </a:solidFill>
              </a:rPr>
              <a:t>Most effective learning process described in the chapter</a:t>
            </a:r>
            <a:endParaRPr lang="en-US" sz="1520" dirty="0"/>
          </a:p>
        </p:txBody>
      </p:sp>
      <p:sp>
        <p:nvSpPr>
          <p:cNvPr id="26" name="Text 23"/>
          <p:cNvSpPr/>
          <p:nvPr/>
        </p:nvSpPr>
        <p:spPr>
          <a:xfrm>
            <a:off x="5669280" y="5486400"/>
            <a:ext cx="5257800" cy="402336"/>
          </a:xfrm>
          <a:prstGeom prst="rect">
            <a:avLst/>
          </a:prstGeom>
          <a:noFill/>
          <a:ln/>
        </p:spPr>
        <p:txBody>
          <a:bodyPr wrap="square" lIns="254" tIns="254" rIns="254" bIns="254" rtlCol="0" anchor="ctr">
            <a:normAutofit fontScale="62500" lnSpcReduction="20000"/>
          </a:bodyPr>
          <a:lstStyle/>
          <a:p>
            <a:pPr marL="0" indent="0" algn="ctr">
              <a:buNone/>
            </a:pPr>
            <a:r>
              <a:rPr lang="en-US" sz="1520" dirty="0">
                <a:solidFill>
                  <a:srgbClr val="E2E8F0"/>
                </a:solidFill>
              </a:rPr>
              <a:t>People seldom learn from experience unless they assess it and assign their own meaning. The chapter adds that people often learn more from mistakes than from successes.</a:t>
            </a:r>
            <a:endParaRPr lang="en-US" sz="1520" dirty="0"/>
          </a:p>
        </p:txBody>
      </p:sp>
      <p:sp>
        <p:nvSpPr>
          <p:cNvPr id="28" name="Text 25"/>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sailing_race.jpg"/>
          <p:cNvPicPr>
            <a:picLocks noChangeAspect="1"/>
          </p:cNvPicPr>
          <p:nvPr/>
        </p:nvPicPr>
        <p:blipFill>
          <a:blip r:embed="rId3"/>
          <a:srcRect t="12" b="12"/>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172F">
              <a:alpha val="64000"/>
            </a:srgbClr>
          </a:solidFill>
          <a:ln w="12700">
            <a:solidFill>
              <a:srgbClr val="08172F">
                <a:alpha val="0"/>
              </a:srgbClr>
            </a:solidFill>
            <a:prstDash val="solid"/>
          </a:ln>
        </p:spPr>
        <p:txBody>
          <a:bodyPr/>
          <a:lstStyle/>
          <a:p>
            <a:endParaRPr lang="en-ZA"/>
          </a:p>
        </p:txBody>
      </p:sp>
      <p:sp>
        <p:nvSpPr>
          <p:cNvPr id="4" name="Shape 1"/>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p:cNvSpPr/>
          <p:nvPr/>
        </p:nvSpPr>
        <p:spPr>
          <a:xfrm>
            <a:off x="658368" y="438912"/>
            <a:ext cx="8961120" cy="47548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6.4 Why go sailing?</a:t>
            </a:r>
            <a:endParaRPr lang="en-US" sz="2800" dirty="0"/>
          </a:p>
        </p:txBody>
      </p:sp>
      <p:sp>
        <p:nvSpPr>
          <p:cNvPr id="6" name="Shape 3"/>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p:cNvSpPr/>
          <p:nvPr/>
        </p:nvSpPr>
        <p:spPr>
          <a:xfrm>
            <a:off x="658368" y="932688"/>
            <a:ext cx="8961120" cy="274320"/>
          </a:xfrm>
          <a:prstGeom prst="rect">
            <a:avLst/>
          </a:prstGeom>
          <a:noFill/>
          <a:ln/>
        </p:spPr>
        <p:txBody>
          <a:bodyPr wrap="square" lIns="0" tIns="0" rIns="0" bIns="0" rtlCol="0" anchor="ctr"/>
          <a:lstStyle/>
          <a:p>
            <a:pPr marL="0" indent="0">
              <a:buNone/>
            </a:pPr>
            <a:r>
              <a:rPr lang="en-US" sz="1150" dirty="0">
                <a:solidFill>
                  <a:srgbClr val="78E3FF"/>
                </a:solidFill>
                <a:latin typeface="Aptos" pitchFamily="34" charset="0"/>
                <a:ea typeface="Aptos" pitchFamily="34" charset="-122"/>
                <a:cs typeface="Aptos" pitchFamily="34" charset="-120"/>
              </a:rPr>
              <a:t>Sailing as the chapter’s featured outdoor team-building vehicle</a:t>
            </a:r>
            <a:endParaRPr lang="en-US" sz="1150" dirty="0"/>
          </a:p>
        </p:txBody>
      </p:sp>
      <p:sp>
        <p:nvSpPr>
          <p:cNvPr id="8" name="Shape 5"/>
          <p:cNvSpPr/>
          <p:nvPr/>
        </p:nvSpPr>
        <p:spPr>
          <a:xfrm>
            <a:off x="713232" y="1216152"/>
            <a:ext cx="1920240" cy="310896"/>
          </a:xfrm>
          <a:prstGeom prst="roundRect">
            <a:avLst>
              <a:gd name="adj" fmla="val 41176"/>
            </a:avLst>
          </a:prstGeom>
          <a:solidFill>
            <a:srgbClr val="2F6FED">
              <a:alpha val="82000"/>
            </a:srgbClr>
          </a:solidFill>
          <a:ln w="12700">
            <a:solidFill>
              <a:srgbClr val="78E3FF">
                <a:alpha val="75000"/>
              </a:srgbClr>
            </a:solidFill>
            <a:prstDash val="solid"/>
          </a:ln>
        </p:spPr>
        <p:txBody>
          <a:bodyPr/>
          <a:lstStyle/>
          <a:p>
            <a:endParaRPr lang="en-ZA"/>
          </a:p>
        </p:txBody>
      </p:sp>
      <p:sp>
        <p:nvSpPr>
          <p:cNvPr id="9" name="Text 6"/>
          <p:cNvSpPr/>
          <p:nvPr/>
        </p:nvSpPr>
        <p:spPr>
          <a:xfrm>
            <a:off x="859536" y="1271016"/>
            <a:ext cx="1627632" cy="164592"/>
          </a:xfrm>
          <a:prstGeom prst="rect">
            <a:avLst/>
          </a:prstGeom>
          <a:noFill/>
          <a:ln/>
        </p:spPr>
        <p:txBody>
          <a:bodyPr wrap="square" lIns="0" tIns="0" rIns="0" bIns="0" rtlCol="0" anchor="ctr"/>
          <a:lstStyle/>
          <a:p>
            <a:pPr marL="0" indent="0" algn="ctr">
              <a:buNone/>
            </a:pPr>
            <a:r>
              <a:rPr lang="en-US" sz="1100" b="1" dirty="0">
                <a:solidFill>
                  <a:srgbClr val="F8FAFC"/>
                </a:solidFill>
              </a:rPr>
              <a:t>Applied outdoor environment</a:t>
            </a:r>
            <a:endParaRPr lang="en-US" sz="1100" dirty="0"/>
          </a:p>
        </p:txBody>
      </p:sp>
      <p:sp>
        <p:nvSpPr>
          <p:cNvPr id="10" name="Shape 7"/>
          <p:cNvSpPr/>
          <p:nvPr/>
        </p:nvSpPr>
        <p:spPr>
          <a:xfrm>
            <a:off x="658368" y="1664208"/>
            <a:ext cx="4663440" cy="4553712"/>
          </a:xfrm>
          <a:prstGeom prst="roundRect">
            <a:avLst>
              <a:gd name="adj" fmla="val 2811"/>
            </a:avLst>
          </a:prstGeom>
          <a:solidFill>
            <a:srgbClr val="0B1E3A">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p:cNvSpPr/>
          <p:nvPr/>
        </p:nvSpPr>
        <p:spPr>
          <a:xfrm>
            <a:off x="896112" y="1901952"/>
            <a:ext cx="4041648" cy="2286000"/>
          </a:xfrm>
          <a:prstGeom prst="rect">
            <a:avLst/>
          </a:prstGeom>
          <a:noFill/>
          <a:ln/>
        </p:spPr>
        <p:txBody>
          <a:bodyPr wrap="square" lIns="1016" tIns="1016" rIns="1016" bIns="1016" rtlCol="0" anchor="t">
            <a:normAutofit fontScale="92500" lnSpcReduction="10000"/>
          </a:bodyPr>
          <a:lstStyle/>
          <a:p>
            <a:pPr marL="152400" indent="-152400">
              <a:buSzPct val="100000"/>
              <a:buChar char="•"/>
            </a:pPr>
            <a:r>
              <a:rPr lang="en-US" sz="1770" dirty="0">
                <a:solidFill>
                  <a:srgbClr val="F8FAFC"/>
                </a:solidFill>
                <a:latin typeface="Aptos" pitchFamily="34" charset="0"/>
                <a:ea typeface="Aptos" pitchFamily="34" charset="-122"/>
                <a:cs typeface="Aptos" pitchFamily="34" charset="-120"/>
              </a:rPr>
              <a:t>Once the yacht leaves the dock, the crew is on its own and isolated; members cannot simply walk away when they have had enough.</a:t>
            </a:r>
            <a:endParaRPr lang="en-US" sz="1770" dirty="0"/>
          </a:p>
          <a:p>
            <a:pPr marL="152400" indent="-152400">
              <a:buSzPct val="100000"/>
              <a:buChar char="•"/>
            </a:pPr>
            <a:r>
              <a:rPr lang="en-US" sz="1770" dirty="0">
                <a:solidFill>
                  <a:srgbClr val="F8FAFC"/>
                </a:solidFill>
                <a:latin typeface="Aptos" pitchFamily="34" charset="0"/>
                <a:ea typeface="Aptos" pitchFamily="34" charset="-122"/>
                <a:cs typeface="Aptos" pitchFamily="34" charset="-120"/>
              </a:rPr>
              <a:t>The sense of apparent danger heightens awareness, and success or failure depends on the team’s own devices.</a:t>
            </a:r>
            <a:endParaRPr lang="en-US" sz="1770" dirty="0"/>
          </a:p>
          <a:p>
            <a:pPr marL="152400" indent="-152400">
              <a:buSzPct val="100000"/>
              <a:buChar char="•"/>
            </a:pPr>
            <a:r>
              <a:rPr lang="en-US" sz="1770" dirty="0">
                <a:solidFill>
                  <a:srgbClr val="F8FAFC"/>
                </a:solidFill>
                <a:latin typeface="Aptos" pitchFamily="34" charset="0"/>
                <a:ea typeface="Aptos" pitchFamily="34" charset="-122"/>
                <a:cs typeface="Aptos" pitchFamily="34" charset="-120"/>
              </a:rPr>
              <a:t>Sailing offers interaction and competition between teams, both of which are central features of team building.</a:t>
            </a:r>
            <a:endParaRPr lang="en-US" sz="1770" dirty="0"/>
          </a:p>
        </p:txBody>
      </p:sp>
      <p:sp>
        <p:nvSpPr>
          <p:cNvPr id="12" name="Text 9"/>
          <p:cNvSpPr/>
          <p:nvPr/>
        </p:nvSpPr>
        <p:spPr>
          <a:xfrm>
            <a:off x="896112" y="4572000"/>
            <a:ext cx="2011680" cy="219456"/>
          </a:xfrm>
          <a:prstGeom prst="rect">
            <a:avLst/>
          </a:prstGeom>
          <a:noFill/>
          <a:ln/>
        </p:spPr>
        <p:txBody>
          <a:bodyPr wrap="square" lIns="0" tIns="0" rIns="0" bIns="0" rtlCol="0" anchor="ctr"/>
          <a:lstStyle/>
          <a:p>
            <a:pPr marL="0" indent="0">
              <a:buNone/>
            </a:pPr>
            <a:r>
              <a:rPr lang="en-US" sz="1550" b="1" dirty="0">
                <a:solidFill>
                  <a:srgbClr val="F6C453"/>
                </a:solidFill>
              </a:rPr>
              <a:t>Examples</a:t>
            </a:r>
            <a:endParaRPr lang="en-US" sz="1550" dirty="0"/>
          </a:p>
        </p:txBody>
      </p:sp>
      <p:sp>
        <p:nvSpPr>
          <p:cNvPr id="13" name="Text 10"/>
          <p:cNvSpPr/>
          <p:nvPr/>
        </p:nvSpPr>
        <p:spPr>
          <a:xfrm>
            <a:off x="914400" y="4864608"/>
            <a:ext cx="2194560" cy="1051560"/>
          </a:xfrm>
          <a:prstGeom prst="rect">
            <a:avLst/>
          </a:prstGeom>
          <a:noFill/>
          <a:ln/>
        </p:spPr>
        <p:txBody>
          <a:bodyPr wrap="square" lIns="1016" tIns="1016" rIns="1016" bIns="1016" rtlCol="0" anchor="t">
            <a:normAutofit fontScale="85000" lnSpcReduction="20000"/>
          </a:bodyPr>
          <a:lstStyle/>
          <a:p>
            <a:pPr marL="152400" indent="-152400">
              <a:buSzPct val="100000"/>
              <a:buChar char="•"/>
            </a:pPr>
            <a:r>
              <a:rPr lang="en-US" sz="1620" dirty="0">
                <a:solidFill>
                  <a:srgbClr val="F8FAFC"/>
                </a:solidFill>
                <a:latin typeface="Aptos" pitchFamily="34" charset="0"/>
                <a:ea typeface="Aptos" pitchFamily="34" charset="-122"/>
                <a:cs typeface="Aptos" pitchFamily="34" charset="-120"/>
              </a:rPr>
              <a:t>Tacking</a:t>
            </a:r>
            <a:endParaRPr lang="en-US" sz="1620" dirty="0"/>
          </a:p>
          <a:p>
            <a:pPr marL="152400" indent="-152400">
              <a:buSzPct val="100000"/>
              <a:buChar char="•"/>
            </a:pPr>
            <a:r>
              <a:rPr lang="en-US" sz="1620" dirty="0">
                <a:solidFill>
                  <a:srgbClr val="F8FAFC"/>
                </a:solidFill>
                <a:latin typeface="Aptos" pitchFamily="34" charset="0"/>
                <a:ea typeface="Aptos" pitchFamily="34" charset="-122"/>
                <a:cs typeface="Aptos" pitchFamily="34" charset="-120"/>
              </a:rPr>
              <a:t>Sail changes</a:t>
            </a:r>
            <a:endParaRPr lang="en-US" sz="1620" dirty="0"/>
          </a:p>
          <a:p>
            <a:pPr marL="152400" indent="-152400">
              <a:buSzPct val="100000"/>
              <a:buChar char="•"/>
            </a:pPr>
            <a:r>
              <a:rPr lang="en-US" sz="1620" dirty="0">
                <a:solidFill>
                  <a:srgbClr val="F8FAFC"/>
                </a:solidFill>
                <a:latin typeface="Aptos" pitchFamily="34" charset="0"/>
                <a:ea typeface="Aptos" pitchFamily="34" charset="-122"/>
                <a:cs typeface="Aptos" pitchFamily="34" charset="-120"/>
              </a:rPr>
              <a:t>Anchoring</a:t>
            </a:r>
            <a:endParaRPr lang="en-US" sz="1620" dirty="0"/>
          </a:p>
          <a:p>
            <a:pPr marL="152400" indent="-152400">
              <a:buSzPct val="100000"/>
              <a:buChar char="•"/>
            </a:pPr>
            <a:r>
              <a:rPr lang="en-US" sz="1620" dirty="0">
                <a:solidFill>
                  <a:srgbClr val="F8FAFC"/>
                </a:solidFill>
                <a:latin typeface="Aptos" pitchFamily="34" charset="0"/>
                <a:ea typeface="Aptos" pitchFamily="34" charset="-122"/>
                <a:cs typeface="Aptos" pitchFamily="34" charset="-120"/>
              </a:rPr>
              <a:t>Man-over-board recovery</a:t>
            </a:r>
            <a:endParaRPr lang="en-US" sz="1620" dirty="0"/>
          </a:p>
          <a:p>
            <a:pPr marL="152400" indent="-152400">
              <a:buSzPct val="100000"/>
              <a:buChar char="•"/>
            </a:pPr>
            <a:r>
              <a:rPr lang="en-US" sz="1620" dirty="0">
                <a:solidFill>
                  <a:srgbClr val="F8FAFC"/>
                </a:solidFill>
                <a:latin typeface="Aptos" pitchFamily="34" charset="0"/>
                <a:ea typeface="Aptos" pitchFamily="34" charset="-122"/>
                <a:cs typeface="Aptos" pitchFamily="34" charset="-120"/>
              </a:rPr>
              <a:t>Yacht racing against other crews</a:t>
            </a:r>
            <a:endParaRPr lang="en-US" sz="1620" dirty="0"/>
          </a:p>
        </p:txBody>
      </p:sp>
      <p:sp>
        <p:nvSpPr>
          <p:cNvPr id="14" name="Shape 11"/>
          <p:cNvSpPr/>
          <p:nvPr/>
        </p:nvSpPr>
        <p:spPr>
          <a:xfrm>
            <a:off x="5541264" y="1664208"/>
            <a:ext cx="6016752" cy="4553712"/>
          </a:xfrm>
          <a:prstGeom prst="roundRect">
            <a:avLst>
              <a:gd name="adj" fmla="val 2811"/>
            </a:avLst>
          </a:prstGeom>
          <a:solidFill>
            <a:srgbClr val="102544">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5" name="Text 12"/>
          <p:cNvSpPr/>
          <p:nvPr/>
        </p:nvSpPr>
        <p:spPr>
          <a:xfrm>
            <a:off x="5797296" y="1901952"/>
            <a:ext cx="2286000" cy="237744"/>
          </a:xfrm>
          <a:prstGeom prst="rect">
            <a:avLst/>
          </a:prstGeom>
          <a:noFill/>
          <a:ln/>
        </p:spPr>
        <p:txBody>
          <a:bodyPr wrap="square" lIns="0" tIns="0" rIns="0" bIns="0" rtlCol="0" anchor="ctr"/>
          <a:lstStyle/>
          <a:p>
            <a:pPr marL="0" indent="0">
              <a:buNone/>
            </a:pPr>
            <a:r>
              <a:rPr lang="en-US" sz="1600" b="1" dirty="0">
                <a:solidFill>
                  <a:srgbClr val="2DD4BF"/>
                </a:solidFill>
              </a:rPr>
              <a:t>What sailing demonstrates</a:t>
            </a:r>
            <a:endParaRPr lang="en-US" sz="1600" dirty="0"/>
          </a:p>
        </p:txBody>
      </p:sp>
      <p:sp>
        <p:nvSpPr>
          <p:cNvPr id="16" name="Text 13"/>
          <p:cNvSpPr/>
          <p:nvPr/>
        </p:nvSpPr>
        <p:spPr>
          <a:xfrm>
            <a:off x="5779008" y="2212848"/>
            <a:ext cx="4572000" cy="2487168"/>
          </a:xfrm>
          <a:prstGeom prst="rect">
            <a:avLst/>
          </a:prstGeom>
          <a:noFill/>
          <a:ln/>
        </p:spPr>
        <p:txBody>
          <a:bodyPr wrap="square" lIns="1016" tIns="1016" rIns="1016" bIns="1016" rtlCol="0" anchor="t">
            <a:normAutofit fontScale="92500" lnSpcReduction="10000"/>
          </a:bodyPr>
          <a:lstStyle/>
          <a:p>
            <a:pPr marL="152400" indent="-152400">
              <a:buSzPct val="100000"/>
              <a:buChar char="•"/>
            </a:pPr>
            <a:r>
              <a:rPr lang="en-US" sz="1760" dirty="0">
                <a:solidFill>
                  <a:srgbClr val="F8FAFC"/>
                </a:solidFill>
                <a:latin typeface="Aptos" pitchFamily="34" charset="0"/>
                <a:ea typeface="Aptos" pitchFamily="34" charset="-122"/>
                <a:cs typeface="Aptos" pitchFamily="34" charset="-120"/>
              </a:rPr>
              <a:t>A manoeuvre like tacking succeeds only when several people coordinate actions at the same time.</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Racing heightens interaction because failure lets the side down.</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The active environment allows management theories from the classroom to be tried and tested immediately.</a:t>
            </a:r>
            <a:endParaRPr lang="en-US" sz="1760" dirty="0"/>
          </a:p>
          <a:p>
            <a:pPr marL="152400" indent="-152400">
              <a:buSzPct val="100000"/>
              <a:buChar char="•"/>
            </a:pPr>
            <a:r>
              <a:rPr lang="en-US" sz="1760" dirty="0">
                <a:solidFill>
                  <a:srgbClr val="F8FAFC"/>
                </a:solidFill>
                <a:latin typeface="Aptos" pitchFamily="34" charset="0"/>
                <a:ea typeface="Aptos" pitchFamily="34" charset="-122"/>
                <a:cs typeface="Aptos" pitchFamily="34" charset="-120"/>
              </a:rPr>
              <a:t>On return to the training base, discussion sessions let delegates review the day’s exercises and relate management principles back to work.</a:t>
            </a:r>
            <a:endParaRPr lang="en-US" sz="1760" dirty="0"/>
          </a:p>
        </p:txBody>
      </p:sp>
      <p:sp>
        <p:nvSpPr>
          <p:cNvPr id="17" name="Text 14"/>
          <p:cNvSpPr/>
          <p:nvPr/>
        </p:nvSpPr>
        <p:spPr>
          <a:xfrm>
            <a:off x="5797296" y="5138928"/>
            <a:ext cx="2240280" cy="201168"/>
          </a:xfrm>
          <a:prstGeom prst="rect">
            <a:avLst/>
          </a:prstGeom>
          <a:noFill/>
          <a:ln/>
        </p:spPr>
        <p:txBody>
          <a:bodyPr wrap="square" lIns="0" tIns="0" rIns="0" bIns="0" rtlCol="0" anchor="ctr"/>
          <a:lstStyle/>
          <a:p>
            <a:pPr marL="0" indent="0">
              <a:buNone/>
            </a:pPr>
            <a:r>
              <a:rPr lang="en-US" sz="1450" b="1" dirty="0">
                <a:solidFill>
                  <a:srgbClr val="F6C453"/>
                </a:solidFill>
              </a:rPr>
              <a:t>Conclusion on sailing</a:t>
            </a:r>
            <a:endParaRPr lang="en-US" sz="1450" dirty="0"/>
          </a:p>
        </p:txBody>
      </p:sp>
      <p:sp>
        <p:nvSpPr>
          <p:cNvPr id="18" name="Text 15"/>
          <p:cNvSpPr/>
          <p:nvPr/>
        </p:nvSpPr>
        <p:spPr>
          <a:xfrm>
            <a:off x="5797296" y="5394960"/>
            <a:ext cx="4709160" cy="475488"/>
          </a:xfrm>
          <a:prstGeom prst="rect">
            <a:avLst/>
          </a:prstGeom>
          <a:noFill/>
          <a:ln/>
        </p:spPr>
        <p:txBody>
          <a:bodyPr wrap="square" lIns="254" tIns="254" rIns="254" bIns="254" rtlCol="0" anchor="ctr">
            <a:normAutofit fontScale="77500" lnSpcReduction="20000"/>
          </a:bodyPr>
          <a:lstStyle/>
          <a:p>
            <a:pPr marL="0" indent="0">
              <a:buNone/>
            </a:pPr>
            <a:r>
              <a:rPr lang="en-US" sz="1530" dirty="0">
                <a:solidFill>
                  <a:srgbClr val="E2E8F0"/>
                </a:solidFill>
              </a:rPr>
              <a:t>Sailing offers “learning-by-doing” with others who are also learning-by-doing—the chapter calls this the only sure way of knowing that team members can work together effectively as a team.</a:t>
            </a:r>
            <a:endParaRPr lang="en-US" sz="1530" dirty="0"/>
          </a:p>
        </p:txBody>
      </p:sp>
      <p:sp>
        <p:nvSpPr>
          <p:cNvPr id="19" name="Text 16"/>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0" name="Text 17"/>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15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6BDEF-771B-0126-952C-DF4F3516196F}"/>
            </a:ext>
          </a:extLst>
        </p:cNvPr>
        <p:cNvGrpSpPr/>
        <p:nvPr/>
      </p:nvGrpSpPr>
      <p:grpSpPr>
        <a:xfrm>
          <a:off x="0" y="0"/>
          <a:ext cx="0" cy="0"/>
          <a:chOff x="0" y="0"/>
          <a:chExt cx="0" cy="0"/>
        </a:xfrm>
      </p:grpSpPr>
      <p:pic>
        <p:nvPicPr>
          <p:cNvPr id="2" name="Image 0" descr="/mnt/data/team_meeting_2.jpg">
            <a:extLst>
              <a:ext uri="{FF2B5EF4-FFF2-40B4-BE49-F238E27FC236}">
                <a16:creationId xmlns:a16="http://schemas.microsoft.com/office/drawing/2014/main" id="{F0E43C3C-EAFB-D58E-364D-3150225B1485}"/>
              </a:ext>
            </a:extLst>
          </p:cNvPr>
          <p:cNvPicPr>
            <a:picLocks noChangeAspect="1"/>
          </p:cNvPicPr>
          <p:nvPr/>
        </p:nvPicPr>
        <p:blipFill>
          <a:blip r:embed="rId3"/>
          <a:srcRect t="7811" b="7811"/>
          <a:stretch/>
        </p:blipFill>
        <p:spPr>
          <a:xfrm>
            <a:off x="0" y="0"/>
            <a:ext cx="12191695" cy="6858000"/>
          </a:xfrm>
          <a:prstGeom prst="rect">
            <a:avLst/>
          </a:prstGeom>
        </p:spPr>
      </p:pic>
      <p:sp>
        <p:nvSpPr>
          <p:cNvPr id="3" name="Shape 0">
            <a:extLst>
              <a:ext uri="{FF2B5EF4-FFF2-40B4-BE49-F238E27FC236}">
                <a16:creationId xmlns:a16="http://schemas.microsoft.com/office/drawing/2014/main" id="{F07A153B-62B1-CD15-2EAC-B0E404379962}"/>
              </a:ext>
            </a:extLst>
          </p:cNvPr>
          <p:cNvSpPr/>
          <p:nvPr/>
        </p:nvSpPr>
        <p:spPr>
          <a:xfrm>
            <a:off x="0" y="0"/>
            <a:ext cx="12191695" cy="6858000"/>
          </a:xfrm>
          <a:prstGeom prst="rect">
            <a:avLst/>
          </a:prstGeom>
          <a:solidFill>
            <a:srgbClr val="08172F">
              <a:alpha val="50000"/>
            </a:srgbClr>
          </a:solidFill>
          <a:ln w="12700">
            <a:solidFill>
              <a:srgbClr val="08172F">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B22CA7A7-D8B6-2863-9067-EC578F386941}"/>
              </a:ext>
            </a:extLst>
          </p:cNvPr>
          <p:cNvSpPr/>
          <p:nvPr/>
        </p:nvSpPr>
        <p:spPr>
          <a:xfrm>
            <a:off x="0" y="0"/>
            <a:ext cx="12191695" cy="146304"/>
          </a:xfrm>
          <a:prstGeom prst="rect">
            <a:avLst/>
          </a:prstGeom>
          <a:solidFill>
            <a:srgbClr val="2DD4BF">
              <a:alpha val="85000"/>
            </a:srgbClr>
          </a:solidFill>
          <a:ln w="12700">
            <a:solidFill>
              <a:srgbClr val="2DD4BF">
                <a:alpha val="0"/>
              </a:srgbClr>
            </a:solidFill>
            <a:prstDash val="solid"/>
          </a:ln>
        </p:spPr>
        <p:txBody>
          <a:bodyPr/>
          <a:lstStyle/>
          <a:p>
            <a:endParaRPr lang="en-ZA"/>
          </a:p>
        </p:txBody>
      </p:sp>
      <p:sp>
        <p:nvSpPr>
          <p:cNvPr id="5" name="Text 2">
            <a:extLst>
              <a:ext uri="{FF2B5EF4-FFF2-40B4-BE49-F238E27FC236}">
                <a16:creationId xmlns:a16="http://schemas.microsoft.com/office/drawing/2014/main" id="{23FBD55A-0F05-E2A0-641E-A6921F7CAA5E}"/>
              </a:ext>
            </a:extLst>
          </p:cNvPr>
          <p:cNvSpPr/>
          <p:nvPr/>
        </p:nvSpPr>
        <p:spPr>
          <a:xfrm>
            <a:off x="658368" y="438912"/>
            <a:ext cx="8961120" cy="475488"/>
          </a:xfrm>
          <a:prstGeom prst="rect">
            <a:avLst/>
          </a:prstGeom>
          <a:noFill/>
          <a:ln/>
        </p:spPr>
        <p:txBody>
          <a:bodyPr wrap="square" lIns="0" tIns="0" rIns="0" bIns="0" rtlCol="0" anchor="ctr"/>
          <a:lstStyle/>
          <a:p>
            <a:r>
              <a:rPr lang="en-US" sz="2800" b="1" dirty="0">
                <a:solidFill>
                  <a:srgbClr val="F7FAFC"/>
                </a:solidFill>
                <a:latin typeface="Aptos Display" pitchFamily="34" charset="0"/>
              </a:rPr>
              <a:t>Group Activity 3</a:t>
            </a:r>
            <a:endParaRPr lang="en-US" sz="2800" dirty="0"/>
          </a:p>
        </p:txBody>
      </p:sp>
      <p:sp>
        <p:nvSpPr>
          <p:cNvPr id="6" name="Shape 3">
            <a:extLst>
              <a:ext uri="{FF2B5EF4-FFF2-40B4-BE49-F238E27FC236}">
                <a16:creationId xmlns:a16="http://schemas.microsoft.com/office/drawing/2014/main" id="{FC3D2D9F-84A0-24E9-65D2-AC3012702018}"/>
              </a:ext>
            </a:extLst>
          </p:cNvPr>
          <p:cNvSpPr/>
          <p:nvPr/>
        </p:nvSpPr>
        <p:spPr>
          <a:xfrm>
            <a:off x="457200" y="438912"/>
            <a:ext cx="73152" cy="566928"/>
          </a:xfrm>
          <a:prstGeom prst="rect">
            <a:avLst/>
          </a:prstGeom>
          <a:solidFill>
            <a:srgbClr val="F6C453"/>
          </a:solidFill>
          <a:ln w="12700">
            <a:solidFill>
              <a:srgbClr val="F6C453">
                <a:alpha val="0"/>
              </a:srgbClr>
            </a:solidFill>
            <a:prstDash val="solid"/>
          </a:ln>
        </p:spPr>
        <p:txBody>
          <a:bodyPr/>
          <a:lstStyle/>
          <a:p>
            <a:endParaRPr lang="en-ZA"/>
          </a:p>
        </p:txBody>
      </p:sp>
      <p:sp>
        <p:nvSpPr>
          <p:cNvPr id="7" name="Text 4">
            <a:extLst>
              <a:ext uri="{FF2B5EF4-FFF2-40B4-BE49-F238E27FC236}">
                <a16:creationId xmlns:a16="http://schemas.microsoft.com/office/drawing/2014/main" id="{CEFD6AAA-3B8D-2FD0-AB0F-3E4F9EF7751A}"/>
              </a:ext>
            </a:extLst>
          </p:cNvPr>
          <p:cNvSpPr/>
          <p:nvPr/>
        </p:nvSpPr>
        <p:spPr>
          <a:xfrm>
            <a:off x="658368" y="932688"/>
            <a:ext cx="8961120" cy="274320"/>
          </a:xfrm>
          <a:prstGeom prst="rect">
            <a:avLst/>
          </a:prstGeom>
          <a:noFill/>
          <a:ln/>
        </p:spPr>
        <p:txBody>
          <a:bodyPr wrap="square" lIns="0" tIns="0" rIns="0" bIns="0" rtlCol="0" anchor="ctr"/>
          <a:lstStyle/>
          <a:p>
            <a:pPr marL="0" indent="0">
              <a:buNone/>
            </a:pPr>
            <a:endParaRPr lang="en-US" sz="1150" dirty="0"/>
          </a:p>
        </p:txBody>
      </p:sp>
      <p:sp>
        <p:nvSpPr>
          <p:cNvPr id="9" name="Text 6">
            <a:extLst>
              <a:ext uri="{FF2B5EF4-FFF2-40B4-BE49-F238E27FC236}">
                <a16:creationId xmlns:a16="http://schemas.microsoft.com/office/drawing/2014/main" id="{E4E9A5F0-AE9A-5F52-7904-478AC0E2E8D9}"/>
              </a:ext>
            </a:extLst>
          </p:cNvPr>
          <p:cNvSpPr/>
          <p:nvPr/>
        </p:nvSpPr>
        <p:spPr>
          <a:xfrm>
            <a:off x="859536" y="1097280"/>
            <a:ext cx="5559552" cy="530352"/>
          </a:xfrm>
          <a:prstGeom prst="rect">
            <a:avLst/>
          </a:prstGeom>
          <a:noFill/>
          <a:ln/>
        </p:spPr>
        <p:txBody>
          <a:bodyPr wrap="square" lIns="0" tIns="0" rIns="0" bIns="0" rtlCol="0" anchor="ctr"/>
          <a:lstStyle/>
          <a:p>
            <a:pPr marL="0" indent="0" algn="ctr">
              <a:buNone/>
            </a:pPr>
            <a:endParaRPr lang="en-US" dirty="0"/>
          </a:p>
        </p:txBody>
      </p:sp>
      <p:sp>
        <p:nvSpPr>
          <p:cNvPr id="10" name="Shape 7">
            <a:extLst>
              <a:ext uri="{FF2B5EF4-FFF2-40B4-BE49-F238E27FC236}">
                <a16:creationId xmlns:a16="http://schemas.microsoft.com/office/drawing/2014/main" id="{46666238-487B-55ED-85F7-ABD76C4C169D}"/>
              </a:ext>
            </a:extLst>
          </p:cNvPr>
          <p:cNvSpPr/>
          <p:nvPr/>
        </p:nvSpPr>
        <p:spPr>
          <a:xfrm>
            <a:off x="640080" y="1627632"/>
            <a:ext cx="9368444" cy="4315968"/>
          </a:xfrm>
          <a:prstGeom prst="roundRect">
            <a:avLst>
              <a:gd name="adj" fmla="val 2966"/>
            </a:avLst>
          </a:prstGeom>
          <a:solidFill>
            <a:srgbClr val="0A1A33">
              <a:alpha val="82000"/>
            </a:srgbClr>
          </a:solidFill>
          <a:ln w="12700">
            <a:solidFill>
              <a:srgbClr val="FFFFFF">
                <a:alpha val="16000"/>
              </a:srgbClr>
            </a:solidFill>
            <a:prstDash val="solid"/>
          </a:ln>
          <a:effectLst>
            <a:outerShdw blurRad="19050" dist="12700" dir="2700000" algn="bl" rotWithShape="0">
              <a:srgbClr val="000000">
                <a:alpha val="18000"/>
              </a:srgbClr>
            </a:outerShdw>
          </a:effectLst>
        </p:spPr>
        <p:txBody>
          <a:bodyPr/>
          <a:lstStyle/>
          <a:p>
            <a:endParaRPr lang="en-ZA"/>
          </a:p>
        </p:txBody>
      </p:sp>
      <p:sp>
        <p:nvSpPr>
          <p:cNvPr id="11" name="Text 8">
            <a:extLst>
              <a:ext uri="{FF2B5EF4-FFF2-40B4-BE49-F238E27FC236}">
                <a16:creationId xmlns:a16="http://schemas.microsoft.com/office/drawing/2014/main" id="{C322CA57-D62E-1ADF-5B20-742990938D57}"/>
              </a:ext>
            </a:extLst>
          </p:cNvPr>
          <p:cNvSpPr/>
          <p:nvPr/>
        </p:nvSpPr>
        <p:spPr>
          <a:xfrm>
            <a:off x="868679" y="1627632"/>
            <a:ext cx="7927849" cy="3758184"/>
          </a:xfrm>
          <a:prstGeom prst="rect">
            <a:avLst/>
          </a:prstGeom>
          <a:noFill/>
          <a:ln/>
        </p:spPr>
        <p:txBody>
          <a:bodyPr wrap="square" lIns="1016" tIns="1016" rIns="1016" bIns="1016" rtlCol="0" anchor="t">
            <a:normAutofit fontScale="77500" lnSpcReduction="20000"/>
          </a:bodyPr>
          <a:lstStyle/>
          <a:p>
            <a:pPr>
              <a:lnSpc>
                <a:spcPct val="115000"/>
              </a:lnSpc>
              <a:buSzPct val="100000"/>
            </a:pPr>
            <a:r>
              <a:rPr lang="en-ZA" sz="2000" b="1" dirty="0">
                <a:solidFill>
                  <a:schemeClr val="bg2"/>
                </a:solidFill>
                <a:latin typeface="Aptos" pitchFamily="34" charset="0"/>
                <a:ea typeface="Aptos" pitchFamily="34" charset="-122"/>
                <a:cs typeface="Aptos" pitchFamily="34" charset="-120"/>
              </a:rPr>
              <a:t>Imagine your boat has sunk, you are stranded in the ocean. Rank the following items from MOST important (1) to LEAST important (10) for survival. You must agree as a team — not individually:</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Mirror</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Water container</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RopeCompass</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First aid kit</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Food rations</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Plastic sheet</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Radio</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Knife</a:t>
            </a:r>
          </a:p>
          <a:p>
            <a:pPr marL="304800" indent="-304800">
              <a:lnSpc>
                <a:spcPct val="115000"/>
              </a:lnSpc>
              <a:buSzPct val="100000"/>
              <a:buChar char="•"/>
            </a:pPr>
            <a:r>
              <a:rPr lang="en-ZA" sz="2000" b="1" dirty="0">
                <a:solidFill>
                  <a:schemeClr val="bg2"/>
                </a:solidFill>
                <a:latin typeface="Aptos" pitchFamily="34" charset="0"/>
                <a:ea typeface="Aptos" pitchFamily="34" charset="-122"/>
                <a:cs typeface="Aptos" pitchFamily="34" charset="-120"/>
              </a:rPr>
              <a:t>Life jacket</a:t>
            </a:r>
            <a:endParaRPr lang="en-ZA" sz="2000" b="1" dirty="0">
              <a:solidFill>
                <a:schemeClr val="bg2"/>
              </a:solidFill>
              <a:latin typeface="Aptos" pitchFamily="34" charset="0"/>
              <a:ea typeface="Calibri" pitchFamily="34" charset="-122"/>
              <a:cs typeface="Calibri" pitchFamily="34" charset="-120"/>
            </a:endParaRPr>
          </a:p>
          <a:p>
            <a:pPr>
              <a:lnSpc>
                <a:spcPct val="115000"/>
              </a:lnSpc>
              <a:buSzPct val="100000"/>
            </a:pPr>
            <a:r>
              <a:rPr lang="en-ZA" sz="2000" dirty="0">
                <a:solidFill>
                  <a:schemeClr val="bg2"/>
                </a:solidFill>
                <a:latin typeface="Calibri" pitchFamily="34" charset="0"/>
                <a:ea typeface="Calibri" pitchFamily="34" charset="-122"/>
                <a:cs typeface="Calibri" pitchFamily="34" charset="-120"/>
              </a:rPr>
              <a:t>Who leads</a:t>
            </a:r>
          </a:p>
          <a:p>
            <a:pPr>
              <a:lnSpc>
                <a:spcPct val="115000"/>
              </a:lnSpc>
              <a:buSzPct val="100000"/>
            </a:pPr>
            <a:r>
              <a:rPr lang="en-ZA" sz="2000" dirty="0">
                <a:solidFill>
                  <a:schemeClr val="bg2"/>
                </a:solidFill>
                <a:latin typeface="Calibri" pitchFamily="34" charset="0"/>
                <a:ea typeface="Calibri" pitchFamily="34" charset="-122"/>
                <a:cs typeface="Calibri" pitchFamily="34" charset="-120"/>
              </a:rPr>
              <a:t>Who stays quiet</a:t>
            </a:r>
          </a:p>
          <a:p>
            <a:pPr>
              <a:lnSpc>
                <a:spcPct val="115000"/>
              </a:lnSpc>
              <a:buSzPct val="100000"/>
            </a:pPr>
            <a:r>
              <a:rPr lang="en-ZA" sz="2000" dirty="0">
                <a:solidFill>
                  <a:schemeClr val="bg2"/>
                </a:solidFill>
                <a:latin typeface="Calibri" pitchFamily="34" charset="0"/>
                <a:ea typeface="Calibri" pitchFamily="34" charset="-122"/>
                <a:cs typeface="Calibri" pitchFamily="34" charset="-120"/>
              </a:rPr>
              <a:t>How decisions are made</a:t>
            </a:r>
          </a:p>
          <a:p>
            <a:pPr>
              <a:lnSpc>
                <a:spcPct val="115000"/>
              </a:lnSpc>
              <a:buSzPct val="100000"/>
            </a:pPr>
            <a:r>
              <a:rPr lang="en-ZA" sz="2000" dirty="0">
                <a:solidFill>
                  <a:schemeClr val="bg2"/>
                </a:solidFill>
                <a:latin typeface="Calibri" pitchFamily="34" charset="0"/>
                <a:ea typeface="Calibri" pitchFamily="34" charset="-122"/>
                <a:cs typeface="Calibri" pitchFamily="34" charset="-120"/>
              </a:rPr>
              <a:t>Conflict or cooperation?</a:t>
            </a:r>
          </a:p>
        </p:txBody>
      </p:sp>
      <p:sp>
        <p:nvSpPr>
          <p:cNvPr id="13" name="Text 10">
            <a:extLst>
              <a:ext uri="{FF2B5EF4-FFF2-40B4-BE49-F238E27FC236}">
                <a16:creationId xmlns:a16="http://schemas.microsoft.com/office/drawing/2014/main" id="{125CEB18-32F5-EC24-189C-E90F2B202F0B}"/>
              </a:ext>
            </a:extLst>
          </p:cNvPr>
          <p:cNvSpPr/>
          <p:nvPr/>
        </p:nvSpPr>
        <p:spPr>
          <a:xfrm>
            <a:off x="960120" y="3977640"/>
            <a:ext cx="219456" cy="237744"/>
          </a:xfrm>
          <a:prstGeom prst="rect">
            <a:avLst/>
          </a:prstGeom>
          <a:noFill/>
          <a:ln/>
        </p:spPr>
        <p:txBody>
          <a:bodyPr wrap="square" lIns="0" tIns="0" rIns="0" bIns="0" rtlCol="0" anchor="ctr"/>
          <a:lstStyle/>
          <a:p>
            <a:pPr marL="0" indent="0">
              <a:buNone/>
            </a:pPr>
            <a:endParaRPr lang="en-US" sz="2000" dirty="0"/>
          </a:p>
        </p:txBody>
      </p:sp>
      <p:sp>
        <p:nvSpPr>
          <p:cNvPr id="16" name="Text 13">
            <a:extLst>
              <a:ext uri="{FF2B5EF4-FFF2-40B4-BE49-F238E27FC236}">
                <a16:creationId xmlns:a16="http://schemas.microsoft.com/office/drawing/2014/main" id="{2D652C64-E38D-ED21-FA0D-86693BBC8AC5}"/>
              </a:ext>
            </a:extLst>
          </p:cNvPr>
          <p:cNvSpPr/>
          <p:nvPr/>
        </p:nvSpPr>
        <p:spPr>
          <a:xfrm>
            <a:off x="6419088" y="1938528"/>
            <a:ext cx="2377440" cy="256032"/>
          </a:xfrm>
          <a:prstGeom prst="rect">
            <a:avLst/>
          </a:prstGeom>
          <a:noFill/>
          <a:ln/>
        </p:spPr>
        <p:txBody>
          <a:bodyPr wrap="square" lIns="0" tIns="0" rIns="0" bIns="0" rtlCol="0" anchor="ctr"/>
          <a:lstStyle/>
          <a:p>
            <a:pPr marL="0" indent="0">
              <a:buNone/>
            </a:pPr>
            <a:endParaRPr lang="en-US" sz="1600" dirty="0"/>
          </a:p>
        </p:txBody>
      </p:sp>
      <p:sp>
        <p:nvSpPr>
          <p:cNvPr id="17" name="Text 14">
            <a:extLst>
              <a:ext uri="{FF2B5EF4-FFF2-40B4-BE49-F238E27FC236}">
                <a16:creationId xmlns:a16="http://schemas.microsoft.com/office/drawing/2014/main" id="{A7DC4D60-3E0E-780A-E389-B70040BABDD7}"/>
              </a:ext>
            </a:extLst>
          </p:cNvPr>
          <p:cNvSpPr/>
          <p:nvPr/>
        </p:nvSpPr>
        <p:spPr>
          <a:xfrm>
            <a:off x="6382512" y="2267712"/>
            <a:ext cx="4736592" cy="1828800"/>
          </a:xfrm>
          <a:prstGeom prst="rect">
            <a:avLst/>
          </a:prstGeom>
          <a:noFill/>
          <a:ln/>
        </p:spPr>
        <p:txBody>
          <a:bodyPr wrap="square" lIns="1016" tIns="1016" rIns="1016" bIns="1016" rtlCol="0" anchor="t">
            <a:normAutofit/>
          </a:bodyPr>
          <a:lstStyle/>
          <a:p>
            <a:pPr marL="152400" indent="-152400">
              <a:buSzPct val="100000"/>
              <a:buChar char="•"/>
            </a:pPr>
            <a:endParaRPr lang="en-US" sz="1800" dirty="0"/>
          </a:p>
        </p:txBody>
      </p:sp>
      <p:sp>
        <p:nvSpPr>
          <p:cNvPr id="18" name="Text 15">
            <a:extLst>
              <a:ext uri="{FF2B5EF4-FFF2-40B4-BE49-F238E27FC236}">
                <a16:creationId xmlns:a16="http://schemas.microsoft.com/office/drawing/2014/main" id="{266CBA18-DC6C-A4E7-7E7D-799D6AECC978}"/>
              </a:ext>
            </a:extLst>
          </p:cNvPr>
          <p:cNvSpPr/>
          <p:nvPr/>
        </p:nvSpPr>
        <p:spPr>
          <a:xfrm>
            <a:off x="6419088" y="4535424"/>
            <a:ext cx="1920240" cy="219456"/>
          </a:xfrm>
          <a:prstGeom prst="rect">
            <a:avLst/>
          </a:prstGeom>
          <a:noFill/>
          <a:ln/>
        </p:spPr>
        <p:txBody>
          <a:bodyPr wrap="square" lIns="0" tIns="0" rIns="0" bIns="0" rtlCol="0" anchor="ctr"/>
          <a:lstStyle/>
          <a:p>
            <a:pPr marL="0" indent="0">
              <a:buNone/>
            </a:pPr>
            <a:endParaRPr lang="en-US" sz="1550" dirty="0"/>
          </a:p>
        </p:txBody>
      </p:sp>
      <p:sp>
        <p:nvSpPr>
          <p:cNvPr id="19" name="Text 16">
            <a:extLst>
              <a:ext uri="{FF2B5EF4-FFF2-40B4-BE49-F238E27FC236}">
                <a16:creationId xmlns:a16="http://schemas.microsoft.com/office/drawing/2014/main" id="{86FF5CDD-386A-5D64-CD32-D7E19C375F09}"/>
              </a:ext>
            </a:extLst>
          </p:cNvPr>
          <p:cNvSpPr/>
          <p:nvPr/>
        </p:nvSpPr>
        <p:spPr>
          <a:xfrm>
            <a:off x="6419088" y="4800600"/>
            <a:ext cx="4389120" cy="585216"/>
          </a:xfrm>
          <a:prstGeom prst="rect">
            <a:avLst/>
          </a:prstGeom>
          <a:noFill/>
          <a:ln/>
        </p:spPr>
        <p:txBody>
          <a:bodyPr wrap="square" lIns="254" tIns="254" rIns="254" bIns="254" rtlCol="0" anchor="ctr">
            <a:normAutofit/>
          </a:bodyPr>
          <a:lstStyle/>
          <a:p>
            <a:pPr marL="0" indent="0">
              <a:buNone/>
            </a:pPr>
            <a:endParaRPr lang="en-US" sz="2200" dirty="0"/>
          </a:p>
        </p:txBody>
      </p:sp>
      <p:sp>
        <p:nvSpPr>
          <p:cNvPr id="20" name="Text 17">
            <a:extLst>
              <a:ext uri="{FF2B5EF4-FFF2-40B4-BE49-F238E27FC236}">
                <a16:creationId xmlns:a16="http://schemas.microsoft.com/office/drawing/2014/main" id="{CB46B2A1-B960-CDFC-95DA-7C1B5D137CCC}"/>
              </a:ext>
            </a:extLst>
          </p:cNvPr>
          <p:cNvSpPr/>
          <p:nvPr/>
        </p:nvSpPr>
        <p:spPr>
          <a:xfrm>
            <a:off x="502920" y="6473952"/>
            <a:ext cx="4754880" cy="164592"/>
          </a:xfrm>
          <a:prstGeom prst="rect">
            <a:avLst/>
          </a:prstGeom>
          <a:noFill/>
          <a:ln/>
        </p:spPr>
        <p:txBody>
          <a:bodyPr wrap="square" lIns="0" tIns="0" rIns="0" bIns="0" rtlCol="0" anchor="ctr"/>
          <a:lstStyle/>
          <a:p>
            <a:pPr marL="0" indent="0">
              <a:buNone/>
            </a:pPr>
            <a:endParaRPr lang="en-US" sz="950" dirty="0"/>
          </a:p>
        </p:txBody>
      </p:sp>
      <p:sp>
        <p:nvSpPr>
          <p:cNvPr id="21" name="Text 18">
            <a:extLst>
              <a:ext uri="{FF2B5EF4-FFF2-40B4-BE49-F238E27FC236}">
                <a16:creationId xmlns:a16="http://schemas.microsoft.com/office/drawing/2014/main" id="{42B527F2-0DE5-2A68-70C1-F9E8AA19029C}"/>
              </a:ext>
            </a:extLst>
          </p:cNvPr>
          <p:cNvSpPr/>
          <p:nvPr/>
        </p:nvSpPr>
        <p:spPr>
          <a:xfrm>
            <a:off x="11430000" y="6419088"/>
            <a:ext cx="320040" cy="228600"/>
          </a:xfrm>
          <a:prstGeom prst="rect">
            <a:avLst/>
          </a:prstGeom>
          <a:noFill/>
          <a:ln/>
        </p:spPr>
        <p:txBody>
          <a:bodyPr wrap="square" lIns="0" tIns="0" rIns="0" bIns="0" rtlCol="0" anchor="ctr"/>
          <a:lstStyle/>
          <a:p>
            <a:pPr marL="0" indent="0" algn="r">
              <a:buNone/>
            </a:pPr>
            <a:r>
              <a:rPr lang="en-US" sz="1000" b="1" dirty="0">
                <a:solidFill>
                  <a:srgbClr val="F6C453"/>
                </a:solidFill>
              </a:rPr>
              <a:t>2</a:t>
            </a:r>
            <a:endParaRPr lang="en-US" sz="1000" dirty="0"/>
          </a:p>
        </p:txBody>
      </p:sp>
    </p:spTree>
    <p:extLst>
      <p:ext uri="{BB962C8B-B14F-4D97-AF65-F5344CB8AC3E}">
        <p14:creationId xmlns:p14="http://schemas.microsoft.com/office/powerpoint/2010/main" val="970045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06AE-7392-BFC3-9707-972762904AC6}"/>
            </a:ext>
          </a:extLst>
        </p:cNvPr>
        <p:cNvGrpSpPr/>
        <p:nvPr/>
      </p:nvGrpSpPr>
      <p:grpSpPr>
        <a:xfrm>
          <a:off x="0" y="0"/>
          <a:ext cx="0" cy="0"/>
          <a:chOff x="0" y="0"/>
          <a:chExt cx="0" cy="0"/>
        </a:xfrm>
      </p:grpSpPr>
      <p:pic>
        <p:nvPicPr>
          <p:cNvPr id="2" name="Image 0" descr="/mnt/data/team.png">
            <a:extLst>
              <a:ext uri="{FF2B5EF4-FFF2-40B4-BE49-F238E27FC236}">
                <a16:creationId xmlns:a16="http://schemas.microsoft.com/office/drawing/2014/main" id="{5E3CAB2F-38FD-EAA8-F34B-2A03CAB12A85}"/>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B97B4A32-04A3-2C81-C95E-982354F06094}"/>
              </a:ext>
            </a:extLst>
          </p:cNvPr>
          <p:cNvSpPr/>
          <p:nvPr/>
        </p:nvSpPr>
        <p:spPr>
          <a:xfrm>
            <a:off x="-441655" y="-155448"/>
            <a:ext cx="12191695" cy="6858000"/>
          </a:xfrm>
          <a:prstGeom prst="rect">
            <a:avLst/>
          </a:prstGeom>
          <a:solidFill>
            <a:srgbClr val="0C2233">
              <a:alpha val="74000"/>
            </a:srgbClr>
          </a:solidFill>
          <a:ln w="12700">
            <a:solidFill>
              <a:srgbClr val="0C2233">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C83BD216-91F3-8737-1B14-E1E9162C4BED}"/>
              </a:ext>
            </a:extLst>
          </p:cNvPr>
          <p:cNvSpPr/>
          <p:nvPr/>
        </p:nvSpPr>
        <p:spPr>
          <a:xfrm>
            <a:off x="0" y="0"/>
            <a:ext cx="12191695" cy="146304"/>
          </a:xfrm>
          <a:prstGeom prst="rect">
            <a:avLst/>
          </a:prstGeom>
          <a:solidFill>
            <a:srgbClr val="E8B04B"/>
          </a:solidFill>
          <a:ln w="12700">
            <a:solidFill>
              <a:srgbClr val="E8B04B">
                <a:alpha val="0"/>
              </a:srgbClr>
            </a:solidFill>
            <a:prstDash val="solid"/>
          </a:ln>
        </p:spPr>
        <p:txBody>
          <a:bodyPr/>
          <a:lstStyle/>
          <a:p>
            <a:endParaRPr lang="en-ZA"/>
          </a:p>
        </p:txBody>
      </p:sp>
      <p:sp>
        <p:nvSpPr>
          <p:cNvPr id="5" name="Text 2">
            <a:extLst>
              <a:ext uri="{FF2B5EF4-FFF2-40B4-BE49-F238E27FC236}">
                <a16:creationId xmlns:a16="http://schemas.microsoft.com/office/drawing/2014/main" id="{D71B62C3-38F1-4284-EE81-F35C30946A39}"/>
              </a:ext>
            </a:extLst>
          </p:cNvPr>
          <p:cNvSpPr/>
          <p:nvPr/>
        </p:nvSpPr>
        <p:spPr>
          <a:xfrm>
            <a:off x="10378440" y="256032"/>
            <a:ext cx="1143000" cy="201168"/>
          </a:xfrm>
          <a:prstGeom prst="rect">
            <a:avLst/>
          </a:prstGeom>
          <a:noFill/>
          <a:ln/>
        </p:spPr>
        <p:txBody>
          <a:bodyPr wrap="square" lIns="0" tIns="0" rIns="0" bIns="0" rtlCol="0" anchor="ctr"/>
          <a:lstStyle/>
          <a:p>
            <a:pPr marL="0" indent="0" algn="r">
              <a:buNone/>
            </a:pPr>
            <a:r>
              <a:rPr lang="en-US" sz="1050" b="1" dirty="0">
                <a:solidFill>
                  <a:srgbClr val="FFFFFF"/>
                </a:solidFill>
                <a:latin typeface="Aptos" pitchFamily="34" charset="0"/>
                <a:ea typeface="Aptos" pitchFamily="34" charset="-122"/>
                <a:cs typeface="Aptos" pitchFamily="34" charset="-120"/>
              </a:rPr>
              <a:t>CHAPTER 17</a:t>
            </a:r>
            <a:endParaRPr lang="en-US" sz="1050" dirty="0"/>
          </a:p>
        </p:txBody>
      </p:sp>
      <p:sp>
        <p:nvSpPr>
          <p:cNvPr id="6" name="Text 3">
            <a:extLst>
              <a:ext uri="{FF2B5EF4-FFF2-40B4-BE49-F238E27FC236}">
                <a16:creationId xmlns:a16="http://schemas.microsoft.com/office/drawing/2014/main" id="{59C943B1-D173-8BA4-F9D8-7293BEEB29FD}"/>
              </a:ext>
            </a:extLst>
          </p:cNvPr>
          <p:cNvSpPr/>
          <p:nvPr/>
        </p:nvSpPr>
        <p:spPr>
          <a:xfrm>
            <a:off x="713232" y="530352"/>
            <a:ext cx="6492240" cy="621792"/>
          </a:xfrm>
          <a:prstGeom prst="rect">
            <a:avLst/>
          </a:prstGeom>
          <a:noFill/>
          <a:ln/>
          <a:effectLst>
            <a:outerShdw blurRad="25400" dist="12700" dir="2700000" algn="bl" rotWithShape="0">
              <a:srgbClr val="000000">
                <a:alpha val="22000"/>
              </a:srgbClr>
            </a:outerShdw>
          </a:effectLst>
        </p:spPr>
        <p:txBody>
          <a:bodyPr wrap="square" lIns="0" tIns="0" rIns="0" bIns="0" rtlCol="0" anchor="ctr"/>
          <a:lstStyle/>
          <a:p>
            <a:r>
              <a:rPr lang="en-US" sz="2800" b="1" dirty="0">
                <a:solidFill>
                  <a:srgbClr val="F7FAFC"/>
                </a:solidFill>
                <a:latin typeface="Aptos Display" pitchFamily="34" charset="0"/>
                <a:ea typeface="Aptos Display" pitchFamily="34" charset="-122"/>
                <a:cs typeface="Aptos Display" pitchFamily="34" charset="-120"/>
              </a:rPr>
              <a:t>References</a:t>
            </a:r>
            <a:endParaRPr lang="en-US" sz="2800" dirty="0"/>
          </a:p>
        </p:txBody>
      </p:sp>
      <p:sp>
        <p:nvSpPr>
          <p:cNvPr id="7" name="Text 4">
            <a:extLst>
              <a:ext uri="{FF2B5EF4-FFF2-40B4-BE49-F238E27FC236}">
                <a16:creationId xmlns:a16="http://schemas.microsoft.com/office/drawing/2014/main" id="{5BA5CD4E-E44A-3691-32D1-13A34F580EBD}"/>
              </a:ext>
            </a:extLst>
          </p:cNvPr>
          <p:cNvSpPr/>
          <p:nvPr/>
        </p:nvSpPr>
        <p:spPr>
          <a:xfrm>
            <a:off x="786384" y="1325880"/>
            <a:ext cx="8878984" cy="3566160"/>
          </a:xfrm>
          <a:prstGeom prst="rect">
            <a:avLst/>
          </a:prstGeom>
          <a:noFill/>
          <a:ln/>
        </p:spPr>
        <p:txBody>
          <a:bodyPr wrap="square" lIns="0" tIns="0" rIns="0" bIns="0" rtlCol="0" anchor="t">
            <a:normAutofit/>
          </a:bodyPr>
          <a:lstStyle/>
          <a:p>
            <a:pPr marL="304800" indent="-304800">
              <a:lnSpc>
                <a:spcPct val="115000"/>
              </a:lnSpc>
              <a:buSzPct val="100000"/>
              <a:buChar char="•"/>
            </a:pPr>
            <a:r>
              <a:rPr lang="en-US" sz="2000" b="1" dirty="0">
                <a:solidFill>
                  <a:schemeClr val="bg2"/>
                </a:solidFill>
                <a:latin typeface="Aptos" pitchFamily="34" charset="0"/>
                <a:ea typeface="Aptos" pitchFamily="34" charset="-122"/>
                <a:cs typeface="Aptos" pitchFamily="34" charset="-120"/>
              </a:rPr>
              <a:t>• </a:t>
            </a:r>
            <a:r>
              <a:rPr lang="en-ZA" sz="2000" dirty="0">
                <a:solidFill>
                  <a:schemeClr val="bg2"/>
                </a:solidFill>
                <a:latin typeface="Calibri" pitchFamily="34" charset="0"/>
                <a:ea typeface="Calibri" pitchFamily="34" charset="-122"/>
                <a:cs typeface="Calibri" pitchFamily="34" charset="-120"/>
              </a:rPr>
              <a:t>Burke, R. and Barron, S., 2014. Project management leadership: Building creative teams. 2nd ed. Farnham: Gower Publishing.</a:t>
            </a:r>
          </a:p>
          <a:p>
            <a:pPr>
              <a:lnSpc>
                <a:spcPct val="115000"/>
              </a:lnSpc>
              <a:buSzPct val="100000"/>
            </a:pPr>
            <a:r>
              <a:rPr lang="en-US" sz="2000" b="1" dirty="0">
                <a:solidFill>
                  <a:schemeClr val="bg2"/>
                </a:solidFill>
                <a:latin typeface="Calibri Light" pitchFamily="34" charset="0"/>
                <a:ea typeface="Calibri Light" pitchFamily="34" charset="-122"/>
                <a:cs typeface="Calibri Light" pitchFamily="34" charset="-120"/>
              </a:rPr>
              <a:t>Further readings;</a:t>
            </a:r>
            <a:endParaRPr lang="en-ZA" sz="2000" b="1" dirty="0">
              <a:solidFill>
                <a:schemeClr val="bg2"/>
              </a:solidFill>
              <a:latin typeface="Calibri" pitchFamily="34" charset="0"/>
              <a:ea typeface="Calibri" pitchFamily="34" charset="-122"/>
              <a:cs typeface="Calibri" pitchFamily="34" charset="-120"/>
            </a:endParaRPr>
          </a:p>
          <a:p>
            <a:pPr marL="304800" indent="-304800">
              <a:lnSpc>
                <a:spcPct val="115000"/>
              </a:lnSpc>
              <a:buSzPct val="100000"/>
              <a:buChar char="•"/>
            </a:pPr>
            <a:r>
              <a:rPr lang="en-ZA" sz="2000" dirty="0">
                <a:solidFill>
                  <a:schemeClr val="bg2"/>
                </a:solidFill>
                <a:latin typeface="Calibri" pitchFamily="34" charset="0"/>
                <a:ea typeface="Calibri" pitchFamily="34" charset="-122"/>
                <a:cs typeface="Calibri" pitchFamily="34" charset="-120"/>
              </a:rPr>
              <a:t>Kouzes, J. M., &amp; Posner, B. Z. (2023). The leadership challenge: How to make extraordinary things happen in organizations (7th ed.). John Wiley &amp; Sons.</a:t>
            </a:r>
          </a:p>
          <a:p>
            <a:pPr marL="304800" indent="-304800">
              <a:lnSpc>
                <a:spcPct val="115000"/>
              </a:lnSpc>
              <a:buSzPct val="100000"/>
              <a:buChar char="•"/>
            </a:pPr>
            <a:r>
              <a:rPr lang="en-ZA" sz="2000" dirty="0">
                <a:solidFill>
                  <a:schemeClr val="bg2"/>
                </a:solidFill>
                <a:latin typeface="Calibri" pitchFamily="34" charset="0"/>
                <a:ea typeface="Calibri" pitchFamily="34" charset="-122"/>
                <a:cs typeface="Calibri" pitchFamily="34" charset="-120"/>
              </a:rPr>
              <a:t>Meredith, J. R., Shafer, S. M., &amp; Mantel, S. J., Jr. (2017). Project management: A managerial approach (10th ed.). John Wiley &amp; Sons.</a:t>
            </a:r>
          </a:p>
        </p:txBody>
      </p:sp>
      <p:sp>
        <p:nvSpPr>
          <p:cNvPr id="9" name="Text 6">
            <a:extLst>
              <a:ext uri="{FF2B5EF4-FFF2-40B4-BE49-F238E27FC236}">
                <a16:creationId xmlns:a16="http://schemas.microsoft.com/office/drawing/2014/main" id="{9FC5F5ED-B3C0-82FF-795E-8735025F6817}"/>
              </a:ext>
            </a:extLst>
          </p:cNvPr>
          <p:cNvSpPr/>
          <p:nvPr/>
        </p:nvSpPr>
        <p:spPr>
          <a:xfrm>
            <a:off x="841248" y="5285232"/>
            <a:ext cx="1234440" cy="182880"/>
          </a:xfrm>
          <a:prstGeom prst="rect">
            <a:avLst/>
          </a:prstGeom>
          <a:noFill/>
          <a:ln/>
        </p:spPr>
        <p:txBody>
          <a:bodyPr wrap="square" lIns="0" tIns="0" rIns="0" bIns="0" rtlCol="0" anchor="ctr"/>
          <a:lstStyle/>
          <a:p>
            <a:pPr marL="0" indent="0" algn="ctr">
              <a:buNone/>
            </a:pPr>
            <a:endParaRPr lang="en-US" sz="1120" dirty="0"/>
          </a:p>
        </p:txBody>
      </p:sp>
      <p:sp>
        <p:nvSpPr>
          <p:cNvPr id="11" name="Text 8">
            <a:extLst>
              <a:ext uri="{FF2B5EF4-FFF2-40B4-BE49-F238E27FC236}">
                <a16:creationId xmlns:a16="http://schemas.microsoft.com/office/drawing/2014/main" id="{3B4E4B02-0F0C-ADB6-7FC9-47B52DA38DDD}"/>
              </a:ext>
            </a:extLst>
          </p:cNvPr>
          <p:cNvSpPr/>
          <p:nvPr/>
        </p:nvSpPr>
        <p:spPr>
          <a:xfrm>
            <a:off x="2212848" y="5285232"/>
            <a:ext cx="1417320" cy="182880"/>
          </a:xfrm>
          <a:prstGeom prst="rect">
            <a:avLst/>
          </a:prstGeom>
          <a:noFill/>
          <a:ln/>
        </p:spPr>
        <p:txBody>
          <a:bodyPr wrap="square" lIns="0" tIns="0" rIns="0" bIns="0" rtlCol="0" anchor="ctr"/>
          <a:lstStyle/>
          <a:p>
            <a:pPr marL="0" indent="0" algn="ctr">
              <a:buNone/>
            </a:pPr>
            <a:endParaRPr lang="en-US" sz="1120" dirty="0"/>
          </a:p>
        </p:txBody>
      </p:sp>
      <p:sp>
        <p:nvSpPr>
          <p:cNvPr id="13" name="Text 10">
            <a:extLst>
              <a:ext uri="{FF2B5EF4-FFF2-40B4-BE49-F238E27FC236}">
                <a16:creationId xmlns:a16="http://schemas.microsoft.com/office/drawing/2014/main" id="{4E3842F5-8080-65BB-911A-9941E476904C}"/>
              </a:ext>
            </a:extLst>
          </p:cNvPr>
          <p:cNvSpPr/>
          <p:nvPr/>
        </p:nvSpPr>
        <p:spPr>
          <a:xfrm>
            <a:off x="3813048" y="5285232"/>
            <a:ext cx="1234440" cy="182880"/>
          </a:xfrm>
          <a:prstGeom prst="rect">
            <a:avLst/>
          </a:prstGeom>
          <a:noFill/>
          <a:ln/>
        </p:spPr>
        <p:txBody>
          <a:bodyPr wrap="square" lIns="0" tIns="0" rIns="0" bIns="0" rtlCol="0" anchor="ctr"/>
          <a:lstStyle/>
          <a:p>
            <a:pPr marL="0" indent="0" algn="ctr">
              <a:buNone/>
            </a:pPr>
            <a:endParaRPr lang="en-US" sz="1120" dirty="0"/>
          </a:p>
        </p:txBody>
      </p:sp>
      <p:sp>
        <p:nvSpPr>
          <p:cNvPr id="15" name="Text 12">
            <a:extLst>
              <a:ext uri="{FF2B5EF4-FFF2-40B4-BE49-F238E27FC236}">
                <a16:creationId xmlns:a16="http://schemas.microsoft.com/office/drawing/2014/main" id="{403138AA-72B5-9979-BD7B-41901697D03C}"/>
              </a:ext>
            </a:extLst>
          </p:cNvPr>
          <p:cNvSpPr/>
          <p:nvPr/>
        </p:nvSpPr>
        <p:spPr>
          <a:xfrm>
            <a:off x="5212080" y="5285232"/>
            <a:ext cx="1600200" cy="182880"/>
          </a:xfrm>
          <a:prstGeom prst="rect">
            <a:avLst/>
          </a:prstGeom>
          <a:noFill/>
          <a:ln/>
        </p:spPr>
        <p:txBody>
          <a:bodyPr wrap="square" lIns="0" tIns="0" rIns="0" bIns="0" rtlCol="0" anchor="ctr"/>
          <a:lstStyle/>
          <a:p>
            <a:pPr marL="0" indent="0" algn="ctr">
              <a:buNone/>
            </a:pPr>
            <a:endParaRPr lang="en-US" sz="1120" dirty="0"/>
          </a:p>
        </p:txBody>
      </p:sp>
      <p:sp>
        <p:nvSpPr>
          <p:cNvPr id="16" name="Text 13">
            <a:extLst>
              <a:ext uri="{FF2B5EF4-FFF2-40B4-BE49-F238E27FC236}">
                <a16:creationId xmlns:a16="http://schemas.microsoft.com/office/drawing/2014/main" id="{2B517605-D37E-1B04-E798-AB393E592790}"/>
              </a:ext>
            </a:extLst>
          </p:cNvPr>
          <p:cNvSpPr/>
          <p:nvPr/>
        </p:nvSpPr>
        <p:spPr>
          <a:xfrm>
            <a:off x="6995160" y="5074920"/>
            <a:ext cx="4206240" cy="749808"/>
          </a:xfrm>
          <a:prstGeom prst="rect">
            <a:avLst/>
          </a:prstGeom>
          <a:noFill/>
          <a:ln/>
          <a:effectLst>
            <a:outerShdw blurRad="12700" dist="6350" dir="2700000" algn="bl" rotWithShape="0">
              <a:srgbClr val="000000">
                <a:alpha val="16000"/>
              </a:srgbClr>
            </a:outerShdw>
          </a:effectLst>
        </p:spPr>
        <p:txBody>
          <a:bodyPr wrap="square" lIns="0" tIns="0" rIns="0" bIns="0" rtlCol="0" anchor="ctr">
            <a:normAutofit/>
          </a:bodyPr>
          <a:lstStyle/>
          <a:p>
            <a:pPr marL="0" indent="0">
              <a:buNone/>
            </a:pPr>
            <a:r>
              <a:rPr lang="en-US" sz="1650" i="1" dirty="0">
                <a:solidFill>
                  <a:srgbClr val="FFFFFF"/>
                </a:solidFill>
                <a:latin typeface="Aptos Display" pitchFamily="34" charset="0"/>
                <a:ea typeface="Aptos Display" pitchFamily="34" charset="-122"/>
                <a:cs typeface="Aptos Display" pitchFamily="34" charset="-120"/>
              </a:rPr>
              <a:t>“</a:t>
            </a:r>
            <a:endParaRPr lang="en-US" sz="1650" dirty="0"/>
          </a:p>
        </p:txBody>
      </p:sp>
      <p:sp>
        <p:nvSpPr>
          <p:cNvPr id="17" name="Text 14">
            <a:extLst>
              <a:ext uri="{FF2B5EF4-FFF2-40B4-BE49-F238E27FC236}">
                <a16:creationId xmlns:a16="http://schemas.microsoft.com/office/drawing/2014/main" id="{2F9328E4-1B89-27EE-1314-9BCEF04B8A39}"/>
              </a:ext>
            </a:extLst>
          </p:cNvPr>
          <p:cNvSpPr/>
          <p:nvPr/>
        </p:nvSpPr>
        <p:spPr>
          <a:xfrm>
            <a:off x="594360" y="6537960"/>
            <a:ext cx="10241280" cy="164592"/>
          </a:xfrm>
          <a:prstGeom prst="rect">
            <a:avLst/>
          </a:prstGeom>
          <a:noFill/>
          <a:ln/>
        </p:spPr>
        <p:txBody>
          <a:bodyPr wrap="square" lIns="0" tIns="0" rIns="0" bIns="0" rtlCol="0" anchor="ctr"/>
          <a:lstStyle/>
          <a:p>
            <a:pPr marL="0" indent="0" algn="l">
              <a:buNone/>
            </a:pPr>
            <a:endParaRPr lang="en-US" sz="920" dirty="0"/>
          </a:p>
        </p:txBody>
      </p:sp>
      <p:sp>
        <p:nvSpPr>
          <p:cNvPr id="18" name="Text 15">
            <a:extLst>
              <a:ext uri="{FF2B5EF4-FFF2-40B4-BE49-F238E27FC236}">
                <a16:creationId xmlns:a16="http://schemas.microsoft.com/office/drawing/2014/main" id="{CDA4DADF-069F-FC01-0270-321060392911}"/>
              </a:ext>
            </a:extLst>
          </p:cNvPr>
          <p:cNvSpPr/>
          <p:nvPr/>
        </p:nvSpPr>
        <p:spPr>
          <a:xfrm>
            <a:off x="11201400" y="6419088"/>
            <a:ext cx="548640" cy="219456"/>
          </a:xfrm>
          <a:prstGeom prst="rect">
            <a:avLst/>
          </a:prstGeom>
          <a:noFill/>
          <a:ln/>
        </p:spPr>
        <p:txBody>
          <a:bodyPr wrap="square" lIns="0" tIns="0" rIns="0" bIns="0" rtlCol="0" anchor="ctr"/>
          <a:lstStyle/>
          <a:p>
            <a:pPr marL="0" indent="0" algn="r">
              <a:buNone/>
            </a:pPr>
            <a:r>
              <a:rPr lang="en-US" sz="2400" b="1" dirty="0">
                <a:solidFill>
                  <a:srgbClr val="FFFFFF">
                    <a:alpha val="72000"/>
                  </a:srgbClr>
                </a:solidFill>
                <a:latin typeface="Aptos Display" pitchFamily="34" charset="0"/>
                <a:ea typeface="Aptos Display" pitchFamily="34" charset="-122"/>
                <a:cs typeface="Aptos Display" pitchFamily="34" charset="-120"/>
              </a:rPr>
              <a:t>04</a:t>
            </a:r>
            <a:endParaRPr lang="en-US" sz="2400" dirty="0"/>
          </a:p>
        </p:txBody>
      </p:sp>
    </p:spTree>
    <p:extLst>
      <p:ext uri="{BB962C8B-B14F-4D97-AF65-F5344CB8AC3E}">
        <p14:creationId xmlns:p14="http://schemas.microsoft.com/office/powerpoint/2010/main" val="242615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C4DCF-21F9-70DD-50D1-074FCCF8950D}"/>
            </a:ext>
          </a:extLst>
        </p:cNvPr>
        <p:cNvGrpSpPr/>
        <p:nvPr/>
      </p:nvGrpSpPr>
      <p:grpSpPr>
        <a:xfrm>
          <a:off x="0" y="0"/>
          <a:ext cx="0" cy="0"/>
          <a:chOff x="0" y="0"/>
          <a:chExt cx="0" cy="0"/>
        </a:xfrm>
      </p:grpSpPr>
      <p:pic>
        <p:nvPicPr>
          <p:cNvPr id="2" name="Image 0" descr="/mnt/data/brand01_media/ppt/media/image26.png">
            <a:extLst>
              <a:ext uri="{FF2B5EF4-FFF2-40B4-BE49-F238E27FC236}">
                <a16:creationId xmlns:a16="http://schemas.microsoft.com/office/drawing/2014/main" id="{92E59CE7-011F-536E-0FD8-9A9ABC394C26}"/>
              </a:ext>
            </a:extLst>
          </p:cNvPr>
          <p:cNvPicPr>
            <a:picLocks noChangeAspect="1"/>
          </p:cNvPicPr>
          <p:nvPr/>
        </p:nvPicPr>
        <p:blipFill>
          <a:blip r:embed="rId3"/>
          <a:srcRect l="418" r="418"/>
          <a:stretch/>
        </p:blipFill>
        <p:spPr>
          <a:xfrm>
            <a:off x="0" y="0"/>
            <a:ext cx="12191695" cy="6858000"/>
          </a:xfrm>
          <a:prstGeom prst="rect">
            <a:avLst/>
          </a:prstGeom>
        </p:spPr>
      </p:pic>
      <p:sp>
        <p:nvSpPr>
          <p:cNvPr id="3" name="Shape 0">
            <a:extLst>
              <a:ext uri="{FF2B5EF4-FFF2-40B4-BE49-F238E27FC236}">
                <a16:creationId xmlns:a16="http://schemas.microsoft.com/office/drawing/2014/main" id="{ECF95F91-ADD9-143F-B99F-774F2DD949FF}"/>
              </a:ext>
            </a:extLst>
          </p:cNvPr>
          <p:cNvSpPr/>
          <p:nvPr/>
        </p:nvSpPr>
        <p:spPr>
          <a:xfrm>
            <a:off x="0" y="0"/>
            <a:ext cx="12191695" cy="6858000"/>
          </a:xfrm>
          <a:prstGeom prst="rect">
            <a:avLst/>
          </a:prstGeom>
          <a:solidFill>
            <a:srgbClr val="080B19">
              <a:alpha val="82000"/>
            </a:srgbClr>
          </a:solidFill>
          <a:ln w="12700">
            <a:solidFill>
              <a:srgbClr val="080B19">
                <a:alpha val="0"/>
              </a:srgbClr>
            </a:solidFill>
            <a:prstDash val="solid"/>
          </a:ln>
        </p:spPr>
        <p:txBody>
          <a:bodyPr/>
          <a:lstStyle/>
          <a:p>
            <a:endParaRPr lang="en-ZA"/>
          </a:p>
        </p:txBody>
      </p:sp>
      <p:sp>
        <p:nvSpPr>
          <p:cNvPr id="4" name="Shape 1">
            <a:extLst>
              <a:ext uri="{FF2B5EF4-FFF2-40B4-BE49-F238E27FC236}">
                <a16:creationId xmlns:a16="http://schemas.microsoft.com/office/drawing/2014/main" id="{D0FD047D-8F1F-E1C1-5FD6-66E7B9A6BB51}"/>
              </a:ext>
            </a:extLst>
          </p:cNvPr>
          <p:cNvSpPr/>
          <p:nvPr/>
        </p:nvSpPr>
        <p:spPr>
          <a:xfrm>
            <a:off x="0" y="0"/>
            <a:ext cx="5669280" cy="6858000"/>
          </a:xfrm>
          <a:prstGeom prst="rect">
            <a:avLst/>
          </a:prstGeom>
          <a:solidFill>
            <a:srgbClr val="050811">
              <a:alpha val="82000"/>
            </a:srgbClr>
          </a:solidFill>
          <a:ln w="12700">
            <a:solidFill>
              <a:srgbClr val="050811">
                <a:alpha val="0"/>
              </a:srgbClr>
            </a:solidFill>
            <a:prstDash val="solid"/>
          </a:ln>
        </p:spPr>
        <p:txBody>
          <a:bodyPr/>
          <a:lstStyle/>
          <a:p>
            <a:endParaRPr lang="en-ZA"/>
          </a:p>
        </p:txBody>
      </p:sp>
      <p:sp>
        <p:nvSpPr>
          <p:cNvPr id="5" name="Text 2">
            <a:extLst>
              <a:ext uri="{FF2B5EF4-FFF2-40B4-BE49-F238E27FC236}">
                <a16:creationId xmlns:a16="http://schemas.microsoft.com/office/drawing/2014/main" id="{8A4C4F7C-FF64-D57A-B100-78E5B6663E10}"/>
              </a:ext>
            </a:extLst>
          </p:cNvPr>
          <p:cNvSpPr/>
          <p:nvPr/>
        </p:nvSpPr>
        <p:spPr>
          <a:xfrm>
            <a:off x="658368" y="1417320"/>
            <a:ext cx="8421464" cy="713232"/>
          </a:xfrm>
          <a:prstGeom prst="rect">
            <a:avLst/>
          </a:prstGeom>
          <a:noFill/>
          <a:ln/>
        </p:spPr>
        <p:txBody>
          <a:bodyPr wrap="square" lIns="0" tIns="0" rIns="0" bIns="0" rtlCol="0" anchor="ctr"/>
          <a:lstStyle/>
          <a:p>
            <a:pPr marL="0" indent="0">
              <a:buNone/>
            </a:pPr>
            <a:r>
              <a:rPr lang="en-US" sz="3600" b="1" dirty="0">
                <a:solidFill>
                  <a:srgbClr val="F7FAFC"/>
                </a:solidFill>
                <a:latin typeface="Aptos Display" pitchFamily="34" charset="0"/>
                <a:ea typeface="Aptos Display" pitchFamily="34" charset="-122"/>
                <a:cs typeface="Aptos Display" pitchFamily="34" charset="-120"/>
              </a:rPr>
              <a:t>Any Questions or comments?</a:t>
            </a:r>
            <a:endParaRPr lang="en-US" sz="3600" dirty="0"/>
          </a:p>
        </p:txBody>
      </p:sp>
      <p:sp>
        <p:nvSpPr>
          <p:cNvPr id="6" name="Text 3">
            <a:extLst>
              <a:ext uri="{FF2B5EF4-FFF2-40B4-BE49-F238E27FC236}">
                <a16:creationId xmlns:a16="http://schemas.microsoft.com/office/drawing/2014/main" id="{EB6A147F-D7B5-7821-457B-A7A865504F9B}"/>
              </a:ext>
            </a:extLst>
          </p:cNvPr>
          <p:cNvSpPr/>
          <p:nvPr/>
        </p:nvSpPr>
        <p:spPr>
          <a:xfrm>
            <a:off x="658368" y="2176272"/>
            <a:ext cx="4480560" cy="457200"/>
          </a:xfrm>
          <a:prstGeom prst="rect">
            <a:avLst/>
          </a:prstGeom>
          <a:noFill/>
          <a:ln/>
        </p:spPr>
        <p:txBody>
          <a:bodyPr wrap="square" lIns="0" tIns="0" rIns="0" bIns="0" rtlCol="0" anchor="ctr"/>
          <a:lstStyle/>
          <a:p>
            <a:pPr marL="0" indent="0">
              <a:buNone/>
            </a:pPr>
            <a:endParaRPr lang="en-US" sz="1600" dirty="0"/>
          </a:p>
        </p:txBody>
      </p:sp>
      <p:sp>
        <p:nvSpPr>
          <p:cNvPr id="8" name="Text 5">
            <a:extLst>
              <a:ext uri="{FF2B5EF4-FFF2-40B4-BE49-F238E27FC236}">
                <a16:creationId xmlns:a16="http://schemas.microsoft.com/office/drawing/2014/main" id="{EA5023DA-1F65-5B88-FC93-830EE3B09EF5}"/>
              </a:ext>
            </a:extLst>
          </p:cNvPr>
          <p:cNvSpPr/>
          <p:nvPr/>
        </p:nvSpPr>
        <p:spPr>
          <a:xfrm>
            <a:off x="658368" y="2999232"/>
            <a:ext cx="4389120" cy="640080"/>
          </a:xfrm>
          <a:prstGeom prst="rect">
            <a:avLst/>
          </a:prstGeom>
          <a:noFill/>
          <a:ln/>
        </p:spPr>
        <p:txBody>
          <a:bodyPr wrap="square" lIns="0" tIns="0" rIns="0" bIns="0" rtlCol="0" anchor="ctr"/>
          <a:lstStyle/>
          <a:p>
            <a:pPr marL="0" indent="0">
              <a:buNone/>
            </a:pPr>
            <a:endParaRPr lang="en-US" sz="1450" dirty="0"/>
          </a:p>
        </p:txBody>
      </p:sp>
      <p:sp>
        <p:nvSpPr>
          <p:cNvPr id="10" name="Text 7">
            <a:extLst>
              <a:ext uri="{FF2B5EF4-FFF2-40B4-BE49-F238E27FC236}">
                <a16:creationId xmlns:a16="http://schemas.microsoft.com/office/drawing/2014/main" id="{003C959C-B96C-C75E-6974-F070481189BD}"/>
              </a:ext>
            </a:extLst>
          </p:cNvPr>
          <p:cNvSpPr/>
          <p:nvPr/>
        </p:nvSpPr>
        <p:spPr>
          <a:xfrm>
            <a:off x="841248" y="5413248"/>
            <a:ext cx="3822192" cy="329184"/>
          </a:xfrm>
          <a:prstGeom prst="rect">
            <a:avLst/>
          </a:prstGeom>
          <a:noFill/>
          <a:ln/>
        </p:spPr>
        <p:txBody>
          <a:bodyPr wrap="square" lIns="0" tIns="0" rIns="0" bIns="0" rtlCol="0" anchor="ctr"/>
          <a:lstStyle/>
          <a:p>
            <a:pPr marL="0" indent="0">
              <a:buNone/>
            </a:pPr>
            <a:endParaRPr lang="en-US" sz="1420" dirty="0"/>
          </a:p>
        </p:txBody>
      </p:sp>
      <p:sp>
        <p:nvSpPr>
          <p:cNvPr id="11" name="Text 8">
            <a:extLst>
              <a:ext uri="{FF2B5EF4-FFF2-40B4-BE49-F238E27FC236}">
                <a16:creationId xmlns:a16="http://schemas.microsoft.com/office/drawing/2014/main" id="{67F8E325-DF1E-116A-BC3C-D7F1A362BC61}"/>
              </a:ext>
            </a:extLst>
          </p:cNvPr>
          <p:cNvSpPr/>
          <p:nvPr/>
        </p:nvSpPr>
        <p:spPr>
          <a:xfrm>
            <a:off x="11356848" y="6473952"/>
            <a:ext cx="347472" cy="146304"/>
          </a:xfrm>
          <a:prstGeom prst="rect">
            <a:avLst/>
          </a:prstGeom>
          <a:noFill/>
          <a:ln/>
        </p:spPr>
        <p:txBody>
          <a:bodyPr wrap="square" lIns="0" tIns="0" rIns="0" bIns="0" rtlCol="0" anchor="ctr"/>
          <a:lstStyle/>
          <a:p>
            <a:pPr marL="0" indent="0" algn="r">
              <a:buNone/>
            </a:pPr>
            <a:r>
              <a:rPr lang="en-US" sz="900" b="1" dirty="0">
                <a:solidFill>
                  <a:srgbClr val="D8E5EA"/>
                </a:solidFill>
                <a:latin typeface="Aptos" pitchFamily="34" charset="0"/>
                <a:ea typeface="Aptos" pitchFamily="34" charset="-122"/>
                <a:cs typeface="Aptos" pitchFamily="34" charset="-120"/>
              </a:rPr>
              <a:t>01</a:t>
            </a:r>
            <a:endParaRPr lang="en-US" sz="900" dirty="0"/>
          </a:p>
        </p:txBody>
      </p:sp>
    </p:spTree>
    <p:extLst>
      <p:ext uri="{BB962C8B-B14F-4D97-AF65-F5344CB8AC3E}">
        <p14:creationId xmlns:p14="http://schemas.microsoft.com/office/powerpoint/2010/main" val="1120864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4188</Words>
  <Application>Microsoft Office PowerPoint</Application>
  <PresentationFormat>Widescreen</PresentationFormat>
  <Paragraphs>318</Paragraphs>
  <Slides>23</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Team-Building Techniques</dc:title>
  <dc:subject>Prepared exclusively from Chapter 16 of Burke &amp; Barron (2014)</dc:subject>
  <dc:creator>OpenAI</dc:creator>
  <cp:lastModifiedBy>Anakpo, Godfred (Dr) (Summerstrand Campus South)</cp:lastModifiedBy>
  <cp:revision>19</cp:revision>
  <dcterms:created xsi:type="dcterms:W3CDTF">2026-03-17T16:36:57Z</dcterms:created>
  <dcterms:modified xsi:type="dcterms:W3CDTF">2026-03-25T17:57:52Z</dcterms:modified>
</cp:coreProperties>
</file>